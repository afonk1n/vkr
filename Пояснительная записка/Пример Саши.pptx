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3" r:id="rId5"/>
    <p:sldId id="262" r:id="rId6"/>
    <p:sldId id="266" r:id="rId7"/>
    <p:sldId id="264" r:id="rId8"/>
    <p:sldId id="265" r:id="rId9"/>
  </p:sldIdLst>
  <p:sldSz cx="12192000" cy="6858000"/>
  <p:notesSz cx="6888163" cy="100203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19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21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1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80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50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9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5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14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42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8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45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E986D-4B21-4B91-B1D2-5CFC0D3D8AE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54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C:\Users\Андрей\Desktop\1\Безымянный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1153" y="0"/>
            <a:ext cx="12483153" cy="686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12"/>
          <p:cNvSpPr>
            <a:spLocks noChangeArrowheads="1"/>
          </p:cNvSpPr>
          <p:nvPr/>
        </p:nvSpPr>
        <p:spPr bwMode="auto">
          <a:xfrm>
            <a:off x="1951630" y="209528"/>
            <a:ext cx="10099343" cy="170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600" dirty="0">
                <a:solidFill>
                  <a:srgbClr val="323C8D"/>
                </a:solidFill>
                <a:latin typeface="Century Gothic" panose="020B0502020202020204" pitchFamily="34" charset="0"/>
              </a:rPr>
              <a:t>«</a:t>
            </a: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Министерство образования и науки Российской Федерации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Федеральное государственное бюджетное образовательное учреждение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высшего образования «Магнитогорский государственный технический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Университет им. Г.И. Носова»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220871" y="5615001"/>
            <a:ext cx="8461612" cy="870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Выполнил: студент группы АВб-22-2                                 Абдулфаизов А. В.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Руководитель: доцент, к.т.н.                                                          Егорова Л. Г.</a:t>
            </a:r>
          </a:p>
        </p:txBody>
      </p:sp>
      <p:sp>
        <p:nvSpPr>
          <p:cNvPr id="9" name="Содержимое 9"/>
          <p:cNvSpPr txBox="1">
            <a:spLocks/>
          </p:cNvSpPr>
          <p:nvPr/>
        </p:nvSpPr>
        <p:spPr>
          <a:xfrm>
            <a:off x="1793189" y="2327762"/>
            <a:ext cx="10257784" cy="2540533"/>
          </a:xfrm>
          <a:prstGeom prst="rect">
            <a:avLst/>
          </a:prstGeom>
        </p:spPr>
        <p:txBody>
          <a:bodyPr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  <a:defRPr/>
            </a:pPr>
            <a:r>
              <a:rPr lang="ru-RU" sz="3600" b="1" cap="all" dirty="0">
                <a:solidFill>
                  <a:srgbClr val="323C8D"/>
                </a:solidFill>
                <a:latin typeface="Century Gothic" panose="020B0502020202020204" pitchFamily="34" charset="0"/>
              </a:rPr>
              <a:t>Проектирование и разработка </a:t>
            </a:r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ru-RU" sz="3600" b="1" cap="all" dirty="0">
                <a:solidFill>
                  <a:srgbClr val="323C8D"/>
                </a:solidFill>
                <a:latin typeface="Century Gothic" panose="020B0502020202020204" pitchFamily="34" charset="0"/>
              </a:rPr>
              <a:t>WEB-сервиса для управления резервом абитуриентов для приемной комиссии МГТУ им. Г.И. Носова</a:t>
            </a:r>
          </a:p>
        </p:txBody>
      </p:sp>
    </p:spTree>
    <p:extLst>
      <p:ext uri="{BB962C8B-B14F-4D97-AF65-F5344CB8AC3E}">
        <p14:creationId xmlns:p14="http://schemas.microsoft.com/office/powerpoint/2010/main" val="224279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10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82385" y="1474047"/>
            <a:ext cx="10849972" cy="434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ru-RU" altLang="ru-RU" sz="24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</a:t>
            </a:r>
            <a:r>
              <a:rPr lang="ru-RU" altLang="ru-RU" sz="2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организации и проведения приёмной кампании в высшем учебном заведении.</a:t>
            </a:r>
          </a:p>
          <a:p>
            <a:pPr algn="ctr">
              <a:lnSpc>
                <a:spcPct val="120000"/>
              </a:lnSpc>
              <a:defRPr/>
            </a:pPr>
            <a:r>
              <a:rPr lang="ru-RU" altLang="ru-RU" sz="24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Предмет:</a:t>
            </a:r>
          </a:p>
          <a:p>
            <a:pPr algn="just">
              <a:lnSpc>
                <a:spcPct val="120000"/>
              </a:lnSpc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Разрабатываемое </a:t>
            </a:r>
            <a:r>
              <a:rPr lang="ru-RU" altLang="ru-RU" sz="2000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-приложение, направленное на решение проблемы автоматизации ручного управления конкурсными списками и списком резерва абитуриентов. </a:t>
            </a:r>
          </a:p>
          <a:p>
            <a:pPr algn="just">
              <a:lnSpc>
                <a:spcPct val="120000"/>
              </a:lnSpc>
              <a:defRPr/>
            </a:pPr>
            <a:endParaRPr lang="ru-RU" altLang="ru-RU" sz="20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defRPr/>
            </a:pPr>
            <a:r>
              <a:rPr lang="ru-RU" altLang="ru-RU" sz="24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Цель: </a:t>
            </a:r>
          </a:p>
          <a:p>
            <a:pPr algn="just">
              <a:lnSpc>
                <a:spcPct val="120000"/>
              </a:lnSpc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Повышение степени автоматизации процессов приёмной комиссии за счёт разработки и внедрения специализированного </a:t>
            </a:r>
            <a:r>
              <a:rPr lang="ru-RU" altLang="ru-RU" sz="2000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-приложения.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21" y="26251"/>
            <a:ext cx="9474005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7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170280" y="1312931"/>
            <a:ext cx="9831642" cy="4947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ru-RU" sz="24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altLang="ru-RU" sz="2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поставленной цели необходимо выполнить следующие задачи: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100" dirty="0">
                <a:latin typeface="Century Gothic" panose="020B0502020202020204" pitchFamily="34" charset="0"/>
              </a:rPr>
              <a:t>Провести теоретический анализ существующих бизнес-процессов и проблемных зон в работе приёмной комиссии на примере МГТУ им. Г.И. Носова.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100" dirty="0">
                <a:latin typeface="Century Gothic" panose="020B0502020202020204" pitchFamily="34" charset="0"/>
              </a:rPr>
              <a:t>Сформировать технические и функциональные требования к разрабатываемой системе, разработать </a:t>
            </a:r>
            <a:r>
              <a:rPr lang="ru-RU" sz="2100" dirty="0" err="1">
                <a:latin typeface="Century Gothic" panose="020B0502020202020204" pitchFamily="34" charset="0"/>
              </a:rPr>
              <a:t>web</a:t>
            </a:r>
            <a:r>
              <a:rPr lang="ru-RU" sz="2100" dirty="0">
                <a:latin typeface="Century Gothic" panose="020B0502020202020204" pitchFamily="34" charset="0"/>
              </a:rPr>
              <a:t>-приложение и представление порядка работы с ним.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100" dirty="0">
                <a:latin typeface="Century Gothic" panose="020B0502020202020204" pitchFamily="34" charset="0"/>
              </a:rPr>
              <a:t>Провести тестирование и опытную эксплуатацию разработанного </a:t>
            </a:r>
            <a:r>
              <a:rPr lang="ru-RU" sz="2100" dirty="0" err="1">
                <a:latin typeface="Century Gothic" panose="020B0502020202020204" pitchFamily="34" charset="0"/>
              </a:rPr>
              <a:t>web</a:t>
            </a:r>
            <a:r>
              <a:rPr lang="ru-RU" sz="2100" dirty="0">
                <a:latin typeface="Century Gothic" panose="020B0502020202020204" pitchFamily="34" charset="0"/>
              </a:rPr>
              <a:t>-приложения.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8167" y="3821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167" y="60791"/>
            <a:ext cx="5675868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6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51128" y="614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979069" y="112998"/>
            <a:ext cx="103444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Результаты</a:t>
            </a:r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аналитического</a:t>
            </a:r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исследования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905609" y="1246310"/>
            <a:ext cx="10096314" cy="5441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altLang="ru-RU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Проблемы текущего процесса: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Сведения о списках резерва фиксируются вручную – на бумажных носителях или в локальных таблицах Excel.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Отсутствует возможность оперативной сверки и актуализации данных между сотрудниками.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получения информации об актуальном состоянии конкурсной ситуации необходимо делать запрос к ведущему программисту.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Высокий риск ошибок из-за человеческого фактора и отсутствие единой картины заполнения мест.</a:t>
            </a:r>
          </a:p>
          <a:p>
            <a:pPr algn="just">
              <a:lnSpc>
                <a:spcPct val="150000"/>
              </a:lnSpc>
              <a:defRPr/>
            </a:pP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altLang="ru-RU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существующих решений:</a:t>
            </a:r>
          </a:p>
          <a:p>
            <a:pPr algn="just">
              <a:lnSpc>
                <a:spcPct val="150000"/>
              </a:lnSpc>
              <a:defRPr/>
            </a:pP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Универсальные CMS (</a:t>
            </a:r>
            <a:r>
              <a:rPr lang="ru-RU" altLang="ru-RU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WordPress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altLang="ru-RU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Joomla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и корпоративные ERP («</a:t>
            </a:r>
            <a:r>
              <a:rPr lang="ru-RU" altLang="ru-RU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Диджитал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Дизайн», «</a:t>
            </a:r>
            <a:r>
              <a:rPr lang="ru-RU" altLang="ru-RU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EnDocs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») не содержат бизнес-логики, специфичной и узконаправленной для задач приёмной комиссии.</a:t>
            </a:r>
          </a:p>
        </p:txBody>
      </p:sp>
    </p:spTree>
    <p:extLst>
      <p:ext uri="{BB962C8B-B14F-4D97-AF65-F5344CB8AC3E}">
        <p14:creationId xmlns:p14="http://schemas.microsoft.com/office/powerpoint/2010/main" val="24874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BD8039E-1E61-41C3-8FC4-544475FA6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5" y="1065424"/>
            <a:ext cx="6774329" cy="5709791"/>
          </a:xfrm>
          <a:prstGeom prst="rect">
            <a:avLst/>
          </a:prstGeom>
        </p:spPr>
      </p:pic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34770" y="450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683066" y="82785"/>
            <a:ext cx="6825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Логика бизнес-процесса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893B438-85B3-4DF1-8475-78F4D938C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670" y="1065424"/>
            <a:ext cx="6774330" cy="235719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0DB634-6FA2-432C-A314-08002DD26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76" y="4123018"/>
            <a:ext cx="6705600" cy="166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16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54843" y="1187299"/>
            <a:ext cx="11600596" cy="49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34770" y="450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983615" y="82785"/>
            <a:ext cx="6224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Полученные результаты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75965" y="1187377"/>
            <a:ext cx="10158352" cy="5456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altLang="ru-RU" sz="2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Внедрение разработанного </a:t>
            </a:r>
            <a:r>
              <a:rPr lang="en-US" altLang="ru-RU" sz="2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web-</a:t>
            </a:r>
            <a:r>
              <a:rPr lang="ru-RU" altLang="ru-RU" sz="2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сервиса позволяет:</a:t>
            </a:r>
            <a:endParaRPr lang="en-US" altLang="ru-RU" sz="20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Исключить ручной учёт резерва на бумажных носителях и в локальных таблицах </a:t>
            </a:r>
            <a:r>
              <a:rPr lang="en-US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все данные хранятся в единой базе.</a:t>
            </a:r>
            <a:endParaRPr lang="en-US" altLang="ru-RU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Оперативно отслеживать количество свободных, занятых и зарезервированных мест по каждой специальности в реальном времени.</a:t>
            </a:r>
            <a:endParaRPr lang="en-US" altLang="ru-RU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Минимизировать риск ошибок за счёт автоматической проверки заполненности мест, подтверждения критических операций и сквозного журналирования всех действий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Ускорить работу сотрудников: поиск нужного абитуриента, добавление в резерв, просмотр сводной аналитики .</a:t>
            </a:r>
            <a:endParaRPr lang="en-US" altLang="ru-RU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ru-RU" altLang="ru-RU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Снять нагрузку с программиста: сотрудники самостоятельно видят свободные места и формируют резерв без запросов на выгрузку данных.</a:t>
            </a:r>
            <a:endParaRPr lang="en-US" altLang="ru-RU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03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612943" y="450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770145" y="82785"/>
            <a:ext cx="8651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Публикации за период обучения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54843" y="1187299"/>
            <a:ext cx="11600596" cy="2957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ru-RU" sz="17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	Абдулфаизов А.В. Автоматизация архивного делопроизводства приёмной комиссии МГТУ им. Г.И. Носова / Егорова Л.Г., </a:t>
            </a:r>
            <a:r>
              <a:rPr lang="ru-RU" altLang="ru-RU" sz="2000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Кустубаев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А.Р., Абдулфаизов А.В. // Актуальные проблемы современной науки, техники и образования: тезисы докладов 84-й международной научно-технической конференции. Магнитогорск: Изд-во Магнитогорск. гос. техн. ун-та им. Г.И. Носова, 2026. Т.2. – 86 с.	</a:t>
            </a:r>
          </a:p>
          <a:p>
            <a:pPr algn="just">
              <a:lnSpc>
                <a:spcPct val="150000"/>
              </a:lnSpc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827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7633" y="1009934"/>
            <a:ext cx="683552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600" dirty="0">
                <a:solidFill>
                  <a:srgbClr val="002060"/>
                </a:solidFill>
                <a:latin typeface="Century Gothic" panose="020B0502020202020204" pitchFamily="34" charset="0"/>
              </a:rPr>
              <a:t>Спасибо </a:t>
            </a:r>
          </a:p>
          <a:p>
            <a:pPr algn="ctr"/>
            <a:r>
              <a:rPr lang="ru-RU" sz="9600" dirty="0">
                <a:solidFill>
                  <a:srgbClr val="002060"/>
                </a:solidFill>
                <a:latin typeface="Century Gothic" panose="020B0502020202020204" pitchFamily="34" charset="0"/>
              </a:rPr>
              <a:t>за</a:t>
            </a:r>
          </a:p>
          <a:p>
            <a:pPr algn="ctr"/>
            <a:r>
              <a:rPr lang="ru-RU" sz="9600" dirty="0">
                <a:solidFill>
                  <a:srgbClr val="002060"/>
                </a:solidFill>
                <a:latin typeface="Century Gothic" panose="020B0502020202020204" pitchFamily="34" charset="0"/>
              </a:rPr>
              <a:t>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64366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476</Words>
  <Application>Microsoft Office PowerPoint</Application>
  <PresentationFormat>Широкоэкранный</PresentationFormat>
  <Paragraphs>41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Alena Kalyuzhnaya</dc:creator>
  <cp:lastModifiedBy>Абдулфаизов Саша</cp:lastModifiedBy>
  <cp:revision>69</cp:revision>
  <cp:lastPrinted>2017-06-22T16:10:04Z</cp:lastPrinted>
  <dcterms:created xsi:type="dcterms:W3CDTF">2017-06-16T14:15:23Z</dcterms:created>
  <dcterms:modified xsi:type="dcterms:W3CDTF">2026-05-14T17:33:04Z</dcterms:modified>
</cp:coreProperties>
</file>