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23360" y="0"/>
            <a:ext cx="54864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gt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548640"/>
            <a:ext cx="1584960" cy="2377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3108960"/>
            <a:ext cx="33832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МИНИСТЕРСТВО НАУКИ И ВЫСШЕГО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ОБРАЗОВАНИЯ РОССИЙСКОЙ ФЕДЕРАЦИИ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Магнитогорский государственный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технический университет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им. Г.И. Носова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Институт энергетики и автоматизированных систем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Кафедра вычислительной техники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и программирования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126480"/>
            <a:ext cx="4023360" cy="731520"/>
          </a:xfrm>
          <a:prstGeom prst="rect">
            <a:avLst/>
          </a:prstGeom>
          <a:solidFill>
            <a:srgbClr val="152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17220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Calibri"/>
              </a:rPr>
              <a:t>Магнитогорск,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00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3A8A"/>
                </a:solidFill>
                <a:latin typeface="Calibri"/>
              </a:rPr>
              <a:t>ВЫПУСКНАЯ КВАЛИФИКАЦИОННАЯ РАБОТА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0515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6B8C"/>
                </a:solidFill>
                <a:latin typeface="Calibri"/>
              </a:rPr>
              <a:t>бакалавра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645920"/>
            <a:ext cx="109728" cy="23774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691640"/>
            <a:ext cx="7040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A6B8C"/>
                </a:solidFill>
                <a:latin typeface="Calibri"/>
              </a:rPr>
              <a:t>Тема работы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057400"/>
            <a:ext cx="70408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52966"/>
                </a:solidFill>
                <a:latin typeface="Cambria"/>
              </a:rPr>
              <a:t>Разработка информационной системы рецензирования музыкального творчества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4389120"/>
            <a:ext cx="7315200" cy="173736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9525">
            <a:solidFill>
              <a:srgbClr val="D8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45262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A6B8C"/>
                </a:solidFill>
                <a:latin typeface="Calibri"/>
              </a:rPr>
              <a:t>ВЫПОЛНИЛ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48006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F36"/>
                </a:solidFill>
                <a:latin typeface="Calibri"/>
              </a:rPr>
              <a:t>студент группы [укажите]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51663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52966"/>
                </a:solidFill>
                <a:latin typeface="Cambria"/>
              </a:rPr>
              <a:t>Афонкин М.А.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5262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A6B8C"/>
                </a:solidFill>
                <a:latin typeface="Calibri"/>
              </a:rPr>
              <a:t>РУКОВОДИТЕЛЬ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8006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F36"/>
                </a:solidFill>
                <a:latin typeface="Calibri"/>
              </a:rPr>
              <a:t>[уч. степень, звание]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51663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52966"/>
                </a:solidFill>
                <a:latin typeface="Cambria"/>
              </a:rPr>
              <a:t>[Фамилия И.О.]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1">
                <a:solidFill>
                  <a:srgbClr val="5A6B8C"/>
                </a:solidFill>
                <a:latin typeface="Calibri"/>
              </a:rPr>
              <a:t>Mustreview · веб-сервис рецензий, оценок и геймификации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gt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73152"/>
            <a:ext cx="475488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80160" y="1371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Цель, объект и предмет исследования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Разработка информационной системы рецензирования музыкального творчества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653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 /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6567" y="141732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6567" y="1417320"/>
            <a:ext cx="3657600" cy="164592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2327" y="1874520"/>
            <a:ext cx="822960" cy="822960"/>
          </a:xfrm>
          <a:prstGeom prst="ellipse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327" y="187452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98167" y="196596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52966"/>
                </a:solidFill>
                <a:latin typeface="Cambria"/>
              </a:rPr>
              <a:t>ЦЕЛЬ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327" y="2971800"/>
            <a:ext cx="292608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F36"/>
                </a:solidFill>
                <a:latin typeface="Calibri"/>
              </a:rPr>
              <a:t>Разработать веб-приложение для публикации, оценки и анализа рецензий на музыкальные релизы с системой геймификации и модерацией пользовательского контента.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7047" y="141732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67047" y="1417320"/>
            <a:ext cx="3657600" cy="164592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32807" y="1874520"/>
            <a:ext cx="822960" cy="822960"/>
          </a:xfrm>
          <a:prstGeom prst="ellipse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2807" y="187452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38647" y="196596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52966"/>
                </a:solidFill>
                <a:latin typeface="Cambria"/>
              </a:rPr>
              <a:t>ОБЪЕКТ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2807" y="2971800"/>
            <a:ext cx="292608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F36"/>
                </a:solidFill>
                <a:latin typeface="Calibri"/>
              </a:rPr>
              <a:t>Процессы рецензирования музыкального творчества в онлайн-сообществах: создание, оценка, обсуждение и распространение пользовательских рецензий.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7527" y="141732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07527" y="1417320"/>
            <a:ext cx="3657600" cy="164592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73287" y="1874520"/>
            <a:ext cx="822960" cy="822960"/>
          </a:xfrm>
          <a:prstGeom prst="ellipse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73287" y="187452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9127" y="196596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52966"/>
                </a:solidFill>
                <a:latin typeface="Cambria"/>
              </a:rPr>
              <a:t>ПРЕДМЕТ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3287" y="2971800"/>
            <a:ext cx="292608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F36"/>
                </a:solidFill>
                <a:latin typeface="Calibri"/>
              </a:rPr>
              <a:t>Программные и алгоритмические средства реализации информационной системы рецензирования: модель данных, REST API, конвейер модерации и алгоритмы оценки.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gt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73152"/>
            <a:ext cx="475488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80160" y="1371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Задачи исследования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Разработка информационной системы рецензирования музыкального творчества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653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 /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49240" cy="1344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572768"/>
            <a:ext cx="777240" cy="777240"/>
          </a:xfrm>
          <a:prstGeom prst="ellipse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72768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481328"/>
            <a:ext cx="402336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1A1F36"/>
                </a:solidFill>
                <a:latin typeface="Calibri"/>
              </a:rPr>
              <a:t>Провести анализ существующих сервисов музыкального рецензирования (RateYourMusic, Last.fm, Genius) и сформулировать функциональные требования.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280160"/>
            <a:ext cx="5349240" cy="1344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0" y="1572768"/>
            <a:ext cx="777240" cy="777240"/>
          </a:xfrm>
          <a:prstGeom prst="ellipse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72768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481328"/>
            <a:ext cx="402336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1A1F36"/>
                </a:solidFill>
                <a:latin typeface="Calibri"/>
              </a:rPr>
              <a:t>Спроектировать архитектуру системы и логическую модель базы данных, обеспечивающую хранение пользовательского контента и связей сообщества.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788920"/>
            <a:ext cx="5349240" cy="1344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3081528"/>
            <a:ext cx="777240" cy="777240"/>
          </a:xfrm>
          <a:prstGeom prst="ellipse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081528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2990088"/>
            <a:ext cx="402336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1A1F36"/>
                </a:solidFill>
                <a:latin typeface="Calibri"/>
              </a:rPr>
              <a:t>Спроектировать алгоритмы расчёта итоговой оценки релиза и накопления опыта пользователя в системе геймификации.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788920"/>
            <a:ext cx="5349240" cy="1344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0" y="3081528"/>
            <a:ext cx="777240" cy="777240"/>
          </a:xfrm>
          <a:prstGeom prst="ellipse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081528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990088"/>
            <a:ext cx="402336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1A1F36"/>
                </a:solidFill>
                <a:latin typeface="Calibri"/>
              </a:rPr>
              <a:t>Реализовать клиент-серверное приложение на стеке React + Go (Gin) + PostgreSQL с REST API.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297680"/>
            <a:ext cx="5349240" cy="1344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7240" y="4590288"/>
            <a:ext cx="777240" cy="777240"/>
          </a:xfrm>
          <a:prstGeom prst="ellipse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590288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4498848"/>
            <a:ext cx="402336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1A1F36"/>
                </a:solidFill>
                <a:latin typeface="Calibri"/>
              </a:rPr>
              <a:t>Реализовать конвейер модерации пользовательских рецензий и механизм управления правами доступа.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297680"/>
            <a:ext cx="5349240" cy="1344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0" y="4590288"/>
            <a:ext cx="777240" cy="777240"/>
          </a:xfrm>
          <a:prstGeom prst="ellipse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590288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498848"/>
            <a:ext cx="402336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1A1F36"/>
                </a:solidFill>
                <a:latin typeface="Calibri"/>
              </a:rPr>
              <a:t>Подготовить контейнеризацию (Docker Compose) и CI/CD-пайплайн с автоматическими проверками и публикацией образов.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gt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73152"/>
            <a:ext cx="475488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80160" y="1371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Результаты аналитического исследования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Разработка информационной системы рецензирования музыкального творчества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653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 /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52966"/>
                </a:solidFill>
                <a:latin typeface="Cambria"/>
              </a:rPr>
              <a:t>Анализ существующих сервисов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2194560" cy="50292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Сервис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691640"/>
            <a:ext cx="1188720" cy="50292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69164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Рецензии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1691640"/>
            <a:ext cx="1188720" cy="50292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169164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Соц-граф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1691640"/>
            <a:ext cx="1188720" cy="50292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69164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Геймиф.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691640"/>
            <a:ext cx="1188720" cy="50292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69164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RU-интерф.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194560"/>
            <a:ext cx="2194560" cy="502920"/>
          </a:xfrm>
          <a:prstGeom prst="rect">
            <a:avLst/>
          </a:prstGeom>
          <a:solidFill>
            <a:srgbClr val="F4F6FB"/>
          </a:solidFill>
          <a:ln>
            <a:solidFill>
              <a:srgbClr val="D8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19456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Calibri"/>
              </a:rPr>
              <a:t>RateYourMusic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2194560"/>
            <a:ext cx="1188720" cy="502920"/>
          </a:xfrm>
          <a:prstGeom prst="rect">
            <a:avLst/>
          </a:prstGeom>
          <a:solidFill>
            <a:srgbClr val="F4F6FB"/>
          </a:solidFill>
          <a:ln>
            <a:solidFill>
              <a:srgbClr val="D8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0" y="219456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Calibri"/>
              </a:rPr>
              <a:t>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31920" y="2194560"/>
            <a:ext cx="1188720" cy="502920"/>
          </a:xfrm>
          <a:prstGeom prst="rect">
            <a:avLst/>
          </a:prstGeom>
          <a:solidFill>
            <a:srgbClr val="F4F6FB"/>
          </a:solidFill>
          <a:ln>
            <a:solidFill>
              <a:srgbClr val="D8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0" y="219456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Calibri"/>
              </a:rPr>
              <a:t>ограничен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0" y="2194560"/>
            <a:ext cx="1188720" cy="502920"/>
          </a:xfrm>
          <a:prstGeom prst="rect">
            <a:avLst/>
          </a:prstGeom>
          <a:solidFill>
            <a:srgbClr val="F4F6FB"/>
          </a:solidFill>
          <a:ln>
            <a:solidFill>
              <a:srgbClr val="D8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0" y="219456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Calibr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2194560"/>
            <a:ext cx="1188720" cy="502920"/>
          </a:xfrm>
          <a:prstGeom prst="rect">
            <a:avLst/>
          </a:prstGeom>
          <a:solidFill>
            <a:srgbClr val="F4F6FB"/>
          </a:solidFill>
          <a:ln>
            <a:solidFill>
              <a:srgbClr val="D8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219456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Calibri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697480"/>
            <a:ext cx="2194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269748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Calibri"/>
              </a:rPr>
              <a:t>Last.fm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2697480"/>
            <a:ext cx="11887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0" y="269748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Calibri"/>
              </a:rPr>
              <a:t>ограниченно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31920" y="2697480"/>
            <a:ext cx="11887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31920" y="269748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Calibri"/>
              </a:rPr>
              <a:t>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20640" y="2697480"/>
            <a:ext cx="11887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20640" y="269748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Calibri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2697480"/>
            <a:ext cx="11887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269748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Calibri"/>
              </a:rPr>
              <a:t>ограничен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200400"/>
            <a:ext cx="2194560" cy="502920"/>
          </a:xfrm>
          <a:prstGeom prst="rect">
            <a:avLst/>
          </a:prstGeom>
          <a:solidFill>
            <a:srgbClr val="F4F6FB"/>
          </a:solidFill>
          <a:ln>
            <a:solidFill>
              <a:srgbClr val="D8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20040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Calibri"/>
              </a:rPr>
              <a:t>Genius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0" y="3200400"/>
            <a:ext cx="1188720" cy="502920"/>
          </a:xfrm>
          <a:prstGeom prst="rect">
            <a:avLst/>
          </a:prstGeom>
          <a:solidFill>
            <a:srgbClr val="F4F6FB"/>
          </a:solidFill>
          <a:ln>
            <a:solidFill>
              <a:srgbClr val="D8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0" y="320040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Calibri"/>
              </a:rPr>
              <a:t>только текст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31920" y="3200400"/>
            <a:ext cx="1188720" cy="502920"/>
          </a:xfrm>
          <a:prstGeom prst="rect">
            <a:avLst/>
          </a:prstGeom>
          <a:solidFill>
            <a:srgbClr val="F4F6FB"/>
          </a:solidFill>
          <a:ln>
            <a:solidFill>
              <a:srgbClr val="D8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0" y="320040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Calibri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120640" y="3200400"/>
            <a:ext cx="1188720" cy="502920"/>
          </a:xfrm>
          <a:prstGeom prst="rect">
            <a:avLst/>
          </a:prstGeom>
          <a:solidFill>
            <a:srgbClr val="F4F6FB"/>
          </a:solidFill>
          <a:ln>
            <a:solidFill>
              <a:srgbClr val="D8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20640" y="320040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Calibri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3200400"/>
            <a:ext cx="1188720" cy="502920"/>
          </a:xfrm>
          <a:prstGeom prst="rect">
            <a:avLst/>
          </a:prstGeom>
          <a:solidFill>
            <a:srgbClr val="F4F6FB"/>
          </a:solidFill>
          <a:ln>
            <a:solidFill>
              <a:srgbClr val="D8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320040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Calibri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3703320"/>
            <a:ext cx="2194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370332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Calibri"/>
              </a:rPr>
              <a:t>Spotify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0" y="3703320"/>
            <a:ext cx="11887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0" y="370332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Calibri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931920" y="3703320"/>
            <a:ext cx="11887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31920" y="370332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Calibri"/>
              </a:rPr>
              <a:t>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20640" y="3703320"/>
            <a:ext cx="11887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20640" y="370332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Calibri"/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09360" y="3703320"/>
            <a:ext cx="11887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09360" y="370332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Calibri"/>
              </a:rPr>
              <a:t>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4206240"/>
            <a:ext cx="2194560" cy="502920"/>
          </a:xfrm>
          <a:prstGeom prst="rect">
            <a:avLst/>
          </a:prstGeom>
          <a:solidFill>
            <a:srgbClr val="C8102E"/>
          </a:solidFill>
          <a:ln>
            <a:solidFill>
              <a:srgbClr val="D8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42062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Mustreview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0" y="4206240"/>
            <a:ext cx="1188720" cy="502920"/>
          </a:xfrm>
          <a:prstGeom prst="rect">
            <a:avLst/>
          </a:prstGeom>
          <a:solidFill>
            <a:srgbClr val="C8102E"/>
          </a:solidFill>
          <a:ln>
            <a:solidFill>
              <a:srgbClr val="D8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43200" y="420624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931920" y="4206240"/>
            <a:ext cx="1188720" cy="502920"/>
          </a:xfrm>
          <a:prstGeom prst="rect">
            <a:avLst/>
          </a:prstGeom>
          <a:solidFill>
            <a:srgbClr val="C8102E"/>
          </a:solidFill>
          <a:ln>
            <a:solidFill>
              <a:srgbClr val="D8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931920" y="420624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120640" y="4206240"/>
            <a:ext cx="1188720" cy="502920"/>
          </a:xfrm>
          <a:prstGeom prst="rect">
            <a:avLst/>
          </a:prstGeom>
          <a:solidFill>
            <a:srgbClr val="C8102E"/>
          </a:solidFill>
          <a:ln>
            <a:solidFill>
              <a:srgbClr val="D8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120640" y="420624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09360" y="4206240"/>
            <a:ext cx="1188720" cy="502920"/>
          </a:xfrm>
          <a:prstGeom prst="rect">
            <a:avLst/>
          </a:prstGeom>
          <a:solidFill>
            <a:srgbClr val="C8102E"/>
          </a:solidFill>
          <a:ln>
            <a:solidFill>
              <a:srgbClr val="D8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09360" y="420624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55279" y="114300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52966"/>
                </a:solidFill>
                <a:latin typeface="Cambria"/>
              </a:rPr>
              <a:t>Обоснование стека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955279" y="1691640"/>
            <a:ext cx="3840480" cy="6858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9525">
            <a:solidFill>
              <a:srgbClr val="D8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955279" y="1691640"/>
            <a:ext cx="109728" cy="68580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183879" y="1764792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52966"/>
                </a:solidFill>
                <a:latin typeface="Calibri"/>
              </a:rPr>
              <a:t>React 18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183879" y="205740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6B8C"/>
                </a:solidFill>
                <a:latin typeface="Calibri"/>
              </a:rPr>
              <a:t>интерактивный UI с большим количеством состояний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955279" y="2468880"/>
            <a:ext cx="3840480" cy="6858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9525">
            <a:solidFill>
              <a:srgbClr val="D8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955279" y="2468880"/>
            <a:ext cx="109728" cy="68580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183879" y="2542032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52966"/>
                </a:solidFill>
                <a:latin typeface="Calibri"/>
              </a:rPr>
              <a:t>Go + Gin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83879" y="283464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6B8C"/>
                </a:solidFill>
                <a:latin typeface="Calibri"/>
              </a:rPr>
              <a:t>компактное и быстрое REST API, единый бинарь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955279" y="3246120"/>
            <a:ext cx="3840480" cy="6858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9525">
            <a:solidFill>
              <a:srgbClr val="D8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955279" y="3246120"/>
            <a:ext cx="109728" cy="68580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183879" y="3319272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52966"/>
                </a:solidFill>
                <a:latin typeface="Calibri"/>
              </a:rPr>
              <a:t>PostgreSQL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183879" y="361188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6B8C"/>
                </a:solidFill>
                <a:latin typeface="Calibri"/>
              </a:rPr>
              <a:t>связанные данные, транзакции, JSON-поля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955279" y="4023360"/>
            <a:ext cx="3840480" cy="6858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9525">
            <a:solidFill>
              <a:srgbClr val="D8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955279" y="4023360"/>
            <a:ext cx="109728" cy="68580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183879" y="4096512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52966"/>
                </a:solidFill>
                <a:latin typeface="Calibri"/>
              </a:rPr>
              <a:t>Docker Compose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183879" y="438912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6B8C"/>
                </a:solidFill>
                <a:latin typeface="Calibri"/>
              </a:rPr>
              <a:t>воспроизводимый запуск и единый артефакт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955279" y="4800600"/>
            <a:ext cx="3840480" cy="6858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9525">
            <a:solidFill>
              <a:srgbClr val="D8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55279" y="4800600"/>
            <a:ext cx="109728" cy="68580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183879" y="4873752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52966"/>
                </a:solidFill>
                <a:latin typeface="Calibri"/>
              </a:rPr>
              <a:t>GitHub Actions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183879" y="516636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6B8C"/>
                </a:solidFill>
                <a:latin typeface="Calibri"/>
              </a:rPr>
              <a:t>автоматические проверки и публикация образов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gt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73152"/>
            <a:ext cx="475488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80160" y="1371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Логическая модель базы данных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Разработка информационной системы рецензирования музыкального творчества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653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 / 8</a:t>
            </a:r>
          </a:p>
        </p:txBody>
      </p:sp>
      <p:pic>
        <p:nvPicPr>
          <p:cNvPr id="8" name="Picture 7" descr="02_er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8229600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052560" y="11887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52966"/>
                </a:solidFill>
                <a:latin typeface="Cambria"/>
              </a:rPr>
              <a:t>Ключевые сущности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60" y="1691640"/>
            <a:ext cx="73152" cy="6400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720" y="169164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52966"/>
                </a:solidFill>
                <a:latin typeface="Calibri"/>
              </a:rPr>
              <a:t>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198424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A6B8C"/>
                </a:solidFill>
                <a:latin typeface="Calibri"/>
              </a:rPr>
              <a:t>учётные записи, профиль, роли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52560" y="2404872"/>
            <a:ext cx="73152" cy="6400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2404872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52966"/>
                </a:solidFill>
                <a:latin typeface="Calibri"/>
              </a:rPr>
              <a:t>albums / tracks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6974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A6B8C"/>
                </a:solidFill>
                <a:latin typeface="Calibri"/>
              </a:rPr>
              <a:t>каталог музыкальных объектов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3118104"/>
            <a:ext cx="73152" cy="6400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3118104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52966"/>
                </a:solidFill>
                <a:latin typeface="Calibri"/>
              </a:rPr>
              <a:t>genres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341071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A6B8C"/>
                </a:solidFill>
                <a:latin typeface="Calibri"/>
              </a:rPr>
              <a:t>жанровая классификация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3831336"/>
            <a:ext cx="73152" cy="6400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3831336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52966"/>
                </a:solidFill>
                <a:latin typeface="Calibri"/>
              </a:rPr>
              <a:t>reviews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412394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A6B8C"/>
                </a:solidFill>
                <a:latin typeface="Calibri"/>
              </a:rPr>
              <a:t>оценки и тексты, статус модерации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4544568"/>
            <a:ext cx="73152" cy="6400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4544568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52966"/>
                </a:solidFill>
                <a:latin typeface="Calibri"/>
              </a:rPr>
              <a:t>*_likes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4837176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A6B8C"/>
                </a:solidFill>
                <a:latin typeface="Calibri"/>
              </a:rPr>
              <a:t>лайки альбомов, треков, рецензий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5257800"/>
            <a:ext cx="73152" cy="6400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525780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52966"/>
                </a:solidFill>
                <a:latin typeface="Calibri"/>
              </a:rPr>
              <a:t>user_follows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555040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A6B8C"/>
                </a:solidFill>
                <a:latin typeface="Calibri"/>
              </a:rPr>
              <a:t>социальный граф подписок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gt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73152"/>
            <a:ext cx="475488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80160" y="1371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Ключевые алгоритмы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Разработка информационной системы рецензирования музыкального творчества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653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 /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6567" y="1280160"/>
            <a:ext cx="365760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6567" y="1280160"/>
            <a:ext cx="3657600" cy="64008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0887" y="128016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mbria"/>
              </a:rPr>
              <a:t>Расчёт итоговой оценки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887" y="214884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0" b="1" i="0">
                <a:solidFill>
                  <a:srgbClr val="C8102E"/>
                </a:solidFill>
                <a:latin typeface="Cambria"/>
              </a:rPr>
              <a:t>1–90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887" y="32461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5A6B8C"/>
                </a:solidFill>
                <a:latin typeface="Calibri"/>
              </a:rPr>
              <a:t>шкала итога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40967" y="3749040"/>
            <a:ext cx="1828800" cy="15875"/>
          </a:xfrm>
          <a:prstGeom prst="rect">
            <a:avLst/>
          </a:prstGeom>
          <a:solidFill>
            <a:srgbClr val="D8D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0887" y="3931920"/>
            <a:ext cx="31089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4 параметра оценки (рифмы, структура, реализация, харизма) — каждый 1–10. Атмосфера переводится в множитель. Итог = (сумма параметров) × множитель, приведённый к шкале 1–90. Формула скрыта от пользователя — показывается крупный итог.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7047" y="1280160"/>
            <a:ext cx="365760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67047" y="1280160"/>
            <a:ext cx="3657600" cy="64008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1367" y="128016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mbria"/>
              </a:rPr>
              <a:t>Расчёт уровня профиля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1367" y="214884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0" b="1" i="0">
                <a:solidFill>
                  <a:srgbClr val="C8102E"/>
                </a:solidFill>
                <a:latin typeface="Cambri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1367" y="32461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5A6B8C"/>
                </a:solidFill>
                <a:latin typeface="Calibri"/>
              </a:rPr>
              <a:t>уровней званий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81447" y="3749040"/>
            <a:ext cx="1828800" cy="15875"/>
          </a:xfrm>
          <a:prstGeom prst="rect">
            <a:avLst/>
          </a:prstGeom>
          <a:solidFill>
            <a:srgbClr val="D8D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1367" y="3931920"/>
            <a:ext cx="31089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Опыт начисляется за активность, а НЕ за высоту оценок: +320 за рецензию, +55 за лайк своей рецензии, +12 за поставленный лайк, +240 за авторский лайк. Уровни: бронза → серебро → золото → изумруд → платина (0 / 2 500 / 8 000 / 18 000 / 36 000).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7527" y="1280160"/>
            <a:ext cx="365760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07527" y="1280160"/>
            <a:ext cx="3657600" cy="64008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1847" y="128016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mbria"/>
              </a:rPr>
              <a:t>Конвейер модерации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1847" y="214884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0" b="1" i="0">
                <a:solidFill>
                  <a:srgbClr val="C8102E"/>
                </a:solidFill>
                <a:latin typeface="Cambr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1847" y="32461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5A6B8C"/>
                </a:solidFill>
                <a:latin typeface="Calibri"/>
              </a:rPr>
              <a:t>статуса жизни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21927" y="3749040"/>
            <a:ext cx="1828800" cy="15875"/>
          </a:xfrm>
          <a:prstGeom prst="rect">
            <a:avLst/>
          </a:prstGeom>
          <a:solidFill>
            <a:srgbClr val="D8D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1847" y="3931920"/>
            <a:ext cx="31089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Новая рецензия → pending; админ принимает или отклоняет. В ленту попадают только approved. После approve пересчитывается средняя оценка альбома и опыт автора. Доступ к модерации защищён AdminMiddleware и подписанным сессионным токеном.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gt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73152"/>
            <a:ext cx="475488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80160" y="1371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Полученные результаты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Разработка информационной системы рецензирования музыкального творчества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653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7 /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6567" y="118872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6567" y="1280160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mbria"/>
              </a:rPr>
              <a:t>35+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6567" y="210312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REST-эндпоинтов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06927" y="118872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06927" y="1280160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mbria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6927" y="210312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таблиц БД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7287" y="118872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87287" y="1280160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210312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слайда CI-пайплайна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7647" y="118872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67647" y="1280160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67647" y="210312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команда запуска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7889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52966"/>
                </a:solidFill>
                <a:latin typeface="Cambria"/>
              </a:rPr>
              <a:t>Реализовано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29184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8102E"/>
                </a:solidFill>
                <a:latin typeface="Calibri"/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29184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A1F36"/>
                </a:solidFill>
                <a:latin typeface="Calibri"/>
              </a:rPr>
              <a:t>Авторизация по подписанным сессионным токенам, роли admin/user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74904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8102E"/>
                </a:solidFill>
                <a:latin typeface="Calibri"/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74904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A1F36"/>
                </a:solidFill>
                <a:latin typeface="Calibri"/>
              </a:rPr>
              <a:t>Профиль пользователя с уровнями, бейджами, предпочтениями и социальным графом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20624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8102E"/>
                </a:solidFill>
                <a:latin typeface="Calibri"/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20624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A1F36"/>
                </a:solidFill>
                <a:latin typeface="Calibri"/>
              </a:rPr>
              <a:t>Лента рецензий с фильтром «Все / Подписки» и админ-панель модерации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66344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8102E"/>
                </a:solidFill>
                <a:latin typeface="Calibri"/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66344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A1F36"/>
                </a:solidFill>
                <a:latin typeface="Calibri"/>
              </a:rPr>
              <a:t>Лайки альбомов / треков / рецензий с оптимистичным 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12064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8102E"/>
                </a:solidFill>
                <a:latin typeface="Calibri"/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12064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A1F36"/>
                </a:solidFill>
                <a:latin typeface="Calibri"/>
              </a:rPr>
              <a:t>Идемпотентный сидер демо-данных для воспроизводимой демонстрации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57784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8102E"/>
                </a:solidFill>
                <a:latin typeface="Calibri"/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57784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A1F36"/>
                </a:solidFill>
                <a:latin typeface="Calibri"/>
              </a:rPr>
              <a:t>GitHub Actions: go vet / test / build + smoke compose + публикация образов в GHCR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2788920"/>
            <a:ext cx="5394960" cy="329184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9525">
            <a:solidFill>
              <a:srgbClr val="D8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2898648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52966"/>
                </a:solidFill>
                <a:latin typeface="Calibri"/>
              </a:rPr>
              <a:t>Архитектура системы</a:t>
            </a:r>
          </a:p>
        </p:txBody>
      </p:sp>
      <p:pic>
        <p:nvPicPr>
          <p:cNvPr id="35" name="Picture 34" descr="01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246120"/>
            <a:ext cx="512064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91695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gt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731520"/>
            <a:ext cx="1341120" cy="2011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520440"/>
            <a:ext cx="1124712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Cambria"/>
              </a:rPr>
              <a:t>СПАСИБО ЗА ВНИМАНИЕ!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1">
                <a:solidFill>
                  <a:srgbClr val="F4F6FB"/>
                </a:solidFill>
                <a:latin typeface="Calibri"/>
              </a:rPr>
              <a:t>Готов ответить на ваши вопросы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F4F6FB"/>
                </a:solidFill>
                <a:latin typeface="Calibri"/>
              </a:rPr>
              <a:t>Афонкин М.А.  ·  МГТУ им. Г.И. Носова  ·  Магнитогорск,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D8DEEB"/>
                </a:solidFill>
                <a:latin typeface="Calibri"/>
              </a:rPr>
              <a:t>Mustreview · веб-сервис рецензий, оценок и геймификации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