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B53324-4061-433C-A2F2-3EB8A0D7EA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B263FC-0CD6-4A25-9BDF-746918C3C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64CBF1-3F1F-4F0D-9BA3-86BA7FA9C3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DD9EF6-8214-4A85-BF84-B173B937D4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F05656-8D59-49BA-BEC5-0DE06E5267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614B85-FA90-4277-A640-BBC9F7DD7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D01FD7-D8F7-42F3-AE36-062E421F9E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C328F4-C53C-4D09-89D1-99DAD89F19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209F84-72DF-407E-9AB4-AC86F64898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D74918-1999-4E85-B668-C71B240BEA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A3426-CF49-4AF5-A1B9-1B2909C1A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4114440" cy="6857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4114800" y="0"/>
            <a:ext cx="63720" cy="68576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1298520" y="384120"/>
            <a:ext cx="1608840" cy="261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mgtu_logo_full.png"/>
          <p:cNvPicPr/>
          <p:nvPr/>
        </p:nvPicPr>
        <p:blipFill>
          <a:blip r:embed="rId1"/>
          <a:stretch/>
        </p:blipFill>
        <p:spPr>
          <a:xfrm>
            <a:off x="1463040" y="548640"/>
            <a:ext cx="128088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320040" y="3154680"/>
            <a:ext cx="34743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МИНИСТЕРСТВО НАУКИ И ВЫСШЕГО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ОБРАЗОВАНИЯ РОССИЙСКОЙ ФЕДЕРАЦИИ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Магнитогорский государственный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технический университет им. Г.И. Носова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Институт энергетики 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автоматизированных систем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Кафедра вычислительной техники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 программирования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0" y="6144840"/>
            <a:ext cx="4114440" cy="712800"/>
          </a:xfrm>
          <a:prstGeom prst="rect">
            <a:avLst/>
          </a:prstGeom>
          <a:solidFill>
            <a:srgbClr val="152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20040" y="614484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Магнитогорск, 2026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617720" y="59436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8A"/>
                </a:solidFill>
                <a:effectLst/>
                <a:uFillTx/>
                <a:latin typeface="Calibri"/>
              </a:rPr>
              <a:t>ВЫПУСКНАЯ КВАЛИФИКАЦИОННАЯ РАБОТА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617720" y="10058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бакалаврская работа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4617720" y="1600200"/>
            <a:ext cx="118440" cy="246852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892040" y="162756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Тема работы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892040" y="2011680"/>
            <a:ext cx="69948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Проектирование и разработка WEB-приложения для рецензирования музыкального творчества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4617720" y="4526280"/>
            <a:ext cx="7269120" cy="17827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4892040" y="46818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ВЫПОЛНИЛ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4892040" y="49561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студент группы АВб-22-2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4892040" y="534924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Афонькин М. А.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8458200" y="46818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РУКОВОДИТЕЛЬ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8458200" y="49561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Доцент каф. ВТ и П, к.т.н.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8458200" y="534924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Егорова Л. Г.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Цель, объект и предмет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40824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0"/>
          <p:cNvSpPr/>
          <p:nvPr/>
        </p:nvSpPr>
        <p:spPr>
          <a:xfrm>
            <a:off x="40824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11"/>
          <p:cNvSpPr/>
          <p:nvPr/>
        </p:nvSpPr>
        <p:spPr>
          <a:xfrm>
            <a:off x="72828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72828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🎯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187128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ЦЕЛЬ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774000" y="3108960"/>
            <a:ext cx="29257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Повышение объективности, информативности и доступности рецензирования русскоязычных музыкальных произведений молодёжной аудиторией за счёт разработки специализированной информационной системы многокритериального оценивания.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5"/>
          <p:cNvSpPr/>
          <p:nvPr/>
        </p:nvSpPr>
        <p:spPr>
          <a:xfrm>
            <a:off x="426708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6"/>
          <p:cNvSpPr/>
          <p:nvPr/>
        </p:nvSpPr>
        <p:spPr>
          <a:xfrm>
            <a:off x="426708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17"/>
          <p:cNvSpPr/>
          <p:nvPr/>
        </p:nvSpPr>
        <p:spPr>
          <a:xfrm>
            <a:off x="458712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458712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🔍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73012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ОБЪЕКТ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0"/>
          <p:cNvSpPr/>
          <p:nvPr/>
        </p:nvSpPr>
        <p:spPr>
          <a:xfrm>
            <a:off x="4632840" y="3108960"/>
            <a:ext cx="29257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Процесс коллективного рецензирования музыкального творчества русскоязычной молодёжью на веб-платформах.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1"/>
          <p:cNvSpPr/>
          <p:nvPr/>
        </p:nvSpPr>
        <p:spPr>
          <a:xfrm>
            <a:off x="812592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2"/>
          <p:cNvSpPr/>
          <p:nvPr/>
        </p:nvSpPr>
        <p:spPr>
          <a:xfrm>
            <a:off x="812592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Oval 23"/>
          <p:cNvSpPr/>
          <p:nvPr/>
        </p:nvSpPr>
        <p:spPr>
          <a:xfrm>
            <a:off x="844596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4"/>
          <p:cNvSpPr/>
          <p:nvPr/>
        </p:nvSpPr>
        <p:spPr>
          <a:xfrm>
            <a:off x="844596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📌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5"/>
          <p:cNvSpPr/>
          <p:nvPr/>
        </p:nvSpPr>
        <p:spPr>
          <a:xfrm>
            <a:off x="958896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ПРЕДМЕТ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6"/>
          <p:cNvSpPr/>
          <p:nvPr/>
        </p:nvSpPr>
        <p:spPr>
          <a:xfrm>
            <a:off x="8491680" y="3108960"/>
            <a:ext cx="29257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Информационная система рецензирования современной музыки с экспертной системой оценки и инструментами модерации пользовательского контента.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Задачи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502920" y="118872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Для достижения поставленной цели решаются следующие задачи: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502920" y="178308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11"/>
          <p:cNvSpPr/>
          <p:nvPr/>
        </p:nvSpPr>
        <p:spPr>
          <a:xfrm>
            <a:off x="822960" y="201168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82296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1965960" y="192924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Анализ предметной области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1965960" y="2368440"/>
            <a:ext cx="9417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Анализ ниши русскоязычного рецензирования современной музыки и проблем существующих платформ.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5"/>
          <p:cNvSpPr/>
          <p:nvPr/>
        </p:nvSpPr>
        <p:spPr>
          <a:xfrm>
            <a:off x="502920" y="338328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16"/>
          <p:cNvSpPr/>
          <p:nvPr/>
        </p:nvSpPr>
        <p:spPr>
          <a:xfrm>
            <a:off x="822960" y="363168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822960" y="363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1965960" y="352944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Проектирование системы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1965960" y="3968640"/>
            <a:ext cx="9417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Проектирование архитектуры системы с экспертной оценкой (рифмы/образы, структура/ритмика, реализация стиля, индивидуальность/харизма, атмосфера/вайб), инструментами модерации и фильтрами жанров.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0"/>
          <p:cNvSpPr/>
          <p:nvPr/>
        </p:nvSpPr>
        <p:spPr>
          <a:xfrm>
            <a:off x="502920" y="498348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21"/>
          <p:cNvSpPr/>
          <p:nvPr/>
        </p:nvSpPr>
        <p:spPr>
          <a:xfrm>
            <a:off x="822960" y="525168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2"/>
          <p:cNvSpPr/>
          <p:nvPr/>
        </p:nvSpPr>
        <p:spPr>
          <a:xfrm>
            <a:off x="822960" y="525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1965960" y="512964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Реализация прототипа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4"/>
          <p:cNvSpPr/>
          <p:nvPr/>
        </p:nvSpPr>
        <p:spPr>
          <a:xfrm>
            <a:off x="1965960" y="5568840"/>
            <a:ext cx="9417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6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Реализация прототипа, интеграция каталогов музыкальных произведений, тестирование модерации и пользовательского интерфейса.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Результаты аналитического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502920" y="118872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Сравнение существующих сервисов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0"/>
          <p:cNvSpPr/>
          <p:nvPr/>
        </p:nvSpPr>
        <p:spPr>
          <a:xfrm>
            <a:off x="502920" y="1783080"/>
            <a:ext cx="228564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502920" y="1783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Сервис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2"/>
          <p:cNvSpPr/>
          <p:nvPr/>
        </p:nvSpPr>
        <p:spPr>
          <a:xfrm>
            <a:off x="278892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278892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Много-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критер.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4"/>
          <p:cNvSpPr/>
          <p:nvPr/>
        </p:nvSpPr>
        <p:spPr>
          <a:xfrm>
            <a:off x="402336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402336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Модер.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контента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6"/>
          <p:cNvSpPr/>
          <p:nvPr/>
        </p:nvSpPr>
        <p:spPr>
          <a:xfrm>
            <a:off x="525780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525780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Гейми-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фикация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8"/>
          <p:cNvSpPr/>
          <p:nvPr/>
        </p:nvSpPr>
        <p:spPr>
          <a:xfrm>
            <a:off x="649224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649224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RU-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интерфейс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0"/>
          <p:cNvSpPr/>
          <p:nvPr/>
        </p:nvSpPr>
        <p:spPr>
          <a:xfrm>
            <a:off x="502920" y="2350080"/>
            <a:ext cx="228564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502920" y="2350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RateYourMusic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2"/>
          <p:cNvSpPr/>
          <p:nvPr/>
        </p:nvSpPr>
        <p:spPr>
          <a:xfrm>
            <a:off x="278892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278892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4"/>
          <p:cNvSpPr/>
          <p:nvPr/>
        </p:nvSpPr>
        <p:spPr>
          <a:xfrm>
            <a:off x="402336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402336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6"/>
          <p:cNvSpPr/>
          <p:nvPr/>
        </p:nvSpPr>
        <p:spPr>
          <a:xfrm>
            <a:off x="525780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7"/>
          <p:cNvSpPr/>
          <p:nvPr/>
        </p:nvSpPr>
        <p:spPr>
          <a:xfrm>
            <a:off x="525780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8"/>
          <p:cNvSpPr/>
          <p:nvPr/>
        </p:nvSpPr>
        <p:spPr>
          <a:xfrm>
            <a:off x="649224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9"/>
          <p:cNvSpPr/>
          <p:nvPr/>
        </p:nvSpPr>
        <p:spPr>
          <a:xfrm>
            <a:off x="649224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0"/>
          <p:cNvSpPr/>
          <p:nvPr/>
        </p:nvSpPr>
        <p:spPr>
          <a:xfrm>
            <a:off x="502920" y="2917080"/>
            <a:ext cx="2285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1"/>
          <p:cNvSpPr/>
          <p:nvPr/>
        </p:nvSpPr>
        <p:spPr>
          <a:xfrm>
            <a:off x="502920" y="2917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AllMusic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2"/>
          <p:cNvSpPr/>
          <p:nvPr/>
        </p:nvSpPr>
        <p:spPr>
          <a:xfrm>
            <a:off x="278892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3"/>
          <p:cNvSpPr/>
          <p:nvPr/>
        </p:nvSpPr>
        <p:spPr>
          <a:xfrm>
            <a:off x="278892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4"/>
          <p:cNvSpPr/>
          <p:nvPr/>
        </p:nvSpPr>
        <p:spPr>
          <a:xfrm>
            <a:off x="402336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402336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6"/>
          <p:cNvSpPr/>
          <p:nvPr/>
        </p:nvSpPr>
        <p:spPr>
          <a:xfrm>
            <a:off x="525780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37"/>
          <p:cNvSpPr/>
          <p:nvPr/>
        </p:nvSpPr>
        <p:spPr>
          <a:xfrm>
            <a:off x="525780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8"/>
          <p:cNvSpPr/>
          <p:nvPr/>
        </p:nvSpPr>
        <p:spPr>
          <a:xfrm>
            <a:off x="649224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9"/>
          <p:cNvSpPr/>
          <p:nvPr/>
        </p:nvSpPr>
        <p:spPr>
          <a:xfrm>
            <a:off x="649224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40"/>
          <p:cNvSpPr/>
          <p:nvPr/>
        </p:nvSpPr>
        <p:spPr>
          <a:xfrm>
            <a:off x="502920" y="3483720"/>
            <a:ext cx="228564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1"/>
          <p:cNvSpPr/>
          <p:nvPr/>
        </p:nvSpPr>
        <p:spPr>
          <a:xfrm>
            <a:off x="502920" y="3483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Last.fm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2"/>
          <p:cNvSpPr/>
          <p:nvPr/>
        </p:nvSpPr>
        <p:spPr>
          <a:xfrm>
            <a:off x="278892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43"/>
          <p:cNvSpPr/>
          <p:nvPr/>
        </p:nvSpPr>
        <p:spPr>
          <a:xfrm>
            <a:off x="278892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44"/>
          <p:cNvSpPr/>
          <p:nvPr/>
        </p:nvSpPr>
        <p:spPr>
          <a:xfrm>
            <a:off x="402336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5"/>
          <p:cNvSpPr/>
          <p:nvPr/>
        </p:nvSpPr>
        <p:spPr>
          <a:xfrm>
            <a:off x="402336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46"/>
          <p:cNvSpPr/>
          <p:nvPr/>
        </p:nvSpPr>
        <p:spPr>
          <a:xfrm>
            <a:off x="525780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47"/>
          <p:cNvSpPr/>
          <p:nvPr/>
        </p:nvSpPr>
        <p:spPr>
          <a:xfrm>
            <a:off x="525780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8"/>
          <p:cNvSpPr/>
          <p:nvPr/>
        </p:nvSpPr>
        <p:spPr>
          <a:xfrm>
            <a:off x="649224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49"/>
          <p:cNvSpPr/>
          <p:nvPr/>
        </p:nvSpPr>
        <p:spPr>
          <a:xfrm>
            <a:off x="649224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0"/>
          <p:cNvSpPr/>
          <p:nvPr/>
        </p:nvSpPr>
        <p:spPr>
          <a:xfrm>
            <a:off x="502920" y="4050720"/>
            <a:ext cx="2285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51"/>
          <p:cNvSpPr/>
          <p:nvPr/>
        </p:nvSpPr>
        <p:spPr>
          <a:xfrm>
            <a:off x="502920" y="4050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VK / Я.Музыка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2"/>
          <p:cNvSpPr/>
          <p:nvPr/>
        </p:nvSpPr>
        <p:spPr>
          <a:xfrm>
            <a:off x="278892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3"/>
          <p:cNvSpPr/>
          <p:nvPr/>
        </p:nvSpPr>
        <p:spPr>
          <a:xfrm>
            <a:off x="278892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54"/>
          <p:cNvSpPr/>
          <p:nvPr/>
        </p:nvSpPr>
        <p:spPr>
          <a:xfrm>
            <a:off x="402336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55"/>
          <p:cNvSpPr/>
          <p:nvPr/>
        </p:nvSpPr>
        <p:spPr>
          <a:xfrm>
            <a:off x="402336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56"/>
          <p:cNvSpPr/>
          <p:nvPr/>
        </p:nvSpPr>
        <p:spPr>
          <a:xfrm>
            <a:off x="525780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57"/>
          <p:cNvSpPr/>
          <p:nvPr/>
        </p:nvSpPr>
        <p:spPr>
          <a:xfrm>
            <a:off x="525780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58"/>
          <p:cNvSpPr/>
          <p:nvPr/>
        </p:nvSpPr>
        <p:spPr>
          <a:xfrm>
            <a:off x="649224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59"/>
          <p:cNvSpPr/>
          <p:nvPr/>
        </p:nvSpPr>
        <p:spPr>
          <a:xfrm>
            <a:off x="649224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60"/>
          <p:cNvSpPr/>
          <p:nvPr/>
        </p:nvSpPr>
        <p:spPr>
          <a:xfrm>
            <a:off x="502920" y="4617720"/>
            <a:ext cx="228564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1"/>
          <p:cNvSpPr/>
          <p:nvPr/>
        </p:nvSpPr>
        <p:spPr>
          <a:xfrm>
            <a:off x="502920" y="4617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Mustreview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2"/>
          <p:cNvSpPr/>
          <p:nvPr/>
        </p:nvSpPr>
        <p:spPr>
          <a:xfrm>
            <a:off x="278892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63"/>
          <p:cNvSpPr/>
          <p:nvPr/>
        </p:nvSpPr>
        <p:spPr>
          <a:xfrm>
            <a:off x="278892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64"/>
          <p:cNvSpPr/>
          <p:nvPr/>
        </p:nvSpPr>
        <p:spPr>
          <a:xfrm>
            <a:off x="402336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5"/>
          <p:cNvSpPr/>
          <p:nvPr/>
        </p:nvSpPr>
        <p:spPr>
          <a:xfrm>
            <a:off x="402336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66"/>
          <p:cNvSpPr/>
          <p:nvPr/>
        </p:nvSpPr>
        <p:spPr>
          <a:xfrm>
            <a:off x="525780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67"/>
          <p:cNvSpPr/>
          <p:nvPr/>
        </p:nvSpPr>
        <p:spPr>
          <a:xfrm>
            <a:off x="525780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8"/>
          <p:cNvSpPr/>
          <p:nvPr/>
        </p:nvSpPr>
        <p:spPr>
          <a:xfrm>
            <a:off x="649224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9"/>
          <p:cNvSpPr/>
          <p:nvPr/>
        </p:nvSpPr>
        <p:spPr>
          <a:xfrm>
            <a:off x="649224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70"/>
          <p:cNvSpPr/>
          <p:nvPr/>
        </p:nvSpPr>
        <p:spPr>
          <a:xfrm>
            <a:off x="7955280" y="118872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Ключевые выводы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71"/>
          <p:cNvSpPr/>
          <p:nvPr/>
        </p:nvSpPr>
        <p:spPr>
          <a:xfrm>
            <a:off x="7955280" y="178308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72"/>
          <p:cNvSpPr/>
          <p:nvPr/>
        </p:nvSpPr>
        <p:spPr>
          <a:xfrm>
            <a:off x="7955280" y="178308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73"/>
          <p:cNvSpPr/>
          <p:nvPr/>
        </p:nvSpPr>
        <p:spPr>
          <a:xfrm>
            <a:off x="8229600" y="19018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Дефицит платформ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4"/>
          <p:cNvSpPr/>
          <p:nvPr/>
        </p:nvSpPr>
        <p:spPr>
          <a:xfrm>
            <a:off x="8229600" y="225864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русскоязычный сегмент фрагментирован, нет среды для системного рецензирования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75"/>
          <p:cNvSpPr/>
          <p:nvPr/>
        </p:nvSpPr>
        <p:spPr>
          <a:xfrm>
            <a:off x="7955280" y="306324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76"/>
          <p:cNvSpPr/>
          <p:nvPr/>
        </p:nvSpPr>
        <p:spPr>
          <a:xfrm>
            <a:off x="7955280" y="306324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77"/>
          <p:cNvSpPr/>
          <p:nvPr/>
        </p:nvSpPr>
        <p:spPr>
          <a:xfrm>
            <a:off x="8229600" y="31820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Технологический стек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78"/>
          <p:cNvSpPr/>
          <p:nvPr/>
        </p:nvSpPr>
        <p:spPr>
          <a:xfrm>
            <a:off x="8229600" y="353880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Go + Gin, React (SPA), PostgreSQL, Docker + GitHub Actions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79"/>
          <p:cNvSpPr/>
          <p:nvPr/>
        </p:nvSpPr>
        <p:spPr>
          <a:xfrm>
            <a:off x="7955280" y="434340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80"/>
          <p:cNvSpPr/>
          <p:nvPr/>
        </p:nvSpPr>
        <p:spPr>
          <a:xfrm>
            <a:off x="7955280" y="434340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81"/>
          <p:cNvSpPr/>
          <p:nvPr/>
        </p:nvSpPr>
        <p:spPr>
          <a:xfrm>
            <a:off x="8229600" y="4462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Главное отличие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82"/>
          <p:cNvSpPr/>
          <p:nvPr/>
        </p:nvSpPr>
        <p:spPr>
          <a:xfrm>
            <a:off x="8229600" y="481896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5-критериальная оценка + очередь модерации + отметка от исполнителя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5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Физическая модель базы данных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502920" y="1143000"/>
            <a:ext cx="111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PostgreSQL · 5 таблиц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0"/>
          <p:cNvSpPr/>
          <p:nvPr/>
        </p:nvSpPr>
        <p:spPr>
          <a:xfrm>
            <a:off x="326160" y="1627560"/>
            <a:ext cx="3702960" cy="2148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11"/>
          <p:cNvSpPr/>
          <p:nvPr/>
        </p:nvSpPr>
        <p:spPr>
          <a:xfrm>
            <a:off x="326160" y="1627560"/>
            <a:ext cx="3702960" cy="676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12"/>
          <p:cNvSpPr/>
          <p:nvPr/>
        </p:nvSpPr>
        <p:spPr>
          <a:xfrm>
            <a:off x="490680" y="1746360"/>
            <a:ext cx="438480" cy="438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490680" y="17463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👤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1039320" y="1627560"/>
            <a:ext cx="2880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users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527040" y="2404800"/>
            <a:ext cx="3300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Пользователи и роли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527040" y="2926080"/>
            <a:ext cx="330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id · username · email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password · avatar_path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bio · is_admin · created_at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7"/>
          <p:cNvSpPr/>
          <p:nvPr/>
        </p:nvSpPr>
        <p:spPr>
          <a:xfrm>
            <a:off x="4244040" y="1627560"/>
            <a:ext cx="3702960" cy="2148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18"/>
          <p:cNvSpPr/>
          <p:nvPr/>
        </p:nvSpPr>
        <p:spPr>
          <a:xfrm>
            <a:off x="4244040" y="1627560"/>
            <a:ext cx="3702960" cy="676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Oval 19"/>
          <p:cNvSpPr/>
          <p:nvPr/>
        </p:nvSpPr>
        <p:spPr>
          <a:xfrm>
            <a:off x="4408920" y="1746360"/>
            <a:ext cx="438480" cy="438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0"/>
          <p:cNvSpPr/>
          <p:nvPr/>
        </p:nvSpPr>
        <p:spPr>
          <a:xfrm>
            <a:off x="4408920" y="17463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💿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1"/>
          <p:cNvSpPr/>
          <p:nvPr/>
        </p:nvSpPr>
        <p:spPr>
          <a:xfrm>
            <a:off x="4957560" y="1627560"/>
            <a:ext cx="2880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albums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4445280" y="2404800"/>
            <a:ext cx="3300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Каталог альбомов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3"/>
          <p:cNvSpPr/>
          <p:nvPr/>
        </p:nvSpPr>
        <p:spPr>
          <a:xfrm>
            <a:off x="4445280" y="2926080"/>
            <a:ext cx="330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id · genre_id (FK)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title · artist · cover_url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description · created_at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24"/>
          <p:cNvSpPr/>
          <p:nvPr/>
        </p:nvSpPr>
        <p:spPr>
          <a:xfrm>
            <a:off x="8162280" y="1627560"/>
            <a:ext cx="3702960" cy="2148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25"/>
          <p:cNvSpPr/>
          <p:nvPr/>
        </p:nvSpPr>
        <p:spPr>
          <a:xfrm>
            <a:off x="8162280" y="1627560"/>
            <a:ext cx="3702960" cy="676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Oval 26"/>
          <p:cNvSpPr/>
          <p:nvPr/>
        </p:nvSpPr>
        <p:spPr>
          <a:xfrm>
            <a:off x="8327160" y="1746360"/>
            <a:ext cx="438480" cy="438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27"/>
          <p:cNvSpPr/>
          <p:nvPr/>
        </p:nvSpPr>
        <p:spPr>
          <a:xfrm>
            <a:off x="8327160" y="17463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8"/>
          <p:cNvSpPr/>
          <p:nvPr/>
        </p:nvSpPr>
        <p:spPr>
          <a:xfrm>
            <a:off x="8875800" y="1627560"/>
            <a:ext cx="2880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tracks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9"/>
          <p:cNvSpPr/>
          <p:nvPr/>
        </p:nvSpPr>
        <p:spPr>
          <a:xfrm>
            <a:off x="8363520" y="2404800"/>
            <a:ext cx="3300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Треки альбомов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0"/>
          <p:cNvSpPr/>
          <p:nvPr/>
        </p:nvSpPr>
        <p:spPr>
          <a:xfrm>
            <a:off x="8363520" y="2926080"/>
            <a:ext cx="330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id · album_id (FK)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title · duration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track_number · created_at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31"/>
          <p:cNvSpPr/>
          <p:nvPr/>
        </p:nvSpPr>
        <p:spPr>
          <a:xfrm>
            <a:off x="326160" y="3977640"/>
            <a:ext cx="3702960" cy="2331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32"/>
          <p:cNvSpPr/>
          <p:nvPr/>
        </p:nvSpPr>
        <p:spPr>
          <a:xfrm>
            <a:off x="326160" y="3977640"/>
            <a:ext cx="3702960" cy="6764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Oval 33"/>
          <p:cNvSpPr/>
          <p:nvPr/>
        </p:nvSpPr>
        <p:spPr>
          <a:xfrm>
            <a:off x="490680" y="4096440"/>
            <a:ext cx="438480" cy="438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34"/>
          <p:cNvSpPr/>
          <p:nvPr/>
        </p:nvSpPr>
        <p:spPr>
          <a:xfrm>
            <a:off x="490680" y="40964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🏷️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5"/>
          <p:cNvSpPr/>
          <p:nvPr/>
        </p:nvSpPr>
        <p:spPr>
          <a:xfrm>
            <a:off x="1039320" y="3977640"/>
            <a:ext cx="2880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genres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6"/>
          <p:cNvSpPr/>
          <p:nvPr/>
        </p:nvSpPr>
        <p:spPr>
          <a:xfrm>
            <a:off x="527040" y="4754880"/>
            <a:ext cx="3300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Жанровая классификация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7"/>
          <p:cNvSpPr/>
          <p:nvPr/>
        </p:nvSpPr>
        <p:spPr>
          <a:xfrm>
            <a:off x="527040" y="5276160"/>
            <a:ext cx="3300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id · name · description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38"/>
          <p:cNvSpPr/>
          <p:nvPr/>
        </p:nvSpPr>
        <p:spPr>
          <a:xfrm>
            <a:off x="4244040" y="3977640"/>
            <a:ext cx="7580160" cy="2331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39"/>
          <p:cNvSpPr/>
          <p:nvPr/>
        </p:nvSpPr>
        <p:spPr>
          <a:xfrm>
            <a:off x="4244040" y="3977640"/>
            <a:ext cx="7580160" cy="676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Oval 40"/>
          <p:cNvSpPr/>
          <p:nvPr/>
        </p:nvSpPr>
        <p:spPr>
          <a:xfrm>
            <a:off x="4408920" y="4096440"/>
            <a:ext cx="438480" cy="438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41"/>
          <p:cNvSpPr/>
          <p:nvPr/>
        </p:nvSpPr>
        <p:spPr>
          <a:xfrm>
            <a:off x="4408920" y="40964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⭐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2"/>
          <p:cNvSpPr/>
          <p:nvPr/>
        </p:nvSpPr>
        <p:spPr>
          <a:xfrm>
            <a:off x="4957560" y="3977640"/>
            <a:ext cx="6757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reviews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3"/>
          <p:cNvSpPr/>
          <p:nvPr/>
        </p:nvSpPr>
        <p:spPr>
          <a:xfrm>
            <a:off x="4445280" y="4754880"/>
            <a:ext cx="7177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Центральная сущность — рецензии и оценки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4"/>
          <p:cNvSpPr/>
          <p:nvPr/>
        </p:nvSpPr>
        <p:spPr>
          <a:xfrm>
            <a:off x="4445280" y="5276160"/>
            <a:ext cx="7177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id · user_id (FK) · album_id (FK) · track_id (FK) · text · status · created_at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onsolas"/>
              </a:rPr>
              <a:t>оценки: rhyme_score · structure_score · style_score · individuality_score · vibe_score · total_score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9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Ключевые алгоритмы: расчёт оценки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9"/>
          <p:cNvSpPr/>
          <p:nvPr/>
        </p:nvSpPr>
        <p:spPr>
          <a:xfrm>
            <a:off x="502920" y="1325880"/>
            <a:ext cx="11155320" cy="1691280"/>
          </a:xfrm>
          <a:prstGeom prst="roundRect">
            <a:avLst>
              <a:gd name="adj" fmla="val 6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502920" y="14356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Итоговая оценка рецензии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502920" y="178308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Score = (R + S + I + Ch) × 1.4 × A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502920" y="2624400"/>
            <a:ext cx="11155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округляется до целого; фактический диапазон итоговой оценки: 6 – 90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3"/>
          <p:cNvSpPr/>
          <p:nvPr/>
        </p:nvSpPr>
        <p:spPr>
          <a:xfrm>
            <a:off x="49968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14"/>
          <p:cNvSpPr/>
          <p:nvPr/>
        </p:nvSpPr>
        <p:spPr>
          <a:xfrm>
            <a:off x="112608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112608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59112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Рифмы / образы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59112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8"/>
          <p:cNvSpPr/>
          <p:nvPr/>
        </p:nvSpPr>
        <p:spPr>
          <a:xfrm>
            <a:off x="276732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19"/>
          <p:cNvSpPr/>
          <p:nvPr/>
        </p:nvSpPr>
        <p:spPr>
          <a:xfrm>
            <a:off x="339372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0"/>
          <p:cNvSpPr/>
          <p:nvPr/>
        </p:nvSpPr>
        <p:spPr>
          <a:xfrm>
            <a:off x="339372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1"/>
          <p:cNvSpPr/>
          <p:nvPr/>
        </p:nvSpPr>
        <p:spPr>
          <a:xfrm>
            <a:off x="285876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Структура / ритмика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285876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23"/>
          <p:cNvSpPr/>
          <p:nvPr/>
        </p:nvSpPr>
        <p:spPr>
          <a:xfrm>
            <a:off x="503532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Oval 24"/>
          <p:cNvSpPr/>
          <p:nvPr/>
        </p:nvSpPr>
        <p:spPr>
          <a:xfrm>
            <a:off x="566136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5"/>
          <p:cNvSpPr/>
          <p:nvPr/>
        </p:nvSpPr>
        <p:spPr>
          <a:xfrm>
            <a:off x="566136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6"/>
          <p:cNvSpPr/>
          <p:nvPr/>
        </p:nvSpPr>
        <p:spPr>
          <a:xfrm>
            <a:off x="512676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Реализация стиля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7"/>
          <p:cNvSpPr/>
          <p:nvPr/>
        </p:nvSpPr>
        <p:spPr>
          <a:xfrm>
            <a:off x="512676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28"/>
          <p:cNvSpPr/>
          <p:nvPr/>
        </p:nvSpPr>
        <p:spPr>
          <a:xfrm>
            <a:off x="730296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Oval 29"/>
          <p:cNvSpPr/>
          <p:nvPr/>
        </p:nvSpPr>
        <p:spPr>
          <a:xfrm>
            <a:off x="792936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30"/>
          <p:cNvSpPr/>
          <p:nvPr/>
        </p:nvSpPr>
        <p:spPr>
          <a:xfrm>
            <a:off x="792936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1"/>
          <p:cNvSpPr/>
          <p:nvPr/>
        </p:nvSpPr>
        <p:spPr>
          <a:xfrm>
            <a:off x="739440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Индивидуальность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2"/>
          <p:cNvSpPr/>
          <p:nvPr/>
        </p:nvSpPr>
        <p:spPr>
          <a:xfrm>
            <a:off x="739440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33"/>
          <p:cNvSpPr/>
          <p:nvPr/>
        </p:nvSpPr>
        <p:spPr>
          <a:xfrm>
            <a:off x="957060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Oval 34"/>
          <p:cNvSpPr/>
          <p:nvPr/>
        </p:nvSpPr>
        <p:spPr>
          <a:xfrm>
            <a:off x="10197000" y="3538800"/>
            <a:ext cx="868320" cy="86832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5"/>
          <p:cNvSpPr/>
          <p:nvPr/>
        </p:nvSpPr>
        <p:spPr>
          <a:xfrm>
            <a:off x="1019700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6"/>
          <p:cNvSpPr/>
          <p:nvPr/>
        </p:nvSpPr>
        <p:spPr>
          <a:xfrm>
            <a:off x="966204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Атмосфера / вайб (×)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7"/>
          <p:cNvSpPr/>
          <p:nvPr/>
        </p:nvSpPr>
        <p:spPr>
          <a:xfrm>
            <a:off x="966204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1.0 – 1.6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38"/>
          <p:cNvSpPr/>
          <p:nvPr/>
        </p:nvSpPr>
        <p:spPr>
          <a:xfrm>
            <a:off x="502920" y="5349240"/>
            <a:ext cx="11155320" cy="9597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39"/>
          <p:cNvSpPr/>
          <p:nvPr/>
        </p:nvSpPr>
        <p:spPr>
          <a:xfrm>
            <a:off x="777240" y="54680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Аналоги (RYM, AllMusic, VK):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40"/>
          <p:cNvSpPr/>
          <p:nvPr/>
        </p:nvSpPr>
        <p:spPr>
          <a:xfrm>
            <a:off x="777240" y="5760000"/>
            <a:ext cx="51202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одна звёздная шкала 1–5 → высокая субъективность, низкая информативность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41"/>
          <p:cNvSpPr/>
          <p:nvPr/>
        </p:nvSpPr>
        <p:spPr>
          <a:xfrm>
            <a:off x="6309360" y="54680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Разрабатываемая система: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2"/>
          <p:cNvSpPr/>
          <p:nvPr/>
        </p:nvSpPr>
        <p:spPr>
          <a:xfrm>
            <a:off x="6318360" y="5706720"/>
            <a:ext cx="51202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5 независимых критериев → структурированная оценка и наглядное сравнение релизов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Архитектура системы и DevOps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502920" y="1143000"/>
            <a:ext cx="5257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Архитектура приложения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0"/>
          <p:cNvSpPr/>
          <p:nvPr/>
        </p:nvSpPr>
        <p:spPr>
          <a:xfrm>
            <a:off x="1371600" y="16459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1508760" y="17557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Браузер · React SPA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1481400" y="20847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интерфейс, axios → REST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Down Arrow 13"/>
          <p:cNvSpPr/>
          <p:nvPr/>
        </p:nvSpPr>
        <p:spPr>
          <a:xfrm>
            <a:off x="3012840" y="23774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ounded Rectangle 14"/>
          <p:cNvSpPr/>
          <p:nvPr/>
        </p:nvSpPr>
        <p:spPr>
          <a:xfrm>
            <a:off x="1371600" y="26701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5"/>
          <p:cNvSpPr/>
          <p:nvPr/>
        </p:nvSpPr>
        <p:spPr>
          <a:xfrm>
            <a:off x="1508760" y="27799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Nginx (reverse-proxy)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6"/>
          <p:cNvSpPr/>
          <p:nvPr/>
        </p:nvSpPr>
        <p:spPr>
          <a:xfrm>
            <a:off x="1481400" y="31089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статика + проксирование /api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Down Arrow 17"/>
          <p:cNvSpPr/>
          <p:nvPr/>
        </p:nvSpPr>
        <p:spPr>
          <a:xfrm>
            <a:off x="3012840" y="34016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ounded Rectangle 18"/>
          <p:cNvSpPr/>
          <p:nvPr/>
        </p:nvSpPr>
        <p:spPr>
          <a:xfrm>
            <a:off x="1371600" y="36943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9"/>
          <p:cNvSpPr/>
          <p:nvPr/>
        </p:nvSpPr>
        <p:spPr>
          <a:xfrm>
            <a:off x="1508760" y="380376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Backend · Go + Gin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1481400" y="41331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REST API, бизнес-логика, GORM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Down Arrow 21"/>
          <p:cNvSpPr/>
          <p:nvPr/>
        </p:nvSpPr>
        <p:spPr>
          <a:xfrm>
            <a:off x="3012840" y="44258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ounded Rectangle 22"/>
          <p:cNvSpPr/>
          <p:nvPr/>
        </p:nvSpPr>
        <p:spPr>
          <a:xfrm>
            <a:off x="1371600" y="471816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3"/>
          <p:cNvSpPr/>
          <p:nvPr/>
        </p:nvSpPr>
        <p:spPr>
          <a:xfrm>
            <a:off x="1508760" y="482796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PostgreSQL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4"/>
          <p:cNvSpPr/>
          <p:nvPr/>
        </p:nvSpPr>
        <p:spPr>
          <a:xfrm>
            <a:off x="1481400" y="51573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каталог, рецензии, лайки, связи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6355080" y="114300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CI/CD · GitHub Actions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26"/>
          <p:cNvSpPr/>
          <p:nvPr/>
        </p:nvSpPr>
        <p:spPr>
          <a:xfrm>
            <a:off x="6675120" y="16459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Oval 27"/>
          <p:cNvSpPr/>
          <p:nvPr/>
        </p:nvSpPr>
        <p:spPr>
          <a:xfrm>
            <a:off x="6821280" y="181980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8"/>
          <p:cNvSpPr/>
          <p:nvPr/>
        </p:nvSpPr>
        <p:spPr>
          <a:xfrm>
            <a:off x="6821280" y="1819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9"/>
          <p:cNvSpPr/>
          <p:nvPr/>
        </p:nvSpPr>
        <p:spPr>
          <a:xfrm>
            <a:off x="7315200" y="17373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Backend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0"/>
          <p:cNvSpPr/>
          <p:nvPr/>
        </p:nvSpPr>
        <p:spPr>
          <a:xfrm>
            <a:off x="7315200" y="20300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go vet · go test · go build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Down Arrow 31"/>
          <p:cNvSpPr/>
          <p:nvPr/>
        </p:nvSpPr>
        <p:spPr>
          <a:xfrm>
            <a:off x="8888040" y="23774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ounded Rectangle 32"/>
          <p:cNvSpPr/>
          <p:nvPr/>
        </p:nvSpPr>
        <p:spPr>
          <a:xfrm>
            <a:off x="6675120" y="26701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Oval 33"/>
          <p:cNvSpPr/>
          <p:nvPr/>
        </p:nvSpPr>
        <p:spPr>
          <a:xfrm>
            <a:off x="6821280" y="28436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4"/>
          <p:cNvSpPr/>
          <p:nvPr/>
        </p:nvSpPr>
        <p:spPr>
          <a:xfrm>
            <a:off x="6821280" y="2843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35"/>
          <p:cNvSpPr/>
          <p:nvPr/>
        </p:nvSpPr>
        <p:spPr>
          <a:xfrm>
            <a:off x="7315200" y="27615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Frontend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36"/>
          <p:cNvSpPr/>
          <p:nvPr/>
        </p:nvSpPr>
        <p:spPr>
          <a:xfrm>
            <a:off x="7315200" y="30542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npm install · npm run build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Down Arrow 37"/>
          <p:cNvSpPr/>
          <p:nvPr/>
        </p:nvSpPr>
        <p:spPr>
          <a:xfrm>
            <a:off x="8888040" y="34016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ounded Rectangle 38"/>
          <p:cNvSpPr/>
          <p:nvPr/>
        </p:nvSpPr>
        <p:spPr>
          <a:xfrm>
            <a:off x="6675120" y="36943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Oval 39"/>
          <p:cNvSpPr/>
          <p:nvPr/>
        </p:nvSpPr>
        <p:spPr>
          <a:xfrm>
            <a:off x="6821280" y="38678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40"/>
          <p:cNvSpPr/>
          <p:nvPr/>
        </p:nvSpPr>
        <p:spPr>
          <a:xfrm>
            <a:off x="6821280" y="3867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41"/>
          <p:cNvSpPr/>
          <p:nvPr/>
        </p:nvSpPr>
        <p:spPr>
          <a:xfrm>
            <a:off x="7315200" y="37857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Compose smoke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2"/>
          <p:cNvSpPr/>
          <p:nvPr/>
        </p:nvSpPr>
        <p:spPr>
          <a:xfrm>
            <a:off x="7315200" y="40780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поднять prod-стек, проверить /healthz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Down Arrow 43"/>
          <p:cNvSpPr/>
          <p:nvPr/>
        </p:nvSpPr>
        <p:spPr>
          <a:xfrm>
            <a:off x="8888040" y="44258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ounded Rectangle 44"/>
          <p:cNvSpPr/>
          <p:nvPr/>
        </p:nvSpPr>
        <p:spPr>
          <a:xfrm>
            <a:off x="6675120" y="471816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45"/>
          <p:cNvSpPr/>
          <p:nvPr/>
        </p:nvSpPr>
        <p:spPr>
          <a:xfrm>
            <a:off x="6821280" y="48920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46"/>
          <p:cNvSpPr/>
          <p:nvPr/>
        </p:nvSpPr>
        <p:spPr>
          <a:xfrm>
            <a:off x="6821280" y="4892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47"/>
          <p:cNvSpPr/>
          <p:nvPr/>
        </p:nvSpPr>
        <p:spPr>
          <a:xfrm>
            <a:off x="7315200" y="480960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Docker / GHCR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8"/>
          <p:cNvSpPr/>
          <p:nvPr/>
        </p:nvSpPr>
        <p:spPr>
          <a:xfrm>
            <a:off x="7315200" y="51022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сборка и публикация образов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49"/>
          <p:cNvSpPr/>
          <p:nvPr/>
        </p:nvSpPr>
        <p:spPr>
          <a:xfrm>
            <a:off x="1473480" y="5715000"/>
            <a:ext cx="1663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50"/>
          <p:cNvSpPr/>
          <p:nvPr/>
        </p:nvSpPr>
        <p:spPr>
          <a:xfrm>
            <a:off x="1473480" y="5715000"/>
            <a:ext cx="166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Docker Compose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51"/>
          <p:cNvSpPr/>
          <p:nvPr/>
        </p:nvSpPr>
        <p:spPr>
          <a:xfrm>
            <a:off x="3320640" y="5715000"/>
            <a:ext cx="1951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52"/>
          <p:cNvSpPr/>
          <p:nvPr/>
        </p:nvSpPr>
        <p:spPr>
          <a:xfrm>
            <a:off x="3320640" y="5715000"/>
            <a:ext cx="1951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Multi-stage build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53"/>
          <p:cNvSpPr/>
          <p:nvPr/>
        </p:nvSpPr>
        <p:spPr>
          <a:xfrm>
            <a:off x="5455800" y="5715000"/>
            <a:ext cx="1375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54"/>
          <p:cNvSpPr/>
          <p:nvPr/>
        </p:nvSpPr>
        <p:spPr>
          <a:xfrm>
            <a:off x="5455800" y="5715000"/>
            <a:ext cx="137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Healthcheck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55"/>
          <p:cNvSpPr/>
          <p:nvPr/>
        </p:nvSpPr>
        <p:spPr>
          <a:xfrm>
            <a:off x="7014960" y="5715000"/>
            <a:ext cx="156780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56"/>
          <p:cNvSpPr/>
          <p:nvPr/>
        </p:nvSpPr>
        <p:spPr>
          <a:xfrm>
            <a:off x="7014960" y="5715000"/>
            <a:ext cx="156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GHCR registry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57"/>
          <p:cNvSpPr/>
          <p:nvPr/>
        </p:nvSpPr>
        <p:spPr>
          <a:xfrm>
            <a:off x="8766000" y="5715000"/>
            <a:ext cx="1951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58"/>
          <p:cNvSpPr/>
          <p:nvPr/>
        </p:nvSpPr>
        <p:spPr>
          <a:xfrm>
            <a:off x="8766000" y="5715000"/>
            <a:ext cx="1951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Graceful shutdown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ounded Rectangle 3"/>
          <p:cNvSpPr/>
          <p:nvPr/>
        </p:nvSpPr>
        <p:spPr>
          <a:xfrm>
            <a:off x="274320" y="54720"/>
            <a:ext cx="541080" cy="82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9" name="Picture 4" descr="mgtu_logo_full.png"/>
          <p:cNvPicPr/>
          <p:nvPr/>
        </p:nvPicPr>
        <p:blipFill>
          <a:blip r:embed="rId1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Полученные результаты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365760" y="653796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WEB-приложение для рецензирования музыкального творчества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9"/>
          <p:cNvSpPr/>
          <p:nvPr/>
        </p:nvSpPr>
        <p:spPr>
          <a:xfrm>
            <a:off x="42660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426600" y="128016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30+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42660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эндпоинтов REST API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330696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3"/>
          <p:cNvSpPr/>
          <p:nvPr/>
        </p:nvSpPr>
        <p:spPr>
          <a:xfrm>
            <a:off x="3306960" y="128016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330696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таблиц базы данных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15"/>
          <p:cNvSpPr/>
          <p:nvPr/>
        </p:nvSpPr>
        <p:spPr>
          <a:xfrm>
            <a:off x="618732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6"/>
          <p:cNvSpPr/>
          <p:nvPr/>
        </p:nvSpPr>
        <p:spPr>
          <a:xfrm>
            <a:off x="6187320" y="128016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618732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стадии CI-пайплайна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18"/>
          <p:cNvSpPr/>
          <p:nvPr/>
        </p:nvSpPr>
        <p:spPr>
          <a:xfrm>
            <a:off x="906768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19"/>
          <p:cNvSpPr/>
          <p:nvPr/>
        </p:nvSpPr>
        <p:spPr>
          <a:xfrm>
            <a:off x="9067680" y="128016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0"/>
          <p:cNvSpPr/>
          <p:nvPr/>
        </p:nvSpPr>
        <p:spPr>
          <a:xfrm>
            <a:off x="906768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команда запуска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21"/>
          <p:cNvSpPr/>
          <p:nvPr/>
        </p:nvSpPr>
        <p:spPr>
          <a:xfrm>
            <a:off x="50292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Функциональность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2"/>
          <p:cNvSpPr/>
          <p:nvPr/>
        </p:nvSpPr>
        <p:spPr>
          <a:xfrm>
            <a:off x="635508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Инфраструктура и качество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3"/>
          <p:cNvSpPr/>
          <p:nvPr/>
        </p:nvSpPr>
        <p:spPr>
          <a:xfrm>
            <a:off x="594360" y="32918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24"/>
          <p:cNvSpPr/>
          <p:nvPr/>
        </p:nvSpPr>
        <p:spPr>
          <a:xfrm>
            <a:off x="914400" y="329184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Авторизация по подписанным сессионным токенам, роли admin / user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5"/>
          <p:cNvSpPr/>
          <p:nvPr/>
        </p:nvSpPr>
        <p:spPr>
          <a:xfrm>
            <a:off x="594360" y="38404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6"/>
          <p:cNvSpPr/>
          <p:nvPr/>
        </p:nvSpPr>
        <p:spPr>
          <a:xfrm>
            <a:off x="914400" y="38404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Многокритериальная оценка релизов и оптимистичные лайки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7"/>
          <p:cNvSpPr/>
          <p:nvPr/>
        </p:nvSpPr>
        <p:spPr>
          <a:xfrm>
            <a:off x="594360" y="4389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8"/>
          <p:cNvSpPr/>
          <p:nvPr/>
        </p:nvSpPr>
        <p:spPr>
          <a:xfrm>
            <a:off x="914400" y="438912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Лента рецензий с фильтром «Все / Подписки»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9"/>
          <p:cNvSpPr/>
          <p:nvPr/>
        </p:nvSpPr>
        <p:spPr>
          <a:xfrm>
            <a:off x="594360" y="493776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30"/>
          <p:cNvSpPr/>
          <p:nvPr/>
        </p:nvSpPr>
        <p:spPr>
          <a:xfrm>
            <a:off x="914400" y="49377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Конвейер модерации: pending → approved / rejected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1"/>
          <p:cNvSpPr/>
          <p:nvPr/>
        </p:nvSpPr>
        <p:spPr>
          <a:xfrm>
            <a:off x="594360" y="548640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32"/>
          <p:cNvSpPr/>
          <p:nvPr/>
        </p:nvSpPr>
        <p:spPr>
          <a:xfrm>
            <a:off x="914400" y="548640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Профиль с уровнями, бейджами и социальным графом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3"/>
          <p:cNvSpPr/>
          <p:nvPr/>
        </p:nvSpPr>
        <p:spPr>
          <a:xfrm>
            <a:off x="594360" y="60350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4"/>
          <p:cNvSpPr/>
          <p:nvPr/>
        </p:nvSpPr>
        <p:spPr>
          <a:xfrm>
            <a:off x="914400" y="603504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Музыкальный каталог: альбомы, треки, жанры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5"/>
          <p:cNvSpPr/>
          <p:nvPr/>
        </p:nvSpPr>
        <p:spPr>
          <a:xfrm>
            <a:off x="6446520" y="32918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6"/>
          <p:cNvSpPr/>
          <p:nvPr/>
        </p:nvSpPr>
        <p:spPr>
          <a:xfrm>
            <a:off x="6766560" y="329184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Контейнеризация: Docker Compose (dev / prod / deploy)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37"/>
          <p:cNvSpPr/>
          <p:nvPr/>
        </p:nvSpPr>
        <p:spPr>
          <a:xfrm>
            <a:off x="6446520" y="38404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38"/>
          <p:cNvSpPr/>
          <p:nvPr/>
        </p:nvSpPr>
        <p:spPr>
          <a:xfrm>
            <a:off x="6766560" y="38404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CI: go vet · go test · go build + frontend build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9"/>
          <p:cNvSpPr/>
          <p:nvPr/>
        </p:nvSpPr>
        <p:spPr>
          <a:xfrm>
            <a:off x="6446520" y="4389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0"/>
          <p:cNvSpPr/>
          <p:nvPr/>
        </p:nvSpPr>
        <p:spPr>
          <a:xfrm>
            <a:off x="6766560" y="438912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Smoke-тест prod-стека и публикация образов в GHCR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41"/>
          <p:cNvSpPr/>
          <p:nvPr/>
        </p:nvSpPr>
        <p:spPr>
          <a:xfrm>
            <a:off x="6446520" y="493776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42"/>
          <p:cNvSpPr/>
          <p:nvPr/>
        </p:nvSpPr>
        <p:spPr>
          <a:xfrm>
            <a:off x="6766560" y="49377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Multi-stage сборка, healthcheck, graceful shutdown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43"/>
          <p:cNvSpPr/>
          <p:nvPr/>
        </p:nvSpPr>
        <p:spPr>
          <a:xfrm>
            <a:off x="6446520" y="548640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44"/>
          <p:cNvSpPr/>
          <p:nvPr/>
        </p:nvSpPr>
        <p:spPr>
          <a:xfrm>
            <a:off x="6766560" y="548640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Идемпотентный сидер демо-данных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45"/>
          <p:cNvSpPr/>
          <p:nvPr/>
        </p:nvSpPr>
        <p:spPr>
          <a:xfrm>
            <a:off x="6446520" y="60350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46"/>
          <p:cNvSpPr/>
          <p:nvPr/>
        </p:nvSpPr>
        <p:spPr>
          <a:xfrm>
            <a:off x="6766560" y="603504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Запуск одной командой, готовность к деплою на VPS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52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 2"/>
          <p:cNvSpPr/>
          <p:nvPr/>
        </p:nvSpPr>
        <p:spPr>
          <a:xfrm>
            <a:off x="0" y="3200400"/>
            <a:ext cx="12191400" cy="54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Rounded Rectangle 3"/>
          <p:cNvSpPr/>
          <p:nvPr/>
        </p:nvSpPr>
        <p:spPr>
          <a:xfrm>
            <a:off x="5486400" y="493920"/>
            <a:ext cx="1367640" cy="2212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5" name="Picture 4" descr="mgtu_logo_full.png"/>
          <p:cNvPicPr/>
          <p:nvPr/>
        </p:nvPicPr>
        <p:blipFill>
          <a:blip r:embed="rId1"/>
          <a:stretch/>
        </p:blipFill>
        <p:spPr>
          <a:xfrm>
            <a:off x="5632560" y="640080"/>
            <a:ext cx="10756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Box 5"/>
          <p:cNvSpPr/>
          <p:nvPr/>
        </p:nvSpPr>
        <p:spPr>
          <a:xfrm>
            <a:off x="457200" y="3611880"/>
            <a:ext cx="112467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СПАСИБО ЗА ВНИМАНИЕ!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457200" y="60350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Афонькин Максим Артемович  ·  группа АВб-22-2  ·  Магнитогорск, 2026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2026-06-09T11:58:31Z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