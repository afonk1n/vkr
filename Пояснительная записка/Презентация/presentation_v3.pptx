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7559675" cy="10691813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9" d="100"/>
          <a:sy n="149" d="100"/>
        </p:scale>
        <p:origin x="69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FB53324-4061-433C-A2F2-3EB8A0D7EAC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1B263FC-0CD6-4A25-9BDF-746918C3CEB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664CBF1-3F1F-4F0D-9BA3-86BA7FA9C3C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2DD9EF6-8214-4A85-BF84-B173B937D4A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DF05656-8D59-49BA-BEC5-0DE06E52674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D614B85-FA90-4277-A640-BBC9F7DD724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5D01FD7-D8F7-42F3-AE36-062E421F9E2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8C328F4-C53C-4D09-89D1-99DAD89F195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3209F84-72DF-407E-9AB4-AC86F64898A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Для правки текста заглавия щёлкните мышью</a:t>
            </a: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Для правки структуры щёлкните мышью</a:t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 структуры</a:t>
            </a: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 структуры</a:t>
            </a: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Четвёртый уровень структуры</a:t>
            </a: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 структуры</a:t>
            </a: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Шестой уровень структуры</a:t>
            </a: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Седьмой уровень структуры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1D74918-1999-4E85-B668-C71B240BEA2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Для правки структуры щёлкните мышью</a:t>
            </a: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 структуры</a:t>
            </a: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 структуры</a:t>
            </a: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Четвёртый уровень структуры</a:t>
            </a: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 структуры</a:t>
            </a: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Шестой уровень структуры</a:t>
            </a: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Седьмой уровень структуры</a:t>
            </a: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37A3426-CF49-4AF5-A1B9-1B2909C1AF4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1"/>
          <p:cNvSpPr/>
          <p:nvPr/>
        </p:nvSpPr>
        <p:spPr>
          <a:xfrm>
            <a:off x="0" y="0"/>
            <a:ext cx="4114440" cy="6857640"/>
          </a:xfrm>
          <a:prstGeom prst="rect">
            <a:avLst/>
          </a:prstGeom>
          <a:solidFill>
            <a:srgbClr val="1F3A8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" name="Rectangle 2"/>
          <p:cNvSpPr/>
          <p:nvPr/>
        </p:nvSpPr>
        <p:spPr>
          <a:xfrm>
            <a:off x="4114800" y="0"/>
            <a:ext cx="63720" cy="6857640"/>
          </a:xfrm>
          <a:prstGeom prst="rect">
            <a:avLst/>
          </a:prstGeom>
          <a:solidFill>
            <a:srgbClr val="C8102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64" name="Picture 4" descr="mgtu_logo_full.png"/>
          <p:cNvPicPr/>
          <p:nvPr/>
        </p:nvPicPr>
        <p:blipFill>
          <a:blip r:embed="rId2"/>
          <a:stretch/>
        </p:blipFill>
        <p:spPr>
          <a:xfrm>
            <a:off x="1463040" y="548640"/>
            <a:ext cx="1280880" cy="228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" name="TextBox 5"/>
          <p:cNvSpPr/>
          <p:nvPr/>
        </p:nvSpPr>
        <p:spPr>
          <a:xfrm>
            <a:off x="320040" y="3154680"/>
            <a:ext cx="3474360" cy="235660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457200">
              <a:lnSpc>
                <a:spcPct val="110000"/>
              </a:lnSpc>
            </a:pPr>
            <a:r>
              <a:rPr lang="en-US" sz="1400" b="0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МИНИСТЕРСТВО НАУКИ И ВЫСШЕГО</a:t>
            </a:r>
            <a:endParaRPr lang="ru-RU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10000"/>
              </a:lnSpc>
            </a:pPr>
            <a:r>
              <a:rPr lang="en-US" sz="1400" b="0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ОБРАЗОВАНИЯ РОССИЙСКОЙ ФЕДЕРАЦИИ</a:t>
            </a:r>
            <a:endParaRPr lang="ru-RU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10000"/>
              </a:lnSpc>
            </a:pPr>
            <a:endParaRPr lang="ru-RU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10000"/>
              </a:lnSpc>
            </a:pPr>
            <a:r>
              <a:rPr lang="en-US" sz="1400" b="0" u="none" strike="noStrike" dirty="0" err="1">
                <a:solidFill>
                  <a:srgbClr val="FFFFFF"/>
                </a:solidFill>
                <a:effectLst/>
                <a:uFillTx/>
                <a:latin typeface="Calibri"/>
              </a:rPr>
              <a:t>Магнитогорский</a:t>
            </a:r>
            <a:r>
              <a:rPr lang="en-US" sz="1400" b="0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 </a:t>
            </a:r>
            <a:r>
              <a:rPr lang="en-US" sz="1400" b="0" u="none" strike="noStrike" dirty="0" err="1">
                <a:solidFill>
                  <a:srgbClr val="FFFFFF"/>
                </a:solidFill>
                <a:effectLst/>
                <a:uFillTx/>
                <a:latin typeface="Calibri"/>
              </a:rPr>
              <a:t>государственный</a:t>
            </a:r>
            <a:endParaRPr lang="ru-RU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10000"/>
              </a:lnSpc>
            </a:pPr>
            <a:r>
              <a:rPr lang="en-US" sz="1400" b="0" u="none" strike="noStrike" dirty="0" err="1">
                <a:solidFill>
                  <a:srgbClr val="FFFFFF"/>
                </a:solidFill>
                <a:effectLst/>
                <a:uFillTx/>
                <a:latin typeface="Calibri"/>
              </a:rPr>
              <a:t>технический</a:t>
            </a:r>
            <a:r>
              <a:rPr lang="en-US" sz="1400" b="0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 </a:t>
            </a:r>
            <a:r>
              <a:rPr lang="en-US" sz="1400" b="0" u="none" strike="noStrike" dirty="0" err="1">
                <a:solidFill>
                  <a:srgbClr val="FFFFFF"/>
                </a:solidFill>
                <a:effectLst/>
                <a:uFillTx/>
                <a:latin typeface="Calibri"/>
              </a:rPr>
              <a:t>университет</a:t>
            </a:r>
            <a:r>
              <a:rPr lang="en-US" sz="1400" b="0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 </a:t>
            </a:r>
            <a:r>
              <a:rPr lang="en-US" sz="1400" b="0" u="none" strike="noStrike" dirty="0" err="1">
                <a:solidFill>
                  <a:srgbClr val="FFFFFF"/>
                </a:solidFill>
                <a:effectLst/>
                <a:uFillTx/>
                <a:latin typeface="Calibri"/>
              </a:rPr>
              <a:t>им</a:t>
            </a:r>
            <a:r>
              <a:rPr lang="en-US" sz="1400" b="0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. Г.И. </a:t>
            </a:r>
            <a:r>
              <a:rPr lang="en-US" sz="1400" b="0" u="none" strike="noStrike" dirty="0" err="1">
                <a:solidFill>
                  <a:srgbClr val="FFFFFF"/>
                </a:solidFill>
                <a:effectLst/>
                <a:uFillTx/>
                <a:latin typeface="Calibri"/>
              </a:rPr>
              <a:t>Носова</a:t>
            </a:r>
            <a:endParaRPr lang="ru-RU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10000"/>
              </a:lnSpc>
            </a:pPr>
            <a:endParaRPr lang="ru-RU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10000"/>
              </a:lnSpc>
            </a:pPr>
            <a:r>
              <a:rPr lang="en-US" sz="1400" b="0" u="none" strike="noStrike" dirty="0" err="1">
                <a:solidFill>
                  <a:srgbClr val="FFFFFF"/>
                </a:solidFill>
                <a:effectLst/>
                <a:uFillTx/>
                <a:latin typeface="Calibri"/>
              </a:rPr>
              <a:t>Институт</a:t>
            </a:r>
            <a:r>
              <a:rPr lang="en-US" sz="1400" b="0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 </a:t>
            </a:r>
            <a:r>
              <a:rPr lang="en-US" sz="1400" b="0" u="none" strike="noStrike" dirty="0" err="1">
                <a:solidFill>
                  <a:srgbClr val="FFFFFF"/>
                </a:solidFill>
                <a:effectLst/>
                <a:uFillTx/>
                <a:latin typeface="Calibri"/>
              </a:rPr>
              <a:t>энергетики</a:t>
            </a:r>
            <a:r>
              <a:rPr lang="en-US" sz="1400" b="0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 и</a:t>
            </a:r>
            <a:endParaRPr lang="ru-RU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10000"/>
              </a:lnSpc>
            </a:pPr>
            <a:r>
              <a:rPr lang="en-US" sz="1400" b="0" u="none" strike="noStrike" dirty="0" err="1">
                <a:solidFill>
                  <a:srgbClr val="FFFFFF"/>
                </a:solidFill>
                <a:effectLst/>
                <a:uFillTx/>
                <a:latin typeface="Calibri"/>
              </a:rPr>
              <a:t>автоматизированных</a:t>
            </a:r>
            <a:r>
              <a:rPr lang="en-US" sz="1400" b="0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 </a:t>
            </a:r>
            <a:r>
              <a:rPr lang="en-US" sz="1400" b="0" u="none" strike="noStrike" dirty="0" err="1">
                <a:solidFill>
                  <a:srgbClr val="FFFFFF"/>
                </a:solidFill>
                <a:effectLst/>
                <a:uFillTx/>
                <a:latin typeface="Calibri"/>
              </a:rPr>
              <a:t>систем</a:t>
            </a:r>
            <a:endParaRPr lang="ru-RU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10000"/>
              </a:lnSpc>
            </a:pPr>
            <a:r>
              <a:rPr lang="en-US" sz="1400" b="0" u="none" strike="noStrike" dirty="0" err="1">
                <a:solidFill>
                  <a:srgbClr val="FFFFFF"/>
                </a:solidFill>
                <a:effectLst/>
                <a:uFillTx/>
                <a:latin typeface="Calibri"/>
              </a:rPr>
              <a:t>Кафедра</a:t>
            </a:r>
            <a:r>
              <a:rPr lang="en-US" sz="1400" b="0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 </a:t>
            </a:r>
            <a:r>
              <a:rPr lang="en-US" sz="1400" b="0" u="none" strike="noStrike" dirty="0" err="1">
                <a:solidFill>
                  <a:srgbClr val="FFFFFF"/>
                </a:solidFill>
                <a:effectLst/>
                <a:uFillTx/>
                <a:latin typeface="Calibri"/>
              </a:rPr>
              <a:t>вычислительной</a:t>
            </a:r>
            <a:r>
              <a:rPr lang="en-US" sz="1400" b="0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 </a:t>
            </a:r>
            <a:r>
              <a:rPr lang="en-US" sz="1400" b="0" u="none" strike="noStrike" dirty="0" err="1">
                <a:solidFill>
                  <a:srgbClr val="FFFFFF"/>
                </a:solidFill>
                <a:effectLst/>
                <a:uFillTx/>
                <a:latin typeface="Calibri"/>
              </a:rPr>
              <a:t>техники</a:t>
            </a:r>
            <a:endParaRPr lang="ru-RU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10000"/>
              </a:lnSpc>
            </a:pPr>
            <a:r>
              <a:rPr lang="en-US" sz="1400" b="0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и </a:t>
            </a:r>
            <a:r>
              <a:rPr lang="en-US" sz="1400" b="0" u="none" strike="noStrike" dirty="0" err="1">
                <a:solidFill>
                  <a:srgbClr val="FFFFFF"/>
                </a:solidFill>
                <a:effectLst/>
                <a:uFillTx/>
                <a:latin typeface="Calibri"/>
              </a:rPr>
              <a:t>программирования</a:t>
            </a:r>
            <a:endParaRPr lang="ru-RU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Rectangle 6"/>
          <p:cNvSpPr/>
          <p:nvPr/>
        </p:nvSpPr>
        <p:spPr>
          <a:xfrm>
            <a:off x="0" y="6144840"/>
            <a:ext cx="4114440" cy="712800"/>
          </a:xfrm>
          <a:prstGeom prst="rect">
            <a:avLst/>
          </a:prstGeom>
          <a:solidFill>
            <a:srgbClr val="15296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7" name="TextBox 7"/>
          <p:cNvSpPr/>
          <p:nvPr/>
        </p:nvSpPr>
        <p:spPr>
          <a:xfrm>
            <a:off x="320040" y="6144840"/>
            <a:ext cx="347436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0" i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Магнитогорск, 2026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8"/>
          <p:cNvSpPr/>
          <p:nvPr/>
        </p:nvSpPr>
        <p:spPr>
          <a:xfrm>
            <a:off x="4617720" y="594360"/>
            <a:ext cx="5939668" cy="36933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400" b="1" u="none" strike="noStrike" dirty="0">
                <a:solidFill>
                  <a:srgbClr val="1F3A8A"/>
                </a:solidFill>
                <a:effectLst/>
                <a:uFillTx/>
                <a:latin typeface="Calibri"/>
              </a:rPr>
              <a:t>ВЫПУСКНАЯ КВАЛИФИКАЦИОННАЯ РАБОТА</a:t>
            </a:r>
            <a:endParaRPr lang="ru-RU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Rectangle 10"/>
          <p:cNvSpPr/>
          <p:nvPr/>
        </p:nvSpPr>
        <p:spPr>
          <a:xfrm>
            <a:off x="4617720" y="1600200"/>
            <a:ext cx="118440" cy="2468520"/>
          </a:xfrm>
          <a:prstGeom prst="rect">
            <a:avLst/>
          </a:prstGeom>
          <a:solidFill>
            <a:srgbClr val="C8102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2" name="TextBox 12"/>
          <p:cNvSpPr/>
          <p:nvPr/>
        </p:nvSpPr>
        <p:spPr>
          <a:xfrm>
            <a:off x="4892040" y="2011680"/>
            <a:ext cx="6994800" cy="152708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5000"/>
              </a:lnSpc>
            </a:pPr>
            <a:r>
              <a:rPr lang="en-US" sz="3200" b="1" u="none" strike="noStrike" dirty="0" err="1">
                <a:solidFill>
                  <a:srgbClr val="152966"/>
                </a:solidFill>
                <a:effectLst/>
                <a:uFillTx/>
                <a:latin typeface="Calibri"/>
              </a:rPr>
              <a:t>Проектирование</a:t>
            </a:r>
            <a:r>
              <a:rPr lang="en-US" sz="3200" b="1" u="none" strike="noStrike" dirty="0">
                <a:solidFill>
                  <a:srgbClr val="152966"/>
                </a:solidFill>
                <a:effectLst/>
                <a:uFillTx/>
                <a:latin typeface="Calibri"/>
              </a:rPr>
              <a:t> и </a:t>
            </a:r>
            <a:r>
              <a:rPr lang="en-US" sz="3200" b="1" u="none" strike="noStrike" dirty="0" err="1">
                <a:solidFill>
                  <a:srgbClr val="152966"/>
                </a:solidFill>
                <a:effectLst/>
                <a:uFillTx/>
                <a:latin typeface="Calibri"/>
              </a:rPr>
              <a:t>разработка</a:t>
            </a:r>
            <a:r>
              <a:rPr lang="en-US" sz="3200" b="1" u="none" strike="noStrike" dirty="0">
                <a:solidFill>
                  <a:srgbClr val="152966"/>
                </a:solidFill>
                <a:effectLst/>
                <a:uFillTx/>
                <a:latin typeface="Calibri"/>
              </a:rPr>
              <a:t> WEB-</a:t>
            </a:r>
            <a:r>
              <a:rPr lang="en-US" sz="3200" b="1" u="none" strike="noStrike" dirty="0" err="1">
                <a:solidFill>
                  <a:srgbClr val="152966"/>
                </a:solidFill>
                <a:effectLst/>
                <a:uFillTx/>
                <a:latin typeface="Calibri"/>
              </a:rPr>
              <a:t>приложения</a:t>
            </a:r>
            <a:r>
              <a:rPr lang="en-US" sz="3200" b="1" u="none" strike="noStrike" dirty="0">
                <a:solidFill>
                  <a:srgbClr val="152966"/>
                </a:solidFill>
                <a:effectLst/>
                <a:uFillTx/>
                <a:latin typeface="Calibri"/>
              </a:rPr>
              <a:t> </a:t>
            </a:r>
            <a:r>
              <a:rPr lang="en-US" sz="3200" b="1" u="none" strike="noStrike" dirty="0" err="1">
                <a:solidFill>
                  <a:srgbClr val="152966"/>
                </a:solidFill>
                <a:effectLst/>
                <a:uFillTx/>
                <a:latin typeface="Calibri"/>
              </a:rPr>
              <a:t>для</a:t>
            </a:r>
            <a:r>
              <a:rPr lang="en-US" sz="3200" b="1" u="none" strike="noStrike" dirty="0">
                <a:solidFill>
                  <a:srgbClr val="152966"/>
                </a:solidFill>
                <a:effectLst/>
                <a:uFillTx/>
                <a:latin typeface="Calibri"/>
              </a:rPr>
              <a:t> </a:t>
            </a:r>
            <a:r>
              <a:rPr lang="en-US" sz="3200" b="1" u="none" strike="noStrike" dirty="0" err="1">
                <a:solidFill>
                  <a:srgbClr val="152966"/>
                </a:solidFill>
                <a:effectLst/>
                <a:uFillTx/>
                <a:latin typeface="Calibri"/>
              </a:rPr>
              <a:t>рецензирования</a:t>
            </a:r>
            <a:r>
              <a:rPr lang="en-US" sz="3200" b="1" u="none" strike="noStrike" dirty="0">
                <a:solidFill>
                  <a:srgbClr val="152966"/>
                </a:solidFill>
                <a:effectLst/>
                <a:uFillTx/>
                <a:latin typeface="Calibri"/>
              </a:rPr>
              <a:t> </a:t>
            </a:r>
            <a:r>
              <a:rPr lang="en-US" sz="3200" b="1" u="none" strike="noStrike" dirty="0" err="1">
                <a:solidFill>
                  <a:srgbClr val="152966"/>
                </a:solidFill>
                <a:effectLst/>
                <a:uFillTx/>
                <a:latin typeface="Calibri"/>
              </a:rPr>
              <a:t>музыкального</a:t>
            </a:r>
            <a:r>
              <a:rPr lang="en-US" sz="3200" b="1" u="none" strike="noStrike" dirty="0">
                <a:solidFill>
                  <a:srgbClr val="152966"/>
                </a:solidFill>
                <a:effectLst/>
                <a:uFillTx/>
                <a:latin typeface="Calibri"/>
              </a:rPr>
              <a:t> </a:t>
            </a:r>
            <a:r>
              <a:rPr lang="en-US" sz="3200" b="1" u="none" strike="noStrike" dirty="0" err="1">
                <a:solidFill>
                  <a:srgbClr val="152966"/>
                </a:solidFill>
                <a:effectLst/>
                <a:uFillTx/>
                <a:latin typeface="Calibri"/>
              </a:rPr>
              <a:t>творчества</a:t>
            </a:r>
            <a:endParaRPr lang="ru-RU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Rounded Rectangle 13"/>
          <p:cNvSpPr/>
          <p:nvPr/>
        </p:nvSpPr>
        <p:spPr>
          <a:xfrm>
            <a:off x="4617720" y="4526280"/>
            <a:ext cx="7269120" cy="1782720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>
            <a:solidFill>
              <a:srgbClr val="D8DEE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4" name="TextBox 14"/>
          <p:cNvSpPr/>
          <p:nvPr/>
        </p:nvSpPr>
        <p:spPr>
          <a:xfrm>
            <a:off x="5303880" y="4956855"/>
            <a:ext cx="3291480" cy="1538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ВЫПОЛНИЛ</a:t>
            </a:r>
            <a:endParaRPr lang="ru-RU" sz="1000" b="0" u="none" strike="noStrike" dirty="0">
              <a:solidFill>
                <a:schemeClr val="tx2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15"/>
          <p:cNvSpPr/>
          <p:nvPr/>
        </p:nvSpPr>
        <p:spPr>
          <a:xfrm>
            <a:off x="5303880" y="5231175"/>
            <a:ext cx="3291480" cy="2000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0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>студент</a:t>
            </a:r>
            <a:r>
              <a:rPr lang="en-US" sz="1300" b="0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 </a:t>
            </a:r>
            <a:r>
              <a:rPr lang="en-US" sz="1300" b="0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>группы</a:t>
            </a:r>
            <a:r>
              <a:rPr lang="en-US" sz="1300" b="0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 АВб-22-2</a:t>
            </a:r>
            <a:endParaRPr lang="ru-RU" sz="1300" b="0" u="none" strike="noStrike" dirty="0">
              <a:solidFill>
                <a:schemeClr val="tx2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16"/>
          <p:cNvSpPr/>
          <p:nvPr/>
        </p:nvSpPr>
        <p:spPr>
          <a:xfrm>
            <a:off x="5303880" y="5624295"/>
            <a:ext cx="32914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900" b="1" u="none" strike="noStrike" dirty="0">
                <a:solidFill>
                  <a:srgbClr val="152966"/>
                </a:solidFill>
                <a:effectLst/>
                <a:uFillTx/>
                <a:latin typeface="Calibri"/>
              </a:rPr>
              <a:t>Афонькин М. А.</a:t>
            </a:r>
            <a:endParaRPr lang="ru-RU" sz="1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17"/>
          <p:cNvSpPr/>
          <p:nvPr/>
        </p:nvSpPr>
        <p:spPr>
          <a:xfrm>
            <a:off x="9034560" y="4956855"/>
            <a:ext cx="3291480" cy="1538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chemeClr val="tx2"/>
                </a:solidFill>
                <a:effectLst/>
                <a:uFillTx/>
                <a:latin typeface="Calibri"/>
              </a:rPr>
              <a:t>РУКОВОДИТЕЛЬ</a:t>
            </a:r>
            <a:endParaRPr lang="ru-RU" sz="1000" b="0" u="none" strike="noStrike">
              <a:solidFill>
                <a:schemeClr val="tx2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18"/>
          <p:cNvSpPr/>
          <p:nvPr/>
        </p:nvSpPr>
        <p:spPr>
          <a:xfrm>
            <a:off x="9034560" y="5231175"/>
            <a:ext cx="3291480" cy="2000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ru-RU" sz="1300" b="0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д</a:t>
            </a:r>
            <a:r>
              <a:rPr lang="en-US" sz="1300" b="0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>оцент</a:t>
            </a:r>
            <a:r>
              <a:rPr lang="en-US" sz="1300" b="0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 </a:t>
            </a:r>
            <a:r>
              <a:rPr lang="en-US" sz="1300" b="0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>каф</a:t>
            </a:r>
            <a:r>
              <a:rPr lang="en-US" sz="1300" b="0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. ВТ и П, </a:t>
            </a:r>
            <a:r>
              <a:rPr lang="en-US" sz="1300" b="0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>к.т.н</a:t>
            </a:r>
            <a:r>
              <a:rPr lang="en-US" sz="1300" b="0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.</a:t>
            </a:r>
            <a:endParaRPr lang="ru-RU" sz="1300" b="0" u="none" strike="noStrike" dirty="0">
              <a:solidFill>
                <a:schemeClr val="tx2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19"/>
          <p:cNvSpPr/>
          <p:nvPr/>
        </p:nvSpPr>
        <p:spPr>
          <a:xfrm>
            <a:off x="9034560" y="5624295"/>
            <a:ext cx="32914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52966"/>
                </a:solidFill>
                <a:effectLst/>
                <a:uFillTx/>
                <a:latin typeface="Calibri"/>
              </a:rPr>
              <a:t>Егорова Л. Г.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1"/>
          <p:cNvSpPr/>
          <p:nvPr/>
        </p:nvSpPr>
        <p:spPr>
          <a:xfrm>
            <a:off x="0" y="0"/>
            <a:ext cx="12191400" cy="932400"/>
          </a:xfrm>
          <a:prstGeom prst="rect">
            <a:avLst/>
          </a:prstGeom>
          <a:solidFill>
            <a:srgbClr val="1F3A8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" name="Rectangle 2"/>
          <p:cNvSpPr/>
          <p:nvPr/>
        </p:nvSpPr>
        <p:spPr>
          <a:xfrm>
            <a:off x="0" y="932760"/>
            <a:ext cx="12191400" cy="45360"/>
          </a:xfrm>
          <a:prstGeom prst="rect">
            <a:avLst/>
          </a:prstGeom>
          <a:solidFill>
            <a:srgbClr val="C8102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720" rIns="90000" bIns="7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83" name="Picture 4" descr="mgtu_logo_full.png"/>
          <p:cNvPicPr/>
          <p:nvPr/>
        </p:nvPicPr>
        <p:blipFill>
          <a:blip r:embed="rId2"/>
          <a:stretch/>
        </p:blipFill>
        <p:spPr>
          <a:xfrm>
            <a:off x="365760" y="146160"/>
            <a:ext cx="358200" cy="639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4" name="TextBox 5"/>
          <p:cNvSpPr/>
          <p:nvPr/>
        </p:nvSpPr>
        <p:spPr>
          <a:xfrm>
            <a:off x="1234440" y="0"/>
            <a:ext cx="10423800" cy="93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Цель, объект и предмет исследования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Rectangle 6"/>
          <p:cNvSpPr/>
          <p:nvPr/>
        </p:nvSpPr>
        <p:spPr>
          <a:xfrm>
            <a:off x="0" y="6510600"/>
            <a:ext cx="12191400" cy="347040"/>
          </a:xfrm>
          <a:prstGeom prst="rect">
            <a:avLst/>
          </a:prstGeom>
          <a:solidFill>
            <a:srgbClr val="1F3A8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6" name="TextBox 7"/>
          <p:cNvSpPr/>
          <p:nvPr/>
        </p:nvSpPr>
        <p:spPr>
          <a:xfrm>
            <a:off x="365760" y="6576398"/>
            <a:ext cx="10058040" cy="2154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i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WEB-</a:t>
            </a:r>
            <a:r>
              <a:rPr lang="en-US" sz="1400" b="0" i="1" u="none" strike="noStrike" dirty="0" err="1">
                <a:solidFill>
                  <a:srgbClr val="FFFFFF"/>
                </a:solidFill>
                <a:effectLst/>
                <a:uFillTx/>
                <a:latin typeface="Calibri"/>
              </a:rPr>
              <a:t>приложение</a:t>
            </a:r>
            <a:r>
              <a:rPr lang="en-US" sz="1400" b="0" i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 </a:t>
            </a:r>
            <a:r>
              <a:rPr lang="en-US" sz="1400" b="0" i="1" u="none" strike="noStrike" dirty="0" err="1">
                <a:solidFill>
                  <a:srgbClr val="FFFFFF"/>
                </a:solidFill>
                <a:effectLst/>
                <a:uFillTx/>
                <a:latin typeface="Calibri"/>
              </a:rPr>
              <a:t>для</a:t>
            </a:r>
            <a:r>
              <a:rPr lang="en-US" sz="1400" b="0" i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 </a:t>
            </a:r>
            <a:r>
              <a:rPr lang="en-US" sz="1400" b="0" i="1" u="none" strike="noStrike" dirty="0" err="1">
                <a:solidFill>
                  <a:srgbClr val="FFFFFF"/>
                </a:solidFill>
                <a:effectLst/>
                <a:uFillTx/>
                <a:latin typeface="Calibri"/>
              </a:rPr>
              <a:t>рецензирования</a:t>
            </a:r>
            <a:r>
              <a:rPr lang="en-US" sz="1400" b="0" i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 </a:t>
            </a:r>
            <a:r>
              <a:rPr lang="en-US" sz="1400" b="0" i="1" u="none" strike="noStrike" dirty="0" err="1">
                <a:solidFill>
                  <a:srgbClr val="FFFFFF"/>
                </a:solidFill>
                <a:effectLst/>
                <a:uFillTx/>
                <a:latin typeface="Calibri"/>
              </a:rPr>
              <a:t>музыкального</a:t>
            </a:r>
            <a:r>
              <a:rPr lang="en-US" sz="1400" b="0" i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 </a:t>
            </a:r>
            <a:r>
              <a:rPr lang="en-US" sz="1400" b="0" i="1" u="none" strike="noStrike" dirty="0" err="1">
                <a:solidFill>
                  <a:srgbClr val="FFFFFF"/>
                </a:solidFill>
                <a:effectLst/>
                <a:uFillTx/>
                <a:latin typeface="Calibri"/>
              </a:rPr>
              <a:t>творчества</a:t>
            </a:r>
            <a:endParaRPr lang="ru-RU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8"/>
          <p:cNvSpPr/>
          <p:nvPr/>
        </p:nvSpPr>
        <p:spPr>
          <a:xfrm>
            <a:off x="10698480" y="6537960"/>
            <a:ext cx="127980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2 / 9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Rounded Rectangle 9"/>
          <p:cNvSpPr/>
          <p:nvPr/>
        </p:nvSpPr>
        <p:spPr>
          <a:xfrm>
            <a:off x="408240" y="1371600"/>
            <a:ext cx="3657240" cy="489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EE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" name="Rectangle 10"/>
          <p:cNvSpPr/>
          <p:nvPr/>
        </p:nvSpPr>
        <p:spPr>
          <a:xfrm>
            <a:off x="408240" y="1371600"/>
            <a:ext cx="3657240" cy="182520"/>
          </a:xfrm>
          <a:prstGeom prst="rect">
            <a:avLst/>
          </a:prstGeom>
          <a:solidFill>
            <a:srgbClr val="1F3A8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0" name="Oval 11"/>
          <p:cNvSpPr/>
          <p:nvPr/>
        </p:nvSpPr>
        <p:spPr>
          <a:xfrm>
            <a:off x="728280" y="1874520"/>
            <a:ext cx="1005480" cy="1005480"/>
          </a:xfrm>
          <a:prstGeom prst="ellipse">
            <a:avLst/>
          </a:prstGeom>
          <a:solidFill>
            <a:srgbClr val="1F3A8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1" name="TextBox 12"/>
          <p:cNvSpPr/>
          <p:nvPr/>
        </p:nvSpPr>
        <p:spPr>
          <a:xfrm>
            <a:off x="728280" y="1874520"/>
            <a:ext cx="1005480" cy="1005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0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🎯</a:t>
            </a:r>
            <a:endParaRPr lang="ru-RU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13"/>
          <p:cNvSpPr/>
          <p:nvPr/>
        </p:nvSpPr>
        <p:spPr>
          <a:xfrm>
            <a:off x="1871280" y="1920240"/>
            <a:ext cx="201132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52966"/>
                </a:solidFill>
                <a:effectLst/>
                <a:uFillTx/>
                <a:latin typeface="Calibri"/>
              </a:rPr>
              <a:t>ЦЕЛЬ</a:t>
            </a:r>
            <a:endParaRPr lang="ru-RU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14"/>
          <p:cNvSpPr/>
          <p:nvPr/>
        </p:nvSpPr>
        <p:spPr>
          <a:xfrm>
            <a:off x="774000" y="3108960"/>
            <a:ext cx="2925720" cy="3017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2000"/>
              </a:lnSpc>
            </a:pPr>
            <a:r>
              <a:rPr lang="en-US" sz="1650" b="0" u="none" strike="noStrike">
                <a:solidFill>
                  <a:srgbClr val="1A1F36"/>
                </a:solidFill>
                <a:effectLst/>
                <a:uFillTx/>
                <a:latin typeface="Calibri"/>
              </a:rPr>
              <a:t>Повышение объективности, информативности и доступности рецензирования русскоязычных музыкальных произведений молодёжной аудиторией за счёт разработки специализированной информационной системы многокритериального оценивания.</a:t>
            </a:r>
            <a:endParaRPr lang="ru-RU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Rounded Rectangle 15"/>
          <p:cNvSpPr/>
          <p:nvPr/>
        </p:nvSpPr>
        <p:spPr>
          <a:xfrm>
            <a:off x="4267080" y="1371600"/>
            <a:ext cx="3657240" cy="489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EE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5" name="Rectangle 16"/>
          <p:cNvSpPr/>
          <p:nvPr/>
        </p:nvSpPr>
        <p:spPr>
          <a:xfrm>
            <a:off x="4267080" y="1371600"/>
            <a:ext cx="3657240" cy="182520"/>
          </a:xfrm>
          <a:prstGeom prst="rect">
            <a:avLst/>
          </a:prstGeom>
          <a:solidFill>
            <a:srgbClr val="1F3A8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6" name="Oval 17"/>
          <p:cNvSpPr/>
          <p:nvPr/>
        </p:nvSpPr>
        <p:spPr>
          <a:xfrm>
            <a:off x="4587120" y="1874520"/>
            <a:ext cx="1005480" cy="1005480"/>
          </a:xfrm>
          <a:prstGeom prst="ellipse">
            <a:avLst/>
          </a:prstGeom>
          <a:solidFill>
            <a:srgbClr val="1F3A8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7" name="TextBox 18"/>
          <p:cNvSpPr/>
          <p:nvPr/>
        </p:nvSpPr>
        <p:spPr>
          <a:xfrm>
            <a:off x="4587120" y="1874520"/>
            <a:ext cx="1005480" cy="1005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0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🔍</a:t>
            </a:r>
            <a:endParaRPr lang="ru-RU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Box 19"/>
          <p:cNvSpPr/>
          <p:nvPr/>
        </p:nvSpPr>
        <p:spPr>
          <a:xfrm>
            <a:off x="5730120" y="1920240"/>
            <a:ext cx="201132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52966"/>
                </a:solidFill>
                <a:effectLst/>
                <a:uFillTx/>
                <a:latin typeface="Calibri"/>
              </a:rPr>
              <a:t>ОБЪЕКТ</a:t>
            </a:r>
            <a:endParaRPr lang="ru-RU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Box 20"/>
          <p:cNvSpPr/>
          <p:nvPr/>
        </p:nvSpPr>
        <p:spPr>
          <a:xfrm>
            <a:off x="4632840" y="3108960"/>
            <a:ext cx="2925720" cy="3017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2000"/>
              </a:lnSpc>
            </a:pPr>
            <a:r>
              <a:rPr lang="en-US" sz="1650" b="0" u="none" strike="noStrike">
                <a:solidFill>
                  <a:srgbClr val="1A1F36"/>
                </a:solidFill>
                <a:effectLst/>
                <a:uFillTx/>
                <a:latin typeface="Calibri"/>
              </a:rPr>
              <a:t>Процесс коллективного рецензирования музыкального творчества русскоязычной молодёжью на веб-платформах.</a:t>
            </a:r>
            <a:endParaRPr lang="ru-RU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Rounded Rectangle 21"/>
          <p:cNvSpPr/>
          <p:nvPr/>
        </p:nvSpPr>
        <p:spPr>
          <a:xfrm>
            <a:off x="8125920" y="1371600"/>
            <a:ext cx="3657240" cy="489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EE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1" name="Rectangle 22"/>
          <p:cNvSpPr/>
          <p:nvPr/>
        </p:nvSpPr>
        <p:spPr>
          <a:xfrm>
            <a:off x="8125920" y="1371600"/>
            <a:ext cx="3657240" cy="182520"/>
          </a:xfrm>
          <a:prstGeom prst="rect">
            <a:avLst/>
          </a:prstGeom>
          <a:solidFill>
            <a:srgbClr val="1F3A8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2" name="Oval 23"/>
          <p:cNvSpPr/>
          <p:nvPr/>
        </p:nvSpPr>
        <p:spPr>
          <a:xfrm>
            <a:off x="8445960" y="1874520"/>
            <a:ext cx="1005480" cy="1005480"/>
          </a:xfrm>
          <a:prstGeom prst="ellipse">
            <a:avLst/>
          </a:prstGeom>
          <a:solidFill>
            <a:srgbClr val="1F3A8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3" name="TextBox 24"/>
          <p:cNvSpPr/>
          <p:nvPr/>
        </p:nvSpPr>
        <p:spPr>
          <a:xfrm>
            <a:off x="8445960" y="1874520"/>
            <a:ext cx="1005480" cy="1005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0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📌</a:t>
            </a:r>
            <a:endParaRPr lang="ru-RU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Box 25"/>
          <p:cNvSpPr/>
          <p:nvPr/>
        </p:nvSpPr>
        <p:spPr>
          <a:xfrm>
            <a:off x="9588960" y="1920240"/>
            <a:ext cx="201132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52966"/>
                </a:solidFill>
                <a:effectLst/>
                <a:uFillTx/>
                <a:latin typeface="Calibri"/>
              </a:rPr>
              <a:t>ПРЕДМЕТ</a:t>
            </a:r>
            <a:endParaRPr lang="ru-RU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Box 26"/>
          <p:cNvSpPr/>
          <p:nvPr/>
        </p:nvSpPr>
        <p:spPr>
          <a:xfrm>
            <a:off x="8491680" y="3108960"/>
            <a:ext cx="2925720" cy="3017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2000"/>
              </a:lnSpc>
            </a:pPr>
            <a:r>
              <a:rPr lang="en-US" sz="1650" b="0" u="none" strike="noStrike">
                <a:solidFill>
                  <a:srgbClr val="1A1F36"/>
                </a:solidFill>
                <a:effectLst/>
                <a:uFillTx/>
                <a:latin typeface="Calibri"/>
              </a:rPr>
              <a:t>Информационная система рецензирования современной музыки с экспертной системой оценки и инструментами модерации пользовательского контента.</a:t>
            </a:r>
            <a:endParaRPr lang="ru-RU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Rectangle 1"/>
          <p:cNvSpPr/>
          <p:nvPr/>
        </p:nvSpPr>
        <p:spPr>
          <a:xfrm>
            <a:off x="0" y="0"/>
            <a:ext cx="12191400" cy="932400"/>
          </a:xfrm>
          <a:prstGeom prst="rect">
            <a:avLst/>
          </a:prstGeom>
          <a:solidFill>
            <a:srgbClr val="1F3A8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" name="Rectangle 2"/>
          <p:cNvSpPr/>
          <p:nvPr/>
        </p:nvSpPr>
        <p:spPr>
          <a:xfrm>
            <a:off x="0" y="932760"/>
            <a:ext cx="12191400" cy="45360"/>
          </a:xfrm>
          <a:prstGeom prst="rect">
            <a:avLst/>
          </a:prstGeom>
          <a:solidFill>
            <a:srgbClr val="C8102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720" rIns="90000" bIns="7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09" name="Picture 4" descr="mgtu_logo_full.png"/>
          <p:cNvPicPr/>
          <p:nvPr/>
        </p:nvPicPr>
        <p:blipFill>
          <a:blip r:embed="rId2"/>
          <a:stretch/>
        </p:blipFill>
        <p:spPr>
          <a:xfrm>
            <a:off x="365760" y="146160"/>
            <a:ext cx="358200" cy="639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" name="TextBox 5"/>
          <p:cNvSpPr/>
          <p:nvPr/>
        </p:nvSpPr>
        <p:spPr>
          <a:xfrm>
            <a:off x="1234440" y="0"/>
            <a:ext cx="10423800" cy="93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Задачи исследования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Rectangle 6"/>
          <p:cNvSpPr/>
          <p:nvPr/>
        </p:nvSpPr>
        <p:spPr>
          <a:xfrm>
            <a:off x="0" y="6510600"/>
            <a:ext cx="12191400" cy="347040"/>
          </a:xfrm>
          <a:prstGeom prst="rect">
            <a:avLst/>
          </a:prstGeom>
          <a:solidFill>
            <a:srgbClr val="1F3A8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" name="TextBox 7"/>
          <p:cNvSpPr/>
          <p:nvPr/>
        </p:nvSpPr>
        <p:spPr>
          <a:xfrm>
            <a:off x="365760" y="6576398"/>
            <a:ext cx="10058040" cy="2154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i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WEB-</a:t>
            </a:r>
            <a:r>
              <a:rPr lang="en-US" sz="1400" b="0" i="1" u="none" strike="noStrike" dirty="0" err="1">
                <a:solidFill>
                  <a:srgbClr val="FFFFFF"/>
                </a:solidFill>
                <a:effectLst/>
                <a:uFillTx/>
                <a:latin typeface="Calibri"/>
              </a:rPr>
              <a:t>приложение</a:t>
            </a:r>
            <a:r>
              <a:rPr lang="en-US" sz="1400" b="0" i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 </a:t>
            </a:r>
            <a:r>
              <a:rPr lang="en-US" sz="1400" b="0" i="1" u="none" strike="noStrike" dirty="0" err="1">
                <a:solidFill>
                  <a:srgbClr val="FFFFFF"/>
                </a:solidFill>
                <a:effectLst/>
                <a:uFillTx/>
                <a:latin typeface="Calibri"/>
              </a:rPr>
              <a:t>для</a:t>
            </a:r>
            <a:r>
              <a:rPr lang="en-US" sz="1400" b="0" i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 </a:t>
            </a:r>
            <a:r>
              <a:rPr lang="en-US" sz="1400" b="0" i="1" u="none" strike="noStrike" dirty="0" err="1">
                <a:solidFill>
                  <a:srgbClr val="FFFFFF"/>
                </a:solidFill>
                <a:effectLst/>
                <a:uFillTx/>
                <a:latin typeface="Calibri"/>
              </a:rPr>
              <a:t>рецензирования</a:t>
            </a:r>
            <a:r>
              <a:rPr lang="en-US" sz="1400" b="0" i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 </a:t>
            </a:r>
            <a:r>
              <a:rPr lang="en-US" sz="1400" b="0" i="1" u="none" strike="noStrike" dirty="0" err="1">
                <a:solidFill>
                  <a:srgbClr val="FFFFFF"/>
                </a:solidFill>
                <a:effectLst/>
                <a:uFillTx/>
                <a:latin typeface="Calibri"/>
              </a:rPr>
              <a:t>музыкального</a:t>
            </a:r>
            <a:r>
              <a:rPr lang="en-US" sz="1400" b="0" i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 </a:t>
            </a:r>
            <a:r>
              <a:rPr lang="en-US" sz="1400" b="0" i="1" u="none" strike="noStrike" dirty="0" err="1">
                <a:solidFill>
                  <a:srgbClr val="FFFFFF"/>
                </a:solidFill>
                <a:effectLst/>
                <a:uFillTx/>
                <a:latin typeface="Calibri"/>
              </a:rPr>
              <a:t>творчества</a:t>
            </a:r>
            <a:endParaRPr lang="ru-RU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Box 8"/>
          <p:cNvSpPr/>
          <p:nvPr/>
        </p:nvSpPr>
        <p:spPr>
          <a:xfrm>
            <a:off x="10698480" y="6537960"/>
            <a:ext cx="127980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3 / 9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Box 9"/>
          <p:cNvSpPr/>
          <p:nvPr/>
        </p:nvSpPr>
        <p:spPr>
          <a:xfrm>
            <a:off x="502920" y="118872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0" i="1" u="none" strike="noStrike">
                <a:solidFill>
                  <a:srgbClr val="5A6B8C"/>
                </a:solidFill>
                <a:effectLst/>
                <a:uFillTx/>
                <a:latin typeface="Calibri"/>
              </a:rPr>
              <a:t>Для достижения поставленной цели решаются следующие задачи: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Rounded Rectangle 10"/>
          <p:cNvSpPr/>
          <p:nvPr/>
        </p:nvSpPr>
        <p:spPr>
          <a:xfrm>
            <a:off x="502920" y="1783080"/>
            <a:ext cx="11155320" cy="1371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EE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" name="Oval 11"/>
          <p:cNvSpPr/>
          <p:nvPr/>
        </p:nvSpPr>
        <p:spPr>
          <a:xfrm>
            <a:off x="822960" y="2011680"/>
            <a:ext cx="868320" cy="868320"/>
          </a:xfrm>
          <a:prstGeom prst="ellipse">
            <a:avLst/>
          </a:prstGeom>
          <a:solidFill>
            <a:srgbClr val="1F3A8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" name="TextBox 12"/>
          <p:cNvSpPr/>
          <p:nvPr/>
        </p:nvSpPr>
        <p:spPr>
          <a:xfrm>
            <a:off x="822960" y="2011680"/>
            <a:ext cx="86832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</a:t>
            </a:r>
            <a:endParaRPr lang="ru-RU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Box 13"/>
          <p:cNvSpPr/>
          <p:nvPr/>
        </p:nvSpPr>
        <p:spPr>
          <a:xfrm>
            <a:off x="1965960" y="1929240"/>
            <a:ext cx="94179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152966"/>
                </a:solidFill>
                <a:effectLst/>
                <a:uFillTx/>
                <a:latin typeface="Calibri"/>
              </a:rPr>
              <a:t>Анализ предметной области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Box 14"/>
          <p:cNvSpPr/>
          <p:nvPr/>
        </p:nvSpPr>
        <p:spPr>
          <a:xfrm>
            <a:off x="1965960" y="2368440"/>
            <a:ext cx="9417960" cy="54296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0000"/>
              </a:lnSpc>
            </a:pPr>
            <a:r>
              <a:rPr lang="en-US" sz="1650" b="0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>Анализ</a:t>
            </a:r>
            <a:r>
              <a:rPr lang="en-US" sz="1650" b="0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 </a:t>
            </a:r>
            <a:r>
              <a:rPr lang="en-US" sz="1650" b="0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>ниши</a:t>
            </a:r>
            <a:r>
              <a:rPr lang="en-US" sz="1650" b="0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 </a:t>
            </a:r>
            <a:r>
              <a:rPr lang="en-US" sz="1650" b="0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>русскоязычного</a:t>
            </a:r>
            <a:r>
              <a:rPr lang="en-US" sz="1650" b="0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 </a:t>
            </a:r>
            <a:r>
              <a:rPr lang="en-US" sz="1650" b="0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>рецензирования</a:t>
            </a:r>
            <a:r>
              <a:rPr lang="en-US" sz="1650" b="0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 </a:t>
            </a:r>
            <a:r>
              <a:rPr lang="en-US" sz="1650" b="0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>современной</a:t>
            </a:r>
            <a:r>
              <a:rPr lang="en-US" sz="1650" b="0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 </a:t>
            </a:r>
            <a:r>
              <a:rPr lang="en-US" sz="1650" b="0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>музыки</a:t>
            </a:r>
            <a:r>
              <a:rPr lang="en-US" sz="1650" b="0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 и </a:t>
            </a:r>
            <a:r>
              <a:rPr lang="en-US" sz="1650" b="0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>проблем</a:t>
            </a:r>
            <a:r>
              <a:rPr lang="en-US" sz="1650" b="0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 </a:t>
            </a:r>
            <a:r>
              <a:rPr lang="en-US" sz="1650" b="0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>существующих</a:t>
            </a:r>
            <a:r>
              <a:rPr lang="en-US" sz="1650" b="0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 </a:t>
            </a:r>
            <a:r>
              <a:rPr lang="en-US" sz="1650" b="0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>платформ</a:t>
            </a:r>
            <a:r>
              <a:rPr lang="en-US" sz="1650" b="0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.</a:t>
            </a:r>
            <a:endParaRPr lang="ru-RU" sz="1650" b="0" u="none" strike="noStrike" dirty="0">
              <a:solidFill>
                <a:schemeClr val="tx2"/>
              </a:solidFill>
              <a:effectLst/>
              <a:uFillTx/>
              <a:latin typeface="Arial"/>
            </a:endParaRPr>
          </a:p>
        </p:txBody>
      </p:sp>
      <p:sp>
        <p:nvSpPr>
          <p:cNvPr id="120" name="Rounded Rectangle 15"/>
          <p:cNvSpPr/>
          <p:nvPr/>
        </p:nvSpPr>
        <p:spPr>
          <a:xfrm>
            <a:off x="502920" y="3383280"/>
            <a:ext cx="11155320" cy="1371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EE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" name="Oval 16"/>
          <p:cNvSpPr/>
          <p:nvPr/>
        </p:nvSpPr>
        <p:spPr>
          <a:xfrm>
            <a:off x="822960" y="3631680"/>
            <a:ext cx="868320" cy="868320"/>
          </a:xfrm>
          <a:prstGeom prst="ellipse">
            <a:avLst/>
          </a:prstGeom>
          <a:solidFill>
            <a:srgbClr val="1F3A8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" name="TextBox 17"/>
          <p:cNvSpPr/>
          <p:nvPr/>
        </p:nvSpPr>
        <p:spPr>
          <a:xfrm>
            <a:off x="822960" y="3631680"/>
            <a:ext cx="86832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2</a:t>
            </a:r>
            <a:endParaRPr lang="ru-RU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Box 18"/>
          <p:cNvSpPr/>
          <p:nvPr/>
        </p:nvSpPr>
        <p:spPr>
          <a:xfrm>
            <a:off x="1965960" y="3529440"/>
            <a:ext cx="94179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152966"/>
                </a:solidFill>
                <a:effectLst/>
                <a:uFillTx/>
                <a:latin typeface="Calibri"/>
              </a:rPr>
              <a:t>Проектирование системы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Box 19"/>
          <p:cNvSpPr/>
          <p:nvPr/>
        </p:nvSpPr>
        <p:spPr>
          <a:xfrm>
            <a:off x="1965960" y="3872700"/>
            <a:ext cx="9417960" cy="82227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0000"/>
              </a:lnSpc>
            </a:pPr>
            <a:r>
              <a:rPr lang="en-US" sz="1650" b="0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>Проектирование</a:t>
            </a:r>
            <a:r>
              <a:rPr lang="en-US" sz="1650" b="0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 </a:t>
            </a:r>
            <a:r>
              <a:rPr lang="en-US" sz="1650" b="0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>архитектуры</a:t>
            </a:r>
            <a:r>
              <a:rPr lang="en-US" sz="1650" b="0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 </a:t>
            </a:r>
            <a:r>
              <a:rPr lang="en-US" sz="1650" b="0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>системы</a:t>
            </a:r>
            <a:r>
              <a:rPr lang="en-US" sz="1650" b="0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 с </a:t>
            </a:r>
            <a:r>
              <a:rPr lang="en-US" sz="1650" b="0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>экспертной</a:t>
            </a:r>
            <a:r>
              <a:rPr lang="en-US" sz="1650" b="0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 </a:t>
            </a:r>
            <a:r>
              <a:rPr lang="en-US" sz="1650" b="0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>оценкой</a:t>
            </a:r>
            <a:r>
              <a:rPr lang="en-US" sz="1650" b="0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 (</a:t>
            </a:r>
            <a:r>
              <a:rPr lang="en-US" sz="1650" b="0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>рифмы</a:t>
            </a:r>
            <a:r>
              <a:rPr lang="en-US" sz="1650" b="0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/</a:t>
            </a:r>
            <a:r>
              <a:rPr lang="en-US" sz="1650" b="0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>образы</a:t>
            </a:r>
            <a:r>
              <a:rPr lang="en-US" sz="1650" b="0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, </a:t>
            </a:r>
            <a:r>
              <a:rPr lang="en-US" sz="1650" b="0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>структура</a:t>
            </a:r>
            <a:r>
              <a:rPr lang="en-US" sz="1650" b="0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/</a:t>
            </a:r>
            <a:r>
              <a:rPr lang="en-US" sz="1650" b="0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>ритмика</a:t>
            </a:r>
            <a:r>
              <a:rPr lang="en-US" sz="1650" b="0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, </a:t>
            </a:r>
            <a:r>
              <a:rPr lang="en-US" sz="1650" b="0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>реализация</a:t>
            </a:r>
            <a:r>
              <a:rPr lang="en-US" sz="1650" b="0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 </a:t>
            </a:r>
            <a:r>
              <a:rPr lang="en-US" sz="1650" b="0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>стиля</a:t>
            </a:r>
            <a:r>
              <a:rPr lang="en-US" sz="1650" b="0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, </a:t>
            </a:r>
            <a:r>
              <a:rPr lang="en-US" sz="1650" b="0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>индивидуальность</a:t>
            </a:r>
            <a:r>
              <a:rPr lang="en-US" sz="1650" b="0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/</a:t>
            </a:r>
            <a:r>
              <a:rPr lang="en-US" sz="1650" b="0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>харизма</a:t>
            </a:r>
            <a:r>
              <a:rPr lang="en-US" sz="1650" b="0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, </a:t>
            </a:r>
            <a:r>
              <a:rPr lang="en-US" sz="1650" b="0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>атмосфера</a:t>
            </a:r>
            <a:r>
              <a:rPr lang="en-US" sz="1650" b="0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/</a:t>
            </a:r>
            <a:r>
              <a:rPr lang="en-US" sz="1650" b="0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>вайб</a:t>
            </a:r>
            <a:r>
              <a:rPr lang="en-US" sz="1650" b="0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), </a:t>
            </a:r>
            <a:r>
              <a:rPr lang="en-US" sz="1650" b="0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>инструментами</a:t>
            </a:r>
            <a:r>
              <a:rPr lang="en-US" sz="1650" b="0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 </a:t>
            </a:r>
            <a:r>
              <a:rPr lang="en-US" sz="1650" b="0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>модерации</a:t>
            </a:r>
            <a:r>
              <a:rPr lang="en-US" sz="1650" b="0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 и </a:t>
            </a:r>
            <a:r>
              <a:rPr lang="en-US" sz="1650" b="0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>фильтрами</a:t>
            </a:r>
            <a:r>
              <a:rPr lang="en-US" sz="1650" b="0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 </a:t>
            </a:r>
            <a:r>
              <a:rPr lang="en-US" sz="1650" b="0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>жанров</a:t>
            </a:r>
            <a:r>
              <a:rPr lang="en-US" sz="1650" b="0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.</a:t>
            </a:r>
            <a:endParaRPr lang="ru-RU" sz="1650" b="0" u="none" strike="noStrike" dirty="0">
              <a:solidFill>
                <a:schemeClr val="tx2"/>
              </a:solidFill>
              <a:effectLst/>
              <a:uFillTx/>
              <a:latin typeface="Arial"/>
            </a:endParaRPr>
          </a:p>
        </p:txBody>
      </p:sp>
      <p:sp>
        <p:nvSpPr>
          <p:cNvPr id="125" name="Rounded Rectangle 20"/>
          <p:cNvSpPr/>
          <p:nvPr/>
        </p:nvSpPr>
        <p:spPr>
          <a:xfrm>
            <a:off x="502920" y="4983480"/>
            <a:ext cx="11155320" cy="1371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EE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" name="Oval 21"/>
          <p:cNvSpPr/>
          <p:nvPr/>
        </p:nvSpPr>
        <p:spPr>
          <a:xfrm>
            <a:off x="822960" y="5251680"/>
            <a:ext cx="868320" cy="868320"/>
          </a:xfrm>
          <a:prstGeom prst="ellipse">
            <a:avLst/>
          </a:prstGeom>
          <a:solidFill>
            <a:srgbClr val="1F3A8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" name="TextBox 22"/>
          <p:cNvSpPr/>
          <p:nvPr/>
        </p:nvSpPr>
        <p:spPr>
          <a:xfrm>
            <a:off x="822960" y="5251680"/>
            <a:ext cx="86832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3</a:t>
            </a:r>
            <a:endParaRPr lang="ru-RU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Box 23"/>
          <p:cNvSpPr/>
          <p:nvPr/>
        </p:nvSpPr>
        <p:spPr>
          <a:xfrm>
            <a:off x="1965960" y="5129640"/>
            <a:ext cx="94179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152966"/>
                </a:solidFill>
                <a:effectLst/>
                <a:uFillTx/>
                <a:latin typeface="Calibri"/>
              </a:rPr>
              <a:t>Реализация прототипа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Box 24"/>
          <p:cNvSpPr/>
          <p:nvPr/>
        </p:nvSpPr>
        <p:spPr>
          <a:xfrm>
            <a:off x="1965960" y="5568840"/>
            <a:ext cx="9417960" cy="54296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0000"/>
              </a:lnSpc>
            </a:pPr>
            <a:r>
              <a:rPr lang="en-US" sz="1650" b="0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>Реализация</a:t>
            </a:r>
            <a:r>
              <a:rPr lang="en-US" sz="1650" b="0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 </a:t>
            </a:r>
            <a:r>
              <a:rPr lang="en-US" sz="1650" b="0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>прототипа</a:t>
            </a:r>
            <a:r>
              <a:rPr lang="en-US" sz="1650" b="0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, </a:t>
            </a:r>
            <a:r>
              <a:rPr lang="en-US" sz="1650" b="0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>интеграция</a:t>
            </a:r>
            <a:r>
              <a:rPr lang="en-US" sz="1650" b="0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 </a:t>
            </a:r>
            <a:r>
              <a:rPr lang="en-US" sz="1650" b="0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>каталогов</a:t>
            </a:r>
            <a:r>
              <a:rPr lang="en-US" sz="1650" b="0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 </a:t>
            </a:r>
            <a:r>
              <a:rPr lang="en-US" sz="1650" b="0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>музыкальных</a:t>
            </a:r>
            <a:r>
              <a:rPr lang="en-US" sz="1650" b="0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 </a:t>
            </a:r>
            <a:r>
              <a:rPr lang="en-US" sz="1650" b="0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>произведений</a:t>
            </a:r>
            <a:r>
              <a:rPr lang="en-US" sz="1650" b="0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, </a:t>
            </a:r>
            <a:r>
              <a:rPr lang="en-US" sz="1650" b="0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>тестирование</a:t>
            </a:r>
            <a:r>
              <a:rPr lang="en-US" sz="1650" b="0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 </a:t>
            </a:r>
            <a:r>
              <a:rPr lang="en-US" sz="1650" b="0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>модерации</a:t>
            </a:r>
            <a:r>
              <a:rPr lang="en-US" sz="1650" b="0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 и </a:t>
            </a:r>
            <a:r>
              <a:rPr lang="en-US" sz="1650" b="0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>пользовательского</a:t>
            </a:r>
            <a:r>
              <a:rPr lang="en-US" sz="1650" b="0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 </a:t>
            </a:r>
            <a:r>
              <a:rPr lang="en-US" sz="1650" b="0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>интерфейса</a:t>
            </a:r>
            <a:r>
              <a:rPr lang="en-US" sz="1650" b="0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.</a:t>
            </a:r>
            <a:endParaRPr lang="ru-RU" sz="1650" b="0" u="none" strike="noStrike" dirty="0">
              <a:solidFill>
                <a:schemeClr val="tx2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Rectangle 1"/>
          <p:cNvSpPr/>
          <p:nvPr/>
        </p:nvSpPr>
        <p:spPr>
          <a:xfrm>
            <a:off x="0" y="0"/>
            <a:ext cx="12191400" cy="932400"/>
          </a:xfrm>
          <a:prstGeom prst="rect">
            <a:avLst/>
          </a:prstGeom>
          <a:solidFill>
            <a:srgbClr val="1F3A8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" name="Rectangle 2"/>
          <p:cNvSpPr/>
          <p:nvPr/>
        </p:nvSpPr>
        <p:spPr>
          <a:xfrm>
            <a:off x="0" y="932760"/>
            <a:ext cx="12191400" cy="45360"/>
          </a:xfrm>
          <a:prstGeom prst="rect">
            <a:avLst/>
          </a:prstGeom>
          <a:solidFill>
            <a:srgbClr val="C8102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720" rIns="90000" bIns="7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33" name="Picture 4" descr="mgtu_logo_full.png"/>
          <p:cNvPicPr/>
          <p:nvPr/>
        </p:nvPicPr>
        <p:blipFill>
          <a:blip r:embed="rId2"/>
          <a:stretch/>
        </p:blipFill>
        <p:spPr>
          <a:xfrm>
            <a:off x="365760" y="146160"/>
            <a:ext cx="358200" cy="639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4" name="TextBox 5"/>
          <p:cNvSpPr/>
          <p:nvPr/>
        </p:nvSpPr>
        <p:spPr>
          <a:xfrm>
            <a:off x="1234440" y="0"/>
            <a:ext cx="10423800" cy="93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Результаты аналитического исследования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Rectangle 6"/>
          <p:cNvSpPr/>
          <p:nvPr/>
        </p:nvSpPr>
        <p:spPr>
          <a:xfrm>
            <a:off x="0" y="6510600"/>
            <a:ext cx="12191400" cy="347040"/>
          </a:xfrm>
          <a:prstGeom prst="rect">
            <a:avLst/>
          </a:prstGeom>
          <a:solidFill>
            <a:srgbClr val="1F3A8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" name="TextBox 7"/>
          <p:cNvSpPr/>
          <p:nvPr/>
        </p:nvSpPr>
        <p:spPr>
          <a:xfrm>
            <a:off x="365760" y="6576398"/>
            <a:ext cx="10058040" cy="2154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i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WEB-</a:t>
            </a:r>
            <a:r>
              <a:rPr lang="en-US" sz="1400" b="0" i="1" u="none" strike="noStrike" dirty="0" err="1">
                <a:solidFill>
                  <a:srgbClr val="FFFFFF"/>
                </a:solidFill>
                <a:effectLst/>
                <a:uFillTx/>
                <a:latin typeface="Calibri"/>
              </a:rPr>
              <a:t>приложение</a:t>
            </a:r>
            <a:r>
              <a:rPr lang="en-US" sz="1400" b="0" i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 </a:t>
            </a:r>
            <a:r>
              <a:rPr lang="en-US" sz="1400" b="0" i="1" u="none" strike="noStrike" dirty="0" err="1">
                <a:solidFill>
                  <a:srgbClr val="FFFFFF"/>
                </a:solidFill>
                <a:effectLst/>
                <a:uFillTx/>
                <a:latin typeface="Calibri"/>
              </a:rPr>
              <a:t>для</a:t>
            </a:r>
            <a:r>
              <a:rPr lang="en-US" sz="1400" b="0" i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 </a:t>
            </a:r>
            <a:r>
              <a:rPr lang="en-US" sz="1400" b="0" i="1" u="none" strike="noStrike" dirty="0" err="1">
                <a:solidFill>
                  <a:srgbClr val="FFFFFF"/>
                </a:solidFill>
                <a:effectLst/>
                <a:uFillTx/>
                <a:latin typeface="Calibri"/>
              </a:rPr>
              <a:t>рецензирования</a:t>
            </a:r>
            <a:r>
              <a:rPr lang="en-US" sz="1400" b="0" i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 </a:t>
            </a:r>
            <a:r>
              <a:rPr lang="en-US" sz="1400" b="0" i="1" u="none" strike="noStrike" dirty="0" err="1">
                <a:solidFill>
                  <a:srgbClr val="FFFFFF"/>
                </a:solidFill>
                <a:effectLst/>
                <a:uFillTx/>
                <a:latin typeface="Calibri"/>
              </a:rPr>
              <a:t>музыкального</a:t>
            </a:r>
            <a:r>
              <a:rPr lang="en-US" sz="1400" b="0" i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 </a:t>
            </a:r>
            <a:r>
              <a:rPr lang="en-US" sz="1400" b="0" i="1" u="none" strike="noStrike" dirty="0" err="1">
                <a:solidFill>
                  <a:srgbClr val="FFFFFF"/>
                </a:solidFill>
                <a:effectLst/>
                <a:uFillTx/>
                <a:latin typeface="Calibri"/>
              </a:rPr>
              <a:t>творчества</a:t>
            </a:r>
            <a:endParaRPr lang="ru-RU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Box 8"/>
          <p:cNvSpPr/>
          <p:nvPr/>
        </p:nvSpPr>
        <p:spPr>
          <a:xfrm>
            <a:off x="10698480" y="6537960"/>
            <a:ext cx="127980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4 / 9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Box 9"/>
          <p:cNvSpPr/>
          <p:nvPr/>
        </p:nvSpPr>
        <p:spPr>
          <a:xfrm>
            <a:off x="502920" y="1188720"/>
            <a:ext cx="694908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152966"/>
                </a:solidFill>
                <a:effectLst/>
                <a:uFillTx/>
                <a:latin typeface="Calibri"/>
              </a:rPr>
              <a:t>Сравнение существующих сервисов</a:t>
            </a:r>
            <a:endParaRPr lang="ru-RU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Rectangle 10"/>
          <p:cNvSpPr/>
          <p:nvPr/>
        </p:nvSpPr>
        <p:spPr>
          <a:xfrm>
            <a:off x="502920" y="1783080"/>
            <a:ext cx="2285640" cy="566640"/>
          </a:xfrm>
          <a:prstGeom prst="rect">
            <a:avLst/>
          </a:prstGeom>
          <a:solidFill>
            <a:srgbClr val="1F3A8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" name="TextBox 11"/>
          <p:cNvSpPr/>
          <p:nvPr/>
        </p:nvSpPr>
        <p:spPr>
          <a:xfrm>
            <a:off x="502920" y="1783080"/>
            <a:ext cx="228564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Сервис</a:t>
            </a:r>
            <a:endParaRPr lang="ru-RU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Rectangle 12"/>
          <p:cNvSpPr/>
          <p:nvPr/>
        </p:nvSpPr>
        <p:spPr>
          <a:xfrm>
            <a:off x="2788920" y="1783080"/>
            <a:ext cx="1234080" cy="566640"/>
          </a:xfrm>
          <a:prstGeom prst="rect">
            <a:avLst/>
          </a:prstGeom>
          <a:solidFill>
            <a:srgbClr val="1F3A8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2" name="TextBox 13"/>
          <p:cNvSpPr/>
          <p:nvPr/>
        </p:nvSpPr>
        <p:spPr>
          <a:xfrm>
            <a:off x="2788920" y="1783080"/>
            <a:ext cx="123408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Много-</a:t>
            </a:r>
            <a:endParaRPr lang="ru-RU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критер.</a:t>
            </a:r>
            <a:endParaRPr lang="ru-RU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Rectangle 14"/>
          <p:cNvSpPr/>
          <p:nvPr/>
        </p:nvSpPr>
        <p:spPr>
          <a:xfrm>
            <a:off x="4023360" y="1783080"/>
            <a:ext cx="1234080" cy="566640"/>
          </a:xfrm>
          <a:prstGeom prst="rect">
            <a:avLst/>
          </a:prstGeom>
          <a:solidFill>
            <a:srgbClr val="1F3A8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4" name="TextBox 15"/>
          <p:cNvSpPr/>
          <p:nvPr/>
        </p:nvSpPr>
        <p:spPr>
          <a:xfrm>
            <a:off x="4023360" y="1783080"/>
            <a:ext cx="123408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Модер.</a:t>
            </a:r>
            <a:endParaRPr lang="ru-RU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контента</a:t>
            </a:r>
            <a:endParaRPr lang="ru-RU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Rectangle 16"/>
          <p:cNvSpPr/>
          <p:nvPr/>
        </p:nvSpPr>
        <p:spPr>
          <a:xfrm>
            <a:off x="5257800" y="1783080"/>
            <a:ext cx="1234080" cy="566640"/>
          </a:xfrm>
          <a:prstGeom prst="rect">
            <a:avLst/>
          </a:prstGeom>
          <a:solidFill>
            <a:srgbClr val="1F3A8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6" name="TextBox 17"/>
          <p:cNvSpPr/>
          <p:nvPr/>
        </p:nvSpPr>
        <p:spPr>
          <a:xfrm>
            <a:off x="5257800" y="1783080"/>
            <a:ext cx="123408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Гейми-</a:t>
            </a:r>
            <a:endParaRPr lang="ru-RU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фикация</a:t>
            </a:r>
            <a:endParaRPr lang="ru-RU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Rectangle 18"/>
          <p:cNvSpPr/>
          <p:nvPr/>
        </p:nvSpPr>
        <p:spPr>
          <a:xfrm>
            <a:off x="6492240" y="1783080"/>
            <a:ext cx="1234080" cy="566640"/>
          </a:xfrm>
          <a:prstGeom prst="rect">
            <a:avLst/>
          </a:prstGeom>
          <a:solidFill>
            <a:srgbClr val="1F3A8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8" name="TextBox 19"/>
          <p:cNvSpPr/>
          <p:nvPr/>
        </p:nvSpPr>
        <p:spPr>
          <a:xfrm>
            <a:off x="6492240" y="1874039"/>
            <a:ext cx="1234080" cy="3847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ru-RU" sz="1250" b="1" dirty="0">
                <a:solidFill>
                  <a:srgbClr val="FFFFFF"/>
                </a:solidFill>
                <a:latin typeface="Calibri"/>
              </a:rPr>
              <a:t>Русский</a:t>
            </a:r>
            <a:endParaRPr lang="ru-RU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50" b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интерфейс</a:t>
            </a:r>
            <a:endParaRPr lang="ru-RU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Rectangle 20"/>
          <p:cNvSpPr/>
          <p:nvPr/>
        </p:nvSpPr>
        <p:spPr>
          <a:xfrm>
            <a:off x="502920" y="2350080"/>
            <a:ext cx="2285640" cy="566640"/>
          </a:xfrm>
          <a:prstGeom prst="rect">
            <a:avLst/>
          </a:prstGeom>
          <a:solidFill>
            <a:srgbClr val="F4F6FB"/>
          </a:solidFill>
          <a:ln w="6350">
            <a:solidFill>
              <a:srgbClr val="D8DEE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0" name="TextBox 21"/>
          <p:cNvSpPr/>
          <p:nvPr/>
        </p:nvSpPr>
        <p:spPr>
          <a:xfrm>
            <a:off x="502920" y="2350080"/>
            <a:ext cx="228564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50" b="1" u="none" strike="noStrike">
                <a:solidFill>
                  <a:srgbClr val="1A1F36"/>
                </a:solidFill>
                <a:effectLst/>
                <a:uFillTx/>
                <a:latin typeface="Calibri"/>
              </a:rPr>
              <a:t>RateYourMusic</a:t>
            </a:r>
            <a:endParaRPr lang="ru-RU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Rectangle 22"/>
          <p:cNvSpPr/>
          <p:nvPr/>
        </p:nvSpPr>
        <p:spPr>
          <a:xfrm>
            <a:off x="2788920" y="2350080"/>
            <a:ext cx="1234080" cy="566640"/>
          </a:xfrm>
          <a:prstGeom prst="rect">
            <a:avLst/>
          </a:prstGeom>
          <a:solidFill>
            <a:srgbClr val="F4F6FB"/>
          </a:solidFill>
          <a:ln w="6350">
            <a:solidFill>
              <a:srgbClr val="D8DEE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2" name="TextBox 23"/>
          <p:cNvSpPr/>
          <p:nvPr/>
        </p:nvSpPr>
        <p:spPr>
          <a:xfrm>
            <a:off x="2788920" y="2350080"/>
            <a:ext cx="123408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50" b="0" u="none" strike="noStrike">
                <a:solidFill>
                  <a:srgbClr val="1A1F36"/>
                </a:solidFill>
                <a:effectLst/>
                <a:uFillTx/>
                <a:latin typeface="Calibri"/>
              </a:rPr>
              <a:t>—</a:t>
            </a:r>
            <a:endParaRPr lang="ru-RU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Rectangle 24"/>
          <p:cNvSpPr/>
          <p:nvPr/>
        </p:nvSpPr>
        <p:spPr>
          <a:xfrm>
            <a:off x="4023360" y="2350080"/>
            <a:ext cx="1234080" cy="566640"/>
          </a:xfrm>
          <a:prstGeom prst="rect">
            <a:avLst/>
          </a:prstGeom>
          <a:solidFill>
            <a:srgbClr val="F4F6FB"/>
          </a:solidFill>
          <a:ln w="6350">
            <a:solidFill>
              <a:srgbClr val="D8DEE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4" name="TextBox 25"/>
          <p:cNvSpPr/>
          <p:nvPr/>
        </p:nvSpPr>
        <p:spPr>
          <a:xfrm>
            <a:off x="4023360" y="2350080"/>
            <a:ext cx="123408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50" b="0" u="none" strike="noStrike">
                <a:solidFill>
                  <a:srgbClr val="1A1F36"/>
                </a:solidFill>
                <a:effectLst/>
                <a:uFillTx/>
                <a:latin typeface="Calibri"/>
              </a:rPr>
              <a:t>±</a:t>
            </a:r>
            <a:endParaRPr lang="ru-RU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Rectangle 26"/>
          <p:cNvSpPr/>
          <p:nvPr/>
        </p:nvSpPr>
        <p:spPr>
          <a:xfrm>
            <a:off x="5257800" y="2350080"/>
            <a:ext cx="1234080" cy="566640"/>
          </a:xfrm>
          <a:prstGeom prst="rect">
            <a:avLst/>
          </a:prstGeom>
          <a:solidFill>
            <a:srgbClr val="F4F6FB"/>
          </a:solidFill>
          <a:ln w="6350">
            <a:solidFill>
              <a:srgbClr val="D8DEE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6" name="TextBox 27"/>
          <p:cNvSpPr/>
          <p:nvPr/>
        </p:nvSpPr>
        <p:spPr>
          <a:xfrm>
            <a:off x="5257800" y="2350080"/>
            <a:ext cx="123408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50" b="0" u="none" strike="noStrike">
                <a:solidFill>
                  <a:srgbClr val="1A1F36"/>
                </a:solidFill>
                <a:effectLst/>
                <a:uFillTx/>
                <a:latin typeface="Calibri"/>
              </a:rPr>
              <a:t>—</a:t>
            </a:r>
            <a:endParaRPr lang="ru-RU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Rectangle 28"/>
          <p:cNvSpPr/>
          <p:nvPr/>
        </p:nvSpPr>
        <p:spPr>
          <a:xfrm>
            <a:off x="6492240" y="2350080"/>
            <a:ext cx="1234080" cy="566640"/>
          </a:xfrm>
          <a:prstGeom prst="rect">
            <a:avLst/>
          </a:prstGeom>
          <a:solidFill>
            <a:srgbClr val="F4F6FB"/>
          </a:solidFill>
          <a:ln w="6350">
            <a:solidFill>
              <a:srgbClr val="D8DEE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8" name="TextBox 29"/>
          <p:cNvSpPr/>
          <p:nvPr/>
        </p:nvSpPr>
        <p:spPr>
          <a:xfrm>
            <a:off x="6492240" y="2350080"/>
            <a:ext cx="123408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50" b="0" u="none" strike="noStrike">
                <a:solidFill>
                  <a:srgbClr val="1A1F36"/>
                </a:solidFill>
                <a:effectLst/>
                <a:uFillTx/>
                <a:latin typeface="Calibri"/>
              </a:rPr>
              <a:t>—</a:t>
            </a:r>
            <a:endParaRPr lang="ru-RU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Rectangle 30"/>
          <p:cNvSpPr/>
          <p:nvPr/>
        </p:nvSpPr>
        <p:spPr>
          <a:xfrm>
            <a:off x="502920" y="2917080"/>
            <a:ext cx="2285640" cy="56664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0" name="TextBox 31"/>
          <p:cNvSpPr/>
          <p:nvPr/>
        </p:nvSpPr>
        <p:spPr>
          <a:xfrm>
            <a:off x="502920" y="2917080"/>
            <a:ext cx="228564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50" b="1" u="none" strike="noStrike">
                <a:solidFill>
                  <a:srgbClr val="1A1F36"/>
                </a:solidFill>
                <a:effectLst/>
                <a:uFillTx/>
                <a:latin typeface="Calibri"/>
              </a:rPr>
              <a:t>AllMusic</a:t>
            </a:r>
            <a:endParaRPr lang="ru-RU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Rectangle 32"/>
          <p:cNvSpPr/>
          <p:nvPr/>
        </p:nvSpPr>
        <p:spPr>
          <a:xfrm>
            <a:off x="2788920" y="2917080"/>
            <a:ext cx="1234080" cy="56664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2" name="TextBox 33"/>
          <p:cNvSpPr/>
          <p:nvPr/>
        </p:nvSpPr>
        <p:spPr>
          <a:xfrm>
            <a:off x="2788920" y="2917080"/>
            <a:ext cx="123408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50" b="0" u="none" strike="noStrike">
                <a:solidFill>
                  <a:srgbClr val="1A1F36"/>
                </a:solidFill>
                <a:effectLst/>
                <a:uFillTx/>
                <a:latin typeface="Calibri"/>
              </a:rPr>
              <a:t>—</a:t>
            </a:r>
            <a:endParaRPr lang="ru-RU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Rectangle 34"/>
          <p:cNvSpPr/>
          <p:nvPr/>
        </p:nvSpPr>
        <p:spPr>
          <a:xfrm>
            <a:off x="4023360" y="2917080"/>
            <a:ext cx="1234080" cy="56664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4" name="TextBox 35"/>
          <p:cNvSpPr/>
          <p:nvPr/>
        </p:nvSpPr>
        <p:spPr>
          <a:xfrm>
            <a:off x="4023360" y="2917080"/>
            <a:ext cx="123408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50" b="0" u="none" strike="noStrike">
                <a:solidFill>
                  <a:srgbClr val="1A1F36"/>
                </a:solidFill>
                <a:effectLst/>
                <a:uFillTx/>
                <a:latin typeface="Calibri"/>
              </a:rPr>
              <a:t>±</a:t>
            </a:r>
            <a:endParaRPr lang="ru-RU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Rectangle 36"/>
          <p:cNvSpPr/>
          <p:nvPr/>
        </p:nvSpPr>
        <p:spPr>
          <a:xfrm>
            <a:off x="5257800" y="2917080"/>
            <a:ext cx="1234080" cy="56664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6" name="TextBox 37"/>
          <p:cNvSpPr/>
          <p:nvPr/>
        </p:nvSpPr>
        <p:spPr>
          <a:xfrm>
            <a:off x="5257800" y="2917080"/>
            <a:ext cx="123408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50" b="0" u="none" strike="noStrike">
                <a:solidFill>
                  <a:srgbClr val="1A1F36"/>
                </a:solidFill>
                <a:effectLst/>
                <a:uFillTx/>
                <a:latin typeface="Calibri"/>
              </a:rPr>
              <a:t>—</a:t>
            </a:r>
            <a:endParaRPr lang="ru-RU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Rectangle 38"/>
          <p:cNvSpPr/>
          <p:nvPr/>
        </p:nvSpPr>
        <p:spPr>
          <a:xfrm>
            <a:off x="6492240" y="2917080"/>
            <a:ext cx="1234080" cy="56664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8" name="TextBox 39"/>
          <p:cNvSpPr/>
          <p:nvPr/>
        </p:nvSpPr>
        <p:spPr>
          <a:xfrm>
            <a:off x="6492240" y="2917080"/>
            <a:ext cx="123408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50" b="0" u="none" strike="noStrike">
                <a:solidFill>
                  <a:srgbClr val="1A1F36"/>
                </a:solidFill>
                <a:effectLst/>
                <a:uFillTx/>
                <a:latin typeface="Calibri"/>
              </a:rPr>
              <a:t>—</a:t>
            </a:r>
            <a:endParaRPr lang="ru-RU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Rectangle 40"/>
          <p:cNvSpPr/>
          <p:nvPr/>
        </p:nvSpPr>
        <p:spPr>
          <a:xfrm>
            <a:off x="502920" y="3483720"/>
            <a:ext cx="2285640" cy="566640"/>
          </a:xfrm>
          <a:prstGeom prst="rect">
            <a:avLst/>
          </a:prstGeom>
          <a:solidFill>
            <a:srgbClr val="F4F6FB"/>
          </a:solidFill>
          <a:ln w="6350">
            <a:solidFill>
              <a:srgbClr val="D8DEE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0" name="TextBox 41"/>
          <p:cNvSpPr/>
          <p:nvPr/>
        </p:nvSpPr>
        <p:spPr>
          <a:xfrm>
            <a:off x="502920" y="3483720"/>
            <a:ext cx="228564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50" b="1" u="none" strike="noStrike">
                <a:solidFill>
                  <a:srgbClr val="1A1F36"/>
                </a:solidFill>
                <a:effectLst/>
                <a:uFillTx/>
                <a:latin typeface="Calibri"/>
              </a:rPr>
              <a:t>Last.fm</a:t>
            </a:r>
            <a:endParaRPr lang="ru-RU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Rectangle 42"/>
          <p:cNvSpPr/>
          <p:nvPr/>
        </p:nvSpPr>
        <p:spPr>
          <a:xfrm>
            <a:off x="2788920" y="3483720"/>
            <a:ext cx="1234080" cy="566640"/>
          </a:xfrm>
          <a:prstGeom prst="rect">
            <a:avLst/>
          </a:prstGeom>
          <a:solidFill>
            <a:srgbClr val="F4F6FB"/>
          </a:solidFill>
          <a:ln w="6350">
            <a:solidFill>
              <a:srgbClr val="D8DEE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2" name="TextBox 43"/>
          <p:cNvSpPr/>
          <p:nvPr/>
        </p:nvSpPr>
        <p:spPr>
          <a:xfrm>
            <a:off x="2788920" y="3483720"/>
            <a:ext cx="123408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50" b="0" u="none" strike="noStrike">
                <a:solidFill>
                  <a:srgbClr val="1A1F36"/>
                </a:solidFill>
                <a:effectLst/>
                <a:uFillTx/>
                <a:latin typeface="Calibri"/>
              </a:rPr>
              <a:t>—</a:t>
            </a:r>
            <a:endParaRPr lang="ru-RU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Rectangle 44"/>
          <p:cNvSpPr/>
          <p:nvPr/>
        </p:nvSpPr>
        <p:spPr>
          <a:xfrm>
            <a:off x="4023360" y="3483720"/>
            <a:ext cx="1234080" cy="566640"/>
          </a:xfrm>
          <a:prstGeom prst="rect">
            <a:avLst/>
          </a:prstGeom>
          <a:solidFill>
            <a:srgbClr val="F4F6FB"/>
          </a:solidFill>
          <a:ln w="6350">
            <a:solidFill>
              <a:srgbClr val="D8DEE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4" name="TextBox 45"/>
          <p:cNvSpPr/>
          <p:nvPr/>
        </p:nvSpPr>
        <p:spPr>
          <a:xfrm>
            <a:off x="4023360" y="3483720"/>
            <a:ext cx="123408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50" b="0" u="none" strike="noStrike">
                <a:solidFill>
                  <a:srgbClr val="1A1F36"/>
                </a:solidFill>
                <a:effectLst/>
                <a:uFillTx/>
                <a:latin typeface="Calibri"/>
              </a:rPr>
              <a:t>—</a:t>
            </a:r>
            <a:endParaRPr lang="ru-RU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Rectangle 46"/>
          <p:cNvSpPr/>
          <p:nvPr/>
        </p:nvSpPr>
        <p:spPr>
          <a:xfrm>
            <a:off x="5257800" y="3483720"/>
            <a:ext cx="1234080" cy="566640"/>
          </a:xfrm>
          <a:prstGeom prst="rect">
            <a:avLst/>
          </a:prstGeom>
          <a:solidFill>
            <a:srgbClr val="F4F6FB"/>
          </a:solidFill>
          <a:ln w="6350">
            <a:solidFill>
              <a:srgbClr val="D8DEE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" name="TextBox 47"/>
          <p:cNvSpPr/>
          <p:nvPr/>
        </p:nvSpPr>
        <p:spPr>
          <a:xfrm>
            <a:off x="5257800" y="3483720"/>
            <a:ext cx="123408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50" b="0" u="none" strike="noStrike">
                <a:solidFill>
                  <a:srgbClr val="1A1F36"/>
                </a:solidFill>
                <a:effectLst/>
                <a:uFillTx/>
                <a:latin typeface="Calibri"/>
              </a:rPr>
              <a:t>—</a:t>
            </a:r>
            <a:endParaRPr lang="ru-RU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Rectangle 48"/>
          <p:cNvSpPr/>
          <p:nvPr/>
        </p:nvSpPr>
        <p:spPr>
          <a:xfrm>
            <a:off x="6492240" y="3483720"/>
            <a:ext cx="1234080" cy="566640"/>
          </a:xfrm>
          <a:prstGeom prst="rect">
            <a:avLst/>
          </a:prstGeom>
          <a:solidFill>
            <a:srgbClr val="F4F6FB"/>
          </a:solidFill>
          <a:ln w="6350">
            <a:solidFill>
              <a:srgbClr val="D8DEE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8" name="TextBox 49"/>
          <p:cNvSpPr/>
          <p:nvPr/>
        </p:nvSpPr>
        <p:spPr>
          <a:xfrm>
            <a:off x="6492240" y="3483720"/>
            <a:ext cx="123408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50" b="0" u="none" strike="noStrike">
                <a:solidFill>
                  <a:srgbClr val="1A1F36"/>
                </a:solidFill>
                <a:effectLst/>
                <a:uFillTx/>
                <a:latin typeface="Calibri"/>
              </a:rPr>
              <a:t>±</a:t>
            </a:r>
            <a:endParaRPr lang="ru-RU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Rectangle 50"/>
          <p:cNvSpPr/>
          <p:nvPr/>
        </p:nvSpPr>
        <p:spPr>
          <a:xfrm>
            <a:off x="502920" y="4050720"/>
            <a:ext cx="2285640" cy="56664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" name="TextBox 51"/>
          <p:cNvSpPr/>
          <p:nvPr/>
        </p:nvSpPr>
        <p:spPr>
          <a:xfrm>
            <a:off x="502920" y="4050720"/>
            <a:ext cx="228564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50" b="1" u="none" strike="noStrike">
                <a:solidFill>
                  <a:srgbClr val="1A1F36"/>
                </a:solidFill>
                <a:effectLst/>
                <a:uFillTx/>
                <a:latin typeface="Calibri"/>
              </a:rPr>
              <a:t>VK / Я.Музыка</a:t>
            </a:r>
            <a:endParaRPr lang="ru-RU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Rectangle 52"/>
          <p:cNvSpPr/>
          <p:nvPr/>
        </p:nvSpPr>
        <p:spPr>
          <a:xfrm>
            <a:off x="2788920" y="4050720"/>
            <a:ext cx="1234080" cy="56664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" name="TextBox 53"/>
          <p:cNvSpPr/>
          <p:nvPr/>
        </p:nvSpPr>
        <p:spPr>
          <a:xfrm>
            <a:off x="2788920" y="4050720"/>
            <a:ext cx="123408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50" b="0" u="none" strike="noStrike">
                <a:solidFill>
                  <a:srgbClr val="1A1F36"/>
                </a:solidFill>
                <a:effectLst/>
                <a:uFillTx/>
                <a:latin typeface="Calibri"/>
              </a:rPr>
              <a:t>—</a:t>
            </a:r>
            <a:endParaRPr lang="ru-RU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Rectangle 54"/>
          <p:cNvSpPr/>
          <p:nvPr/>
        </p:nvSpPr>
        <p:spPr>
          <a:xfrm>
            <a:off x="4023360" y="4050720"/>
            <a:ext cx="1234080" cy="56664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" name="TextBox 55"/>
          <p:cNvSpPr/>
          <p:nvPr/>
        </p:nvSpPr>
        <p:spPr>
          <a:xfrm>
            <a:off x="4023360" y="4050720"/>
            <a:ext cx="123408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50" b="0" u="none" strike="noStrike">
                <a:solidFill>
                  <a:srgbClr val="1A1F36"/>
                </a:solidFill>
                <a:effectLst/>
                <a:uFillTx/>
                <a:latin typeface="Calibri"/>
              </a:rPr>
              <a:t>—</a:t>
            </a:r>
            <a:endParaRPr lang="ru-RU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Rectangle 56"/>
          <p:cNvSpPr/>
          <p:nvPr/>
        </p:nvSpPr>
        <p:spPr>
          <a:xfrm>
            <a:off x="5257800" y="4050720"/>
            <a:ext cx="1234080" cy="56664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" name="TextBox 57"/>
          <p:cNvSpPr/>
          <p:nvPr/>
        </p:nvSpPr>
        <p:spPr>
          <a:xfrm>
            <a:off x="5257800" y="4050720"/>
            <a:ext cx="123408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50" b="0" u="none" strike="noStrike">
                <a:solidFill>
                  <a:srgbClr val="1A1F36"/>
                </a:solidFill>
                <a:effectLst/>
                <a:uFillTx/>
                <a:latin typeface="Calibri"/>
              </a:rPr>
              <a:t>—</a:t>
            </a:r>
            <a:endParaRPr lang="ru-RU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Rectangle 58"/>
          <p:cNvSpPr/>
          <p:nvPr/>
        </p:nvSpPr>
        <p:spPr>
          <a:xfrm>
            <a:off x="6492240" y="4050720"/>
            <a:ext cx="1234080" cy="56664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" name="TextBox 59"/>
          <p:cNvSpPr/>
          <p:nvPr/>
        </p:nvSpPr>
        <p:spPr>
          <a:xfrm>
            <a:off x="6492240" y="4050720"/>
            <a:ext cx="123408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50" b="0" u="none" strike="noStrike">
                <a:solidFill>
                  <a:srgbClr val="1A1F36"/>
                </a:solidFill>
                <a:effectLst/>
                <a:uFillTx/>
                <a:latin typeface="Calibri"/>
              </a:rPr>
              <a:t>+</a:t>
            </a:r>
            <a:endParaRPr lang="ru-RU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Rectangle 60"/>
          <p:cNvSpPr/>
          <p:nvPr/>
        </p:nvSpPr>
        <p:spPr>
          <a:xfrm>
            <a:off x="502920" y="4617720"/>
            <a:ext cx="2285640" cy="566640"/>
          </a:xfrm>
          <a:prstGeom prst="rect">
            <a:avLst/>
          </a:prstGeom>
          <a:solidFill>
            <a:srgbClr val="C8102E"/>
          </a:solidFill>
          <a:ln w="6350">
            <a:solidFill>
              <a:srgbClr val="D8DEE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0" name="TextBox 61"/>
          <p:cNvSpPr/>
          <p:nvPr/>
        </p:nvSpPr>
        <p:spPr>
          <a:xfrm>
            <a:off x="502920" y="4617720"/>
            <a:ext cx="228564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5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Mustreview</a:t>
            </a:r>
            <a:endParaRPr lang="ru-RU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Rectangle 62"/>
          <p:cNvSpPr/>
          <p:nvPr/>
        </p:nvSpPr>
        <p:spPr>
          <a:xfrm>
            <a:off x="2788920" y="4617720"/>
            <a:ext cx="1234080" cy="566640"/>
          </a:xfrm>
          <a:prstGeom prst="rect">
            <a:avLst/>
          </a:prstGeom>
          <a:solidFill>
            <a:srgbClr val="C8102E"/>
          </a:solidFill>
          <a:ln w="6350">
            <a:solidFill>
              <a:srgbClr val="D8DEE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2" name="TextBox 63"/>
          <p:cNvSpPr/>
          <p:nvPr/>
        </p:nvSpPr>
        <p:spPr>
          <a:xfrm>
            <a:off x="2788920" y="4617720"/>
            <a:ext cx="123408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5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+</a:t>
            </a:r>
            <a:endParaRPr lang="ru-RU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Rectangle 64"/>
          <p:cNvSpPr/>
          <p:nvPr/>
        </p:nvSpPr>
        <p:spPr>
          <a:xfrm>
            <a:off x="4023360" y="4617720"/>
            <a:ext cx="1234080" cy="566640"/>
          </a:xfrm>
          <a:prstGeom prst="rect">
            <a:avLst/>
          </a:prstGeom>
          <a:solidFill>
            <a:srgbClr val="C8102E"/>
          </a:solidFill>
          <a:ln w="6350">
            <a:solidFill>
              <a:srgbClr val="D8DEE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4" name="TextBox 65"/>
          <p:cNvSpPr/>
          <p:nvPr/>
        </p:nvSpPr>
        <p:spPr>
          <a:xfrm>
            <a:off x="4023360" y="4617720"/>
            <a:ext cx="123408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5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+</a:t>
            </a:r>
            <a:endParaRPr lang="ru-RU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Rectangle 66"/>
          <p:cNvSpPr/>
          <p:nvPr/>
        </p:nvSpPr>
        <p:spPr>
          <a:xfrm>
            <a:off x="5257800" y="4617720"/>
            <a:ext cx="1234080" cy="566640"/>
          </a:xfrm>
          <a:prstGeom prst="rect">
            <a:avLst/>
          </a:prstGeom>
          <a:solidFill>
            <a:srgbClr val="C8102E"/>
          </a:solidFill>
          <a:ln w="6350">
            <a:solidFill>
              <a:srgbClr val="D8DEE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6" name="TextBox 67"/>
          <p:cNvSpPr/>
          <p:nvPr/>
        </p:nvSpPr>
        <p:spPr>
          <a:xfrm>
            <a:off x="5257800" y="4617720"/>
            <a:ext cx="123408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5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+</a:t>
            </a:r>
            <a:endParaRPr lang="ru-RU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Rectangle 68"/>
          <p:cNvSpPr/>
          <p:nvPr/>
        </p:nvSpPr>
        <p:spPr>
          <a:xfrm>
            <a:off x="6492240" y="4617720"/>
            <a:ext cx="1234080" cy="566640"/>
          </a:xfrm>
          <a:prstGeom prst="rect">
            <a:avLst/>
          </a:prstGeom>
          <a:solidFill>
            <a:srgbClr val="C8102E"/>
          </a:solidFill>
          <a:ln w="6350">
            <a:solidFill>
              <a:srgbClr val="D8DEE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8" name="TextBox 69"/>
          <p:cNvSpPr/>
          <p:nvPr/>
        </p:nvSpPr>
        <p:spPr>
          <a:xfrm>
            <a:off x="6492240" y="4617720"/>
            <a:ext cx="123408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5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+</a:t>
            </a:r>
            <a:endParaRPr lang="ru-RU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Box 70"/>
          <p:cNvSpPr/>
          <p:nvPr/>
        </p:nvSpPr>
        <p:spPr>
          <a:xfrm>
            <a:off x="7955280" y="1188720"/>
            <a:ext cx="38401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152966"/>
                </a:solidFill>
                <a:effectLst/>
                <a:uFillTx/>
                <a:latin typeface="Calibri"/>
              </a:rPr>
              <a:t>Ключевые выводы</a:t>
            </a:r>
            <a:endParaRPr lang="ru-RU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Rounded Rectangle 71"/>
          <p:cNvSpPr/>
          <p:nvPr/>
        </p:nvSpPr>
        <p:spPr>
          <a:xfrm>
            <a:off x="7955280" y="1783080"/>
            <a:ext cx="3840120" cy="1096920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>
            <a:solidFill>
              <a:srgbClr val="D8DEE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" name="Rectangle 72"/>
          <p:cNvSpPr/>
          <p:nvPr/>
        </p:nvSpPr>
        <p:spPr>
          <a:xfrm>
            <a:off x="7955280" y="1783080"/>
            <a:ext cx="118440" cy="1096920"/>
          </a:xfrm>
          <a:prstGeom prst="rect">
            <a:avLst/>
          </a:prstGeom>
          <a:solidFill>
            <a:srgbClr val="1F3A8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" name="TextBox 73"/>
          <p:cNvSpPr/>
          <p:nvPr/>
        </p:nvSpPr>
        <p:spPr>
          <a:xfrm>
            <a:off x="8229600" y="1901880"/>
            <a:ext cx="34743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550" b="1" u="none" strike="noStrike">
                <a:solidFill>
                  <a:srgbClr val="152966"/>
                </a:solidFill>
                <a:effectLst/>
                <a:uFillTx/>
                <a:latin typeface="Calibri"/>
              </a:rPr>
              <a:t>Дефицит платформ</a:t>
            </a:r>
            <a:endParaRPr lang="ru-RU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Box 74"/>
          <p:cNvSpPr/>
          <p:nvPr/>
        </p:nvSpPr>
        <p:spPr>
          <a:xfrm>
            <a:off x="8229600" y="2258640"/>
            <a:ext cx="34286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0000"/>
              </a:lnSpc>
            </a:pPr>
            <a:r>
              <a:rPr lang="en-US" sz="1350" b="0" u="none" strike="noStrike">
                <a:solidFill>
                  <a:srgbClr val="5A6B8C"/>
                </a:solidFill>
                <a:effectLst/>
                <a:uFillTx/>
                <a:latin typeface="Calibri"/>
              </a:rPr>
              <a:t>русскоязычный сегмент фрагментирован, нет среды для системного рецензирования</a:t>
            </a:r>
            <a:endParaRPr lang="ru-RU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Rounded Rectangle 75"/>
          <p:cNvSpPr/>
          <p:nvPr/>
        </p:nvSpPr>
        <p:spPr>
          <a:xfrm>
            <a:off x="7955280" y="3063240"/>
            <a:ext cx="3840120" cy="1096920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>
            <a:solidFill>
              <a:srgbClr val="D8DEE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5" name="Rectangle 76"/>
          <p:cNvSpPr/>
          <p:nvPr/>
        </p:nvSpPr>
        <p:spPr>
          <a:xfrm>
            <a:off x="7955280" y="3063240"/>
            <a:ext cx="118440" cy="1096920"/>
          </a:xfrm>
          <a:prstGeom prst="rect">
            <a:avLst/>
          </a:prstGeom>
          <a:solidFill>
            <a:srgbClr val="1F3A8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" name="TextBox 77"/>
          <p:cNvSpPr/>
          <p:nvPr/>
        </p:nvSpPr>
        <p:spPr>
          <a:xfrm>
            <a:off x="8229600" y="3182040"/>
            <a:ext cx="34743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550" b="1" u="none" strike="noStrike">
                <a:solidFill>
                  <a:srgbClr val="152966"/>
                </a:solidFill>
                <a:effectLst/>
                <a:uFillTx/>
                <a:latin typeface="Calibri"/>
              </a:rPr>
              <a:t>Технологический стек</a:t>
            </a:r>
            <a:endParaRPr lang="ru-RU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Box 78"/>
          <p:cNvSpPr/>
          <p:nvPr/>
        </p:nvSpPr>
        <p:spPr>
          <a:xfrm>
            <a:off x="8229600" y="3538800"/>
            <a:ext cx="34286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0000"/>
              </a:lnSpc>
            </a:pPr>
            <a:r>
              <a:rPr lang="en-US" sz="1350" b="0" u="none" strike="noStrike">
                <a:solidFill>
                  <a:srgbClr val="5A6B8C"/>
                </a:solidFill>
                <a:effectLst/>
                <a:uFillTx/>
                <a:latin typeface="Calibri"/>
              </a:rPr>
              <a:t>Go + Gin, React (SPA), PostgreSQL, Docker + GitHub Actions</a:t>
            </a:r>
            <a:endParaRPr lang="ru-RU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Rounded Rectangle 79"/>
          <p:cNvSpPr/>
          <p:nvPr/>
        </p:nvSpPr>
        <p:spPr>
          <a:xfrm>
            <a:off x="7955280" y="4343400"/>
            <a:ext cx="3840120" cy="1096920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>
            <a:solidFill>
              <a:srgbClr val="D8DEE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" name="Rectangle 80"/>
          <p:cNvSpPr/>
          <p:nvPr/>
        </p:nvSpPr>
        <p:spPr>
          <a:xfrm>
            <a:off x="7955280" y="4343400"/>
            <a:ext cx="118440" cy="1096920"/>
          </a:xfrm>
          <a:prstGeom prst="rect">
            <a:avLst/>
          </a:prstGeom>
          <a:solidFill>
            <a:srgbClr val="1F3A8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0" name="TextBox 81"/>
          <p:cNvSpPr/>
          <p:nvPr/>
        </p:nvSpPr>
        <p:spPr>
          <a:xfrm>
            <a:off x="8229600" y="4462200"/>
            <a:ext cx="34743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550" b="1" u="none" strike="noStrike">
                <a:solidFill>
                  <a:srgbClr val="152966"/>
                </a:solidFill>
                <a:effectLst/>
                <a:uFillTx/>
                <a:latin typeface="Calibri"/>
              </a:rPr>
              <a:t>Главное отличие</a:t>
            </a:r>
            <a:endParaRPr lang="ru-RU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Box 82"/>
          <p:cNvSpPr/>
          <p:nvPr/>
        </p:nvSpPr>
        <p:spPr>
          <a:xfrm>
            <a:off x="8229600" y="4818960"/>
            <a:ext cx="34286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0000"/>
              </a:lnSpc>
            </a:pPr>
            <a:r>
              <a:rPr lang="en-US" sz="1350" b="0" u="none" strike="noStrike">
                <a:solidFill>
                  <a:srgbClr val="5A6B8C"/>
                </a:solidFill>
                <a:effectLst/>
                <a:uFillTx/>
                <a:latin typeface="Calibri"/>
              </a:rPr>
              <a:t>5-критериальная оценка + очередь модерации + отметка от исполнителя</a:t>
            </a:r>
            <a:endParaRPr lang="ru-RU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Rectangle 1"/>
          <p:cNvSpPr/>
          <p:nvPr/>
        </p:nvSpPr>
        <p:spPr>
          <a:xfrm>
            <a:off x="0" y="0"/>
            <a:ext cx="12191400" cy="932400"/>
          </a:xfrm>
          <a:prstGeom prst="rect">
            <a:avLst/>
          </a:prstGeom>
          <a:solidFill>
            <a:srgbClr val="1F3A8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" name="Rectangle 2"/>
          <p:cNvSpPr/>
          <p:nvPr/>
        </p:nvSpPr>
        <p:spPr>
          <a:xfrm>
            <a:off x="0" y="932760"/>
            <a:ext cx="12191400" cy="45360"/>
          </a:xfrm>
          <a:prstGeom prst="rect">
            <a:avLst/>
          </a:prstGeom>
          <a:solidFill>
            <a:srgbClr val="C8102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720" rIns="90000" bIns="7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15" name="Picture 4" descr="mgtu_logo_full.png"/>
          <p:cNvPicPr/>
          <p:nvPr/>
        </p:nvPicPr>
        <p:blipFill>
          <a:blip r:embed="rId2"/>
          <a:stretch/>
        </p:blipFill>
        <p:spPr>
          <a:xfrm>
            <a:off x="365760" y="146160"/>
            <a:ext cx="358200" cy="639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6" name="TextBox 5"/>
          <p:cNvSpPr/>
          <p:nvPr/>
        </p:nvSpPr>
        <p:spPr>
          <a:xfrm>
            <a:off x="1234440" y="235367"/>
            <a:ext cx="10423800" cy="46166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ru-RU" sz="3000" b="1" dirty="0">
                <a:solidFill>
                  <a:srgbClr val="FFFFFF"/>
                </a:solidFill>
                <a:latin typeface="Calibri"/>
              </a:rPr>
              <a:t>Логическая</a:t>
            </a:r>
            <a:r>
              <a:rPr lang="en-US" sz="3000" b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 </a:t>
            </a:r>
            <a:r>
              <a:rPr lang="en-US" sz="3000" b="1" u="none" strike="noStrike" dirty="0" err="1">
                <a:solidFill>
                  <a:srgbClr val="FFFFFF"/>
                </a:solidFill>
                <a:effectLst/>
                <a:uFillTx/>
                <a:latin typeface="Calibri"/>
              </a:rPr>
              <a:t>модель</a:t>
            </a:r>
            <a:r>
              <a:rPr lang="en-US" sz="3000" b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 </a:t>
            </a:r>
            <a:r>
              <a:rPr lang="en-US" sz="3000" b="1" u="none" strike="noStrike" dirty="0" err="1">
                <a:solidFill>
                  <a:srgbClr val="FFFFFF"/>
                </a:solidFill>
                <a:effectLst/>
                <a:uFillTx/>
                <a:latin typeface="Calibri"/>
              </a:rPr>
              <a:t>базы</a:t>
            </a:r>
            <a:r>
              <a:rPr lang="en-US" sz="3000" b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 </a:t>
            </a:r>
            <a:r>
              <a:rPr lang="en-US" sz="3000" b="1" u="none" strike="noStrike" dirty="0" err="1">
                <a:solidFill>
                  <a:srgbClr val="FFFFFF"/>
                </a:solidFill>
                <a:effectLst/>
                <a:uFillTx/>
                <a:latin typeface="Calibri"/>
              </a:rPr>
              <a:t>данных</a:t>
            </a:r>
            <a:endParaRPr lang="ru-RU" sz="3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Rectangle 6"/>
          <p:cNvSpPr/>
          <p:nvPr/>
        </p:nvSpPr>
        <p:spPr>
          <a:xfrm>
            <a:off x="0" y="6510600"/>
            <a:ext cx="12191400" cy="347040"/>
          </a:xfrm>
          <a:prstGeom prst="rect">
            <a:avLst/>
          </a:prstGeom>
          <a:solidFill>
            <a:srgbClr val="1F3A8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8" name="TextBox 7"/>
          <p:cNvSpPr/>
          <p:nvPr/>
        </p:nvSpPr>
        <p:spPr>
          <a:xfrm>
            <a:off x="365760" y="6576398"/>
            <a:ext cx="10058040" cy="2154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i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WEB-</a:t>
            </a:r>
            <a:r>
              <a:rPr lang="en-US" sz="1400" b="0" i="1" u="none" strike="noStrike" dirty="0" err="1">
                <a:solidFill>
                  <a:srgbClr val="FFFFFF"/>
                </a:solidFill>
                <a:effectLst/>
                <a:uFillTx/>
                <a:latin typeface="Calibri"/>
              </a:rPr>
              <a:t>приложение</a:t>
            </a:r>
            <a:r>
              <a:rPr lang="en-US" sz="1400" b="0" i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 </a:t>
            </a:r>
            <a:r>
              <a:rPr lang="en-US" sz="1400" b="0" i="1" u="none" strike="noStrike" dirty="0" err="1">
                <a:solidFill>
                  <a:srgbClr val="FFFFFF"/>
                </a:solidFill>
                <a:effectLst/>
                <a:uFillTx/>
                <a:latin typeface="Calibri"/>
              </a:rPr>
              <a:t>для</a:t>
            </a:r>
            <a:r>
              <a:rPr lang="en-US" sz="1400" b="0" i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 </a:t>
            </a:r>
            <a:r>
              <a:rPr lang="en-US" sz="1400" b="0" i="1" u="none" strike="noStrike" dirty="0" err="1">
                <a:solidFill>
                  <a:srgbClr val="FFFFFF"/>
                </a:solidFill>
                <a:effectLst/>
                <a:uFillTx/>
                <a:latin typeface="Calibri"/>
              </a:rPr>
              <a:t>рецензирования</a:t>
            </a:r>
            <a:r>
              <a:rPr lang="en-US" sz="1400" b="0" i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 </a:t>
            </a:r>
            <a:r>
              <a:rPr lang="en-US" sz="1400" b="0" i="1" u="none" strike="noStrike" dirty="0" err="1">
                <a:solidFill>
                  <a:srgbClr val="FFFFFF"/>
                </a:solidFill>
                <a:effectLst/>
                <a:uFillTx/>
                <a:latin typeface="Calibri"/>
              </a:rPr>
              <a:t>музыкального</a:t>
            </a:r>
            <a:r>
              <a:rPr lang="en-US" sz="1400" b="0" i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 </a:t>
            </a:r>
            <a:r>
              <a:rPr lang="en-US" sz="1400" b="0" i="1" u="none" strike="noStrike" dirty="0" err="1">
                <a:solidFill>
                  <a:srgbClr val="FFFFFF"/>
                </a:solidFill>
                <a:effectLst/>
                <a:uFillTx/>
                <a:latin typeface="Calibri"/>
              </a:rPr>
              <a:t>творчества</a:t>
            </a:r>
            <a:endParaRPr lang="ru-RU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Box 8"/>
          <p:cNvSpPr/>
          <p:nvPr/>
        </p:nvSpPr>
        <p:spPr>
          <a:xfrm>
            <a:off x="10698480" y="6537960"/>
            <a:ext cx="127980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5 / 9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Box 9"/>
          <p:cNvSpPr/>
          <p:nvPr/>
        </p:nvSpPr>
        <p:spPr>
          <a:xfrm>
            <a:off x="502920" y="1143000"/>
            <a:ext cx="11155320" cy="244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0" i="1" u="none" strike="noStrike">
                <a:solidFill>
                  <a:srgbClr val="5A6B8C"/>
                </a:solidFill>
                <a:effectLst/>
                <a:uFillTx/>
                <a:latin typeface="Calibri"/>
              </a:rPr>
              <a:t>PostgreSQL · 5 таблиц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46817FE-0E75-4E43-A2D8-433CDF3841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60" y="1742893"/>
            <a:ext cx="5875879" cy="4313027"/>
          </a:xfrm>
          <a:prstGeom prst="rect">
            <a:avLst/>
          </a:prstGeom>
          <a:ln>
            <a:solidFill>
              <a:schemeClr val="tx2"/>
            </a:solidFill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Rectangle 1"/>
          <p:cNvSpPr/>
          <p:nvPr/>
        </p:nvSpPr>
        <p:spPr>
          <a:xfrm>
            <a:off x="0" y="0"/>
            <a:ext cx="12191400" cy="932400"/>
          </a:xfrm>
          <a:prstGeom prst="rect">
            <a:avLst/>
          </a:prstGeom>
          <a:solidFill>
            <a:srgbClr val="1F3A8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7" name="Rectangle 2"/>
          <p:cNvSpPr/>
          <p:nvPr/>
        </p:nvSpPr>
        <p:spPr>
          <a:xfrm>
            <a:off x="0" y="932760"/>
            <a:ext cx="12191400" cy="45360"/>
          </a:xfrm>
          <a:prstGeom prst="rect">
            <a:avLst/>
          </a:prstGeom>
          <a:solidFill>
            <a:srgbClr val="C8102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720" rIns="90000" bIns="7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59" name="Picture 4" descr="mgtu_logo_full.png"/>
          <p:cNvPicPr/>
          <p:nvPr/>
        </p:nvPicPr>
        <p:blipFill>
          <a:blip r:embed="rId2"/>
          <a:stretch/>
        </p:blipFill>
        <p:spPr>
          <a:xfrm>
            <a:off x="365760" y="146160"/>
            <a:ext cx="358200" cy="639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0" name="TextBox 5"/>
          <p:cNvSpPr/>
          <p:nvPr/>
        </p:nvSpPr>
        <p:spPr>
          <a:xfrm>
            <a:off x="1234440" y="0"/>
            <a:ext cx="10423800" cy="93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Ключевые алгоритмы: расчёт оценки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Rectangle 6"/>
          <p:cNvSpPr/>
          <p:nvPr/>
        </p:nvSpPr>
        <p:spPr>
          <a:xfrm>
            <a:off x="0" y="6510600"/>
            <a:ext cx="12191400" cy="347040"/>
          </a:xfrm>
          <a:prstGeom prst="rect">
            <a:avLst/>
          </a:prstGeom>
          <a:solidFill>
            <a:srgbClr val="1F3A8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2" name="TextBox 7"/>
          <p:cNvSpPr/>
          <p:nvPr/>
        </p:nvSpPr>
        <p:spPr>
          <a:xfrm>
            <a:off x="365760" y="6576398"/>
            <a:ext cx="10058040" cy="2154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i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WEB-</a:t>
            </a:r>
            <a:r>
              <a:rPr lang="en-US" sz="1400" b="0" i="1" u="none" strike="noStrike" dirty="0" err="1">
                <a:solidFill>
                  <a:srgbClr val="FFFFFF"/>
                </a:solidFill>
                <a:effectLst/>
                <a:uFillTx/>
                <a:latin typeface="Calibri"/>
              </a:rPr>
              <a:t>приложение</a:t>
            </a:r>
            <a:r>
              <a:rPr lang="en-US" sz="1400" b="0" i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 </a:t>
            </a:r>
            <a:r>
              <a:rPr lang="en-US" sz="1400" b="0" i="1" u="none" strike="noStrike" dirty="0" err="1">
                <a:solidFill>
                  <a:srgbClr val="FFFFFF"/>
                </a:solidFill>
                <a:effectLst/>
                <a:uFillTx/>
                <a:latin typeface="Calibri"/>
              </a:rPr>
              <a:t>для</a:t>
            </a:r>
            <a:r>
              <a:rPr lang="en-US" sz="1400" b="0" i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 </a:t>
            </a:r>
            <a:r>
              <a:rPr lang="en-US" sz="1400" b="0" i="1" u="none" strike="noStrike" dirty="0" err="1">
                <a:solidFill>
                  <a:srgbClr val="FFFFFF"/>
                </a:solidFill>
                <a:effectLst/>
                <a:uFillTx/>
                <a:latin typeface="Calibri"/>
              </a:rPr>
              <a:t>рецензирования</a:t>
            </a:r>
            <a:r>
              <a:rPr lang="en-US" sz="1400" b="0" i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 </a:t>
            </a:r>
            <a:r>
              <a:rPr lang="en-US" sz="1400" b="0" i="1" u="none" strike="noStrike" dirty="0" err="1">
                <a:solidFill>
                  <a:srgbClr val="FFFFFF"/>
                </a:solidFill>
                <a:effectLst/>
                <a:uFillTx/>
                <a:latin typeface="Calibri"/>
              </a:rPr>
              <a:t>музыкального</a:t>
            </a:r>
            <a:r>
              <a:rPr lang="en-US" sz="1400" b="0" i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 </a:t>
            </a:r>
            <a:r>
              <a:rPr lang="en-US" sz="1400" b="0" i="1" u="none" strike="noStrike" dirty="0" err="1">
                <a:solidFill>
                  <a:srgbClr val="FFFFFF"/>
                </a:solidFill>
                <a:effectLst/>
                <a:uFillTx/>
                <a:latin typeface="Calibri"/>
              </a:rPr>
              <a:t>творчества</a:t>
            </a:r>
            <a:endParaRPr lang="ru-RU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Box 8"/>
          <p:cNvSpPr/>
          <p:nvPr/>
        </p:nvSpPr>
        <p:spPr>
          <a:xfrm>
            <a:off x="10698480" y="6537960"/>
            <a:ext cx="127980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6 / 9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Rounded Rectangle 9"/>
          <p:cNvSpPr/>
          <p:nvPr/>
        </p:nvSpPr>
        <p:spPr>
          <a:xfrm>
            <a:off x="502920" y="1325880"/>
            <a:ext cx="11155320" cy="1691280"/>
          </a:xfrm>
          <a:prstGeom prst="roundRect">
            <a:avLst>
              <a:gd name="adj" fmla="val 6000"/>
            </a:avLst>
          </a:prstGeom>
          <a:solidFill>
            <a:srgbClr val="1F3A8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5" name="TextBox 10"/>
          <p:cNvSpPr/>
          <p:nvPr/>
        </p:nvSpPr>
        <p:spPr>
          <a:xfrm>
            <a:off x="502920" y="1435680"/>
            <a:ext cx="111553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Итоговая оценка рецензии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Box 11"/>
          <p:cNvSpPr/>
          <p:nvPr/>
        </p:nvSpPr>
        <p:spPr>
          <a:xfrm>
            <a:off x="502920" y="1783080"/>
            <a:ext cx="1115532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600" b="1" u="none" strike="noStrike">
                <a:solidFill>
                  <a:srgbClr val="FFFFFF"/>
                </a:solidFill>
                <a:effectLst/>
                <a:uFillTx/>
                <a:latin typeface="Cambria"/>
              </a:rPr>
              <a:t>Score = (R + S + I + Ch) × 1.4 × A</a:t>
            </a:r>
            <a:endParaRPr lang="ru-RU" sz="4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Box 12"/>
          <p:cNvSpPr/>
          <p:nvPr/>
        </p:nvSpPr>
        <p:spPr>
          <a:xfrm>
            <a:off x="502920" y="2624400"/>
            <a:ext cx="11155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0" i="1" u="none" strike="noStrike">
                <a:solidFill>
                  <a:srgbClr val="F4F6FB"/>
                </a:solidFill>
                <a:effectLst/>
                <a:uFillTx/>
                <a:latin typeface="Calibri"/>
              </a:rPr>
              <a:t>округляется до целого; фактический диапазон итоговой оценки: 6 – 90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Rounded Rectangle 13"/>
          <p:cNvSpPr/>
          <p:nvPr/>
        </p:nvSpPr>
        <p:spPr>
          <a:xfrm>
            <a:off x="499680" y="3337560"/>
            <a:ext cx="2121120" cy="1782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EE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9" name="Oval 14"/>
          <p:cNvSpPr/>
          <p:nvPr/>
        </p:nvSpPr>
        <p:spPr>
          <a:xfrm>
            <a:off x="1126080" y="3538800"/>
            <a:ext cx="868320" cy="868320"/>
          </a:xfrm>
          <a:prstGeom prst="ellipse">
            <a:avLst/>
          </a:prstGeom>
          <a:solidFill>
            <a:srgbClr val="1F3A8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0" name="TextBox 15"/>
          <p:cNvSpPr/>
          <p:nvPr/>
        </p:nvSpPr>
        <p:spPr>
          <a:xfrm>
            <a:off x="1126080" y="3538800"/>
            <a:ext cx="86832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Box 16"/>
          <p:cNvSpPr/>
          <p:nvPr/>
        </p:nvSpPr>
        <p:spPr>
          <a:xfrm>
            <a:off x="591120" y="4480560"/>
            <a:ext cx="1938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52966"/>
                </a:solidFill>
                <a:effectLst/>
                <a:uFillTx/>
                <a:latin typeface="Calibri"/>
              </a:rPr>
              <a:t>Рифмы / образы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Box 17"/>
          <p:cNvSpPr/>
          <p:nvPr/>
        </p:nvSpPr>
        <p:spPr>
          <a:xfrm>
            <a:off x="591120" y="4818960"/>
            <a:ext cx="19382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5A6B8C"/>
                </a:solidFill>
                <a:effectLst/>
                <a:uFillTx/>
                <a:latin typeface="Calibri"/>
              </a:rPr>
              <a:t>1 – 10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Rounded Rectangle 18"/>
          <p:cNvSpPr/>
          <p:nvPr/>
        </p:nvSpPr>
        <p:spPr>
          <a:xfrm>
            <a:off x="2767320" y="3337560"/>
            <a:ext cx="2121120" cy="1782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EE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4" name="Oval 19"/>
          <p:cNvSpPr/>
          <p:nvPr/>
        </p:nvSpPr>
        <p:spPr>
          <a:xfrm>
            <a:off x="3393720" y="3538800"/>
            <a:ext cx="868320" cy="868320"/>
          </a:xfrm>
          <a:prstGeom prst="ellipse">
            <a:avLst/>
          </a:prstGeom>
          <a:solidFill>
            <a:srgbClr val="1F3A8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5" name="TextBox 20"/>
          <p:cNvSpPr/>
          <p:nvPr/>
        </p:nvSpPr>
        <p:spPr>
          <a:xfrm>
            <a:off x="3393720" y="3538800"/>
            <a:ext cx="86832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Box 21"/>
          <p:cNvSpPr/>
          <p:nvPr/>
        </p:nvSpPr>
        <p:spPr>
          <a:xfrm>
            <a:off x="2858760" y="4480560"/>
            <a:ext cx="1938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52966"/>
                </a:solidFill>
                <a:effectLst/>
                <a:uFillTx/>
                <a:latin typeface="Calibri"/>
              </a:rPr>
              <a:t>Структура / ритмика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Box 22"/>
          <p:cNvSpPr/>
          <p:nvPr/>
        </p:nvSpPr>
        <p:spPr>
          <a:xfrm>
            <a:off x="2858760" y="4818960"/>
            <a:ext cx="19382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5A6B8C"/>
                </a:solidFill>
                <a:effectLst/>
                <a:uFillTx/>
                <a:latin typeface="Calibri"/>
              </a:rPr>
              <a:t>1 – 10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Rounded Rectangle 23"/>
          <p:cNvSpPr/>
          <p:nvPr/>
        </p:nvSpPr>
        <p:spPr>
          <a:xfrm>
            <a:off x="5035320" y="3337560"/>
            <a:ext cx="2121120" cy="1782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EE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9" name="Oval 24"/>
          <p:cNvSpPr/>
          <p:nvPr/>
        </p:nvSpPr>
        <p:spPr>
          <a:xfrm>
            <a:off x="5661360" y="3538800"/>
            <a:ext cx="868320" cy="868320"/>
          </a:xfrm>
          <a:prstGeom prst="ellipse">
            <a:avLst/>
          </a:prstGeom>
          <a:solidFill>
            <a:srgbClr val="1F3A8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0" name="TextBox 25"/>
          <p:cNvSpPr/>
          <p:nvPr/>
        </p:nvSpPr>
        <p:spPr>
          <a:xfrm>
            <a:off x="5661360" y="3538800"/>
            <a:ext cx="86832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I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Box 26"/>
          <p:cNvSpPr/>
          <p:nvPr/>
        </p:nvSpPr>
        <p:spPr>
          <a:xfrm>
            <a:off x="5126760" y="4480560"/>
            <a:ext cx="1938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52966"/>
                </a:solidFill>
                <a:effectLst/>
                <a:uFillTx/>
                <a:latin typeface="Calibri"/>
              </a:rPr>
              <a:t>Реализация стиля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Box 27"/>
          <p:cNvSpPr/>
          <p:nvPr/>
        </p:nvSpPr>
        <p:spPr>
          <a:xfrm>
            <a:off x="5126760" y="4818960"/>
            <a:ext cx="19382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5A6B8C"/>
                </a:solidFill>
                <a:effectLst/>
                <a:uFillTx/>
                <a:latin typeface="Calibri"/>
              </a:rPr>
              <a:t>1 – 10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Rounded Rectangle 28"/>
          <p:cNvSpPr/>
          <p:nvPr/>
        </p:nvSpPr>
        <p:spPr>
          <a:xfrm>
            <a:off x="7302960" y="3337560"/>
            <a:ext cx="2121120" cy="1782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EE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4" name="Oval 29"/>
          <p:cNvSpPr/>
          <p:nvPr/>
        </p:nvSpPr>
        <p:spPr>
          <a:xfrm>
            <a:off x="7929360" y="3538800"/>
            <a:ext cx="868320" cy="868320"/>
          </a:xfrm>
          <a:prstGeom prst="ellipse">
            <a:avLst/>
          </a:prstGeom>
          <a:solidFill>
            <a:srgbClr val="1F3A8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5" name="TextBox 30"/>
          <p:cNvSpPr/>
          <p:nvPr/>
        </p:nvSpPr>
        <p:spPr>
          <a:xfrm>
            <a:off x="7929360" y="3538800"/>
            <a:ext cx="86832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Ch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Box 31"/>
          <p:cNvSpPr/>
          <p:nvPr/>
        </p:nvSpPr>
        <p:spPr>
          <a:xfrm>
            <a:off x="7394400" y="4480560"/>
            <a:ext cx="1938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52966"/>
                </a:solidFill>
                <a:effectLst/>
                <a:uFillTx/>
                <a:latin typeface="Calibri"/>
              </a:rPr>
              <a:t>Индивидуальность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Box 32"/>
          <p:cNvSpPr/>
          <p:nvPr/>
        </p:nvSpPr>
        <p:spPr>
          <a:xfrm>
            <a:off x="7394400" y="4818960"/>
            <a:ext cx="19382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5A6B8C"/>
                </a:solidFill>
                <a:effectLst/>
                <a:uFillTx/>
                <a:latin typeface="Calibri"/>
              </a:rPr>
              <a:t>1 – 10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Rounded Rectangle 33"/>
          <p:cNvSpPr/>
          <p:nvPr/>
        </p:nvSpPr>
        <p:spPr>
          <a:xfrm>
            <a:off x="9570600" y="3337560"/>
            <a:ext cx="2121120" cy="1782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EE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9" name="Oval 34"/>
          <p:cNvSpPr/>
          <p:nvPr/>
        </p:nvSpPr>
        <p:spPr>
          <a:xfrm>
            <a:off x="10197000" y="3538800"/>
            <a:ext cx="868320" cy="868320"/>
          </a:xfrm>
          <a:prstGeom prst="ellipse">
            <a:avLst/>
          </a:prstGeom>
          <a:solidFill>
            <a:srgbClr val="C8102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0" name="TextBox 35"/>
          <p:cNvSpPr/>
          <p:nvPr/>
        </p:nvSpPr>
        <p:spPr>
          <a:xfrm>
            <a:off x="10197000" y="3538800"/>
            <a:ext cx="86832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Box 36"/>
          <p:cNvSpPr/>
          <p:nvPr/>
        </p:nvSpPr>
        <p:spPr>
          <a:xfrm>
            <a:off x="9662040" y="4480560"/>
            <a:ext cx="1938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52966"/>
                </a:solidFill>
                <a:effectLst/>
                <a:uFillTx/>
                <a:latin typeface="Calibri"/>
              </a:rPr>
              <a:t>Атмосфера / вайб (×)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Box 37"/>
          <p:cNvSpPr/>
          <p:nvPr/>
        </p:nvSpPr>
        <p:spPr>
          <a:xfrm>
            <a:off x="9662040" y="4818960"/>
            <a:ext cx="19382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5A6B8C"/>
                </a:solidFill>
                <a:effectLst/>
                <a:uFillTx/>
                <a:latin typeface="Calibri"/>
              </a:rPr>
              <a:t>1.0 – 1.6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Rounded Rectangle 38"/>
          <p:cNvSpPr/>
          <p:nvPr/>
        </p:nvSpPr>
        <p:spPr>
          <a:xfrm>
            <a:off x="502920" y="5349240"/>
            <a:ext cx="11155320" cy="959760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>
            <a:solidFill>
              <a:srgbClr val="D8DEE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4" name="TextBox 39"/>
          <p:cNvSpPr/>
          <p:nvPr/>
        </p:nvSpPr>
        <p:spPr>
          <a:xfrm>
            <a:off x="777240" y="5468040"/>
            <a:ext cx="51202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52966"/>
                </a:solidFill>
                <a:effectLst/>
                <a:uFillTx/>
                <a:latin typeface="Calibri"/>
              </a:rPr>
              <a:t>Аналоги (RYM, AllMusic, VK):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Box 40"/>
          <p:cNvSpPr/>
          <p:nvPr/>
        </p:nvSpPr>
        <p:spPr>
          <a:xfrm>
            <a:off x="777240" y="5760000"/>
            <a:ext cx="5120280" cy="447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5000"/>
              </a:lnSpc>
            </a:pPr>
            <a:r>
              <a:rPr lang="en-US" sz="1400" b="0" u="none" strike="noStrike">
                <a:solidFill>
                  <a:srgbClr val="5A6B8C"/>
                </a:solidFill>
                <a:effectLst/>
                <a:uFillTx/>
                <a:latin typeface="Calibri"/>
              </a:rPr>
              <a:t>одна звёздная шкала 1–5 → высокая субъективность, низкая информативность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Box 41"/>
          <p:cNvSpPr/>
          <p:nvPr/>
        </p:nvSpPr>
        <p:spPr>
          <a:xfrm>
            <a:off x="6309360" y="5468040"/>
            <a:ext cx="51202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C8102E"/>
                </a:solidFill>
                <a:effectLst/>
                <a:uFillTx/>
                <a:latin typeface="Calibri"/>
              </a:rPr>
              <a:t>Разрабатываемая система: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Box 42"/>
          <p:cNvSpPr/>
          <p:nvPr/>
        </p:nvSpPr>
        <p:spPr>
          <a:xfrm>
            <a:off x="6318360" y="5706720"/>
            <a:ext cx="5120280" cy="447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5000"/>
              </a:lnSpc>
            </a:pPr>
            <a:r>
              <a:rPr lang="en-US" sz="1400" b="0" u="none" strike="noStrike">
                <a:solidFill>
                  <a:srgbClr val="5A6B8C"/>
                </a:solidFill>
                <a:effectLst/>
                <a:uFillTx/>
                <a:latin typeface="Calibri"/>
              </a:rPr>
              <a:t>5 независимых критериев → структурированная оценка и наглядное сравнение релизов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Rectangle 1"/>
          <p:cNvSpPr/>
          <p:nvPr/>
        </p:nvSpPr>
        <p:spPr>
          <a:xfrm>
            <a:off x="0" y="0"/>
            <a:ext cx="12191400" cy="932400"/>
          </a:xfrm>
          <a:prstGeom prst="rect">
            <a:avLst/>
          </a:prstGeom>
          <a:solidFill>
            <a:srgbClr val="1F3A8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9" name="Rectangle 2"/>
          <p:cNvSpPr/>
          <p:nvPr/>
        </p:nvSpPr>
        <p:spPr>
          <a:xfrm>
            <a:off x="0" y="932760"/>
            <a:ext cx="12191400" cy="45360"/>
          </a:xfrm>
          <a:prstGeom prst="rect">
            <a:avLst/>
          </a:prstGeom>
          <a:solidFill>
            <a:srgbClr val="C8102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720" rIns="90000" bIns="7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01" name="Picture 4" descr="mgtu_logo_full.png"/>
          <p:cNvPicPr/>
          <p:nvPr/>
        </p:nvPicPr>
        <p:blipFill>
          <a:blip r:embed="rId2"/>
          <a:stretch/>
        </p:blipFill>
        <p:spPr>
          <a:xfrm>
            <a:off x="365760" y="146160"/>
            <a:ext cx="358200" cy="639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2" name="TextBox 5"/>
          <p:cNvSpPr/>
          <p:nvPr/>
        </p:nvSpPr>
        <p:spPr>
          <a:xfrm>
            <a:off x="1234440" y="0"/>
            <a:ext cx="10423800" cy="93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Архитектура системы и DevOps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Rectangle 6"/>
          <p:cNvSpPr/>
          <p:nvPr/>
        </p:nvSpPr>
        <p:spPr>
          <a:xfrm>
            <a:off x="0" y="6510600"/>
            <a:ext cx="12191400" cy="347040"/>
          </a:xfrm>
          <a:prstGeom prst="rect">
            <a:avLst/>
          </a:prstGeom>
          <a:solidFill>
            <a:srgbClr val="1F3A8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4" name="TextBox 7"/>
          <p:cNvSpPr/>
          <p:nvPr/>
        </p:nvSpPr>
        <p:spPr>
          <a:xfrm>
            <a:off x="365760" y="6576398"/>
            <a:ext cx="10058040" cy="2154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i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WEB-</a:t>
            </a:r>
            <a:r>
              <a:rPr lang="en-US" sz="1400" b="0" i="1" u="none" strike="noStrike" dirty="0" err="1">
                <a:solidFill>
                  <a:srgbClr val="FFFFFF"/>
                </a:solidFill>
                <a:effectLst/>
                <a:uFillTx/>
                <a:latin typeface="Calibri"/>
              </a:rPr>
              <a:t>приложение</a:t>
            </a:r>
            <a:r>
              <a:rPr lang="en-US" sz="1400" b="0" i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 </a:t>
            </a:r>
            <a:r>
              <a:rPr lang="en-US" sz="1400" b="0" i="1" u="none" strike="noStrike" dirty="0" err="1">
                <a:solidFill>
                  <a:srgbClr val="FFFFFF"/>
                </a:solidFill>
                <a:effectLst/>
                <a:uFillTx/>
                <a:latin typeface="Calibri"/>
              </a:rPr>
              <a:t>для</a:t>
            </a:r>
            <a:r>
              <a:rPr lang="en-US" sz="1400" b="0" i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 </a:t>
            </a:r>
            <a:r>
              <a:rPr lang="en-US" sz="1400" b="0" i="1" u="none" strike="noStrike" dirty="0" err="1">
                <a:solidFill>
                  <a:srgbClr val="FFFFFF"/>
                </a:solidFill>
                <a:effectLst/>
                <a:uFillTx/>
                <a:latin typeface="Calibri"/>
              </a:rPr>
              <a:t>рецензирования</a:t>
            </a:r>
            <a:r>
              <a:rPr lang="en-US" sz="1400" b="0" i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 </a:t>
            </a:r>
            <a:r>
              <a:rPr lang="en-US" sz="1400" b="0" i="1" u="none" strike="noStrike" dirty="0" err="1">
                <a:solidFill>
                  <a:srgbClr val="FFFFFF"/>
                </a:solidFill>
                <a:effectLst/>
                <a:uFillTx/>
                <a:latin typeface="Calibri"/>
              </a:rPr>
              <a:t>музыкального</a:t>
            </a:r>
            <a:r>
              <a:rPr lang="en-US" sz="1400" b="0" i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 </a:t>
            </a:r>
            <a:r>
              <a:rPr lang="en-US" sz="1400" b="0" i="1" u="none" strike="noStrike" dirty="0" err="1">
                <a:solidFill>
                  <a:srgbClr val="FFFFFF"/>
                </a:solidFill>
                <a:effectLst/>
                <a:uFillTx/>
                <a:latin typeface="Calibri"/>
              </a:rPr>
              <a:t>творчества</a:t>
            </a:r>
            <a:endParaRPr lang="ru-RU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Box 8"/>
          <p:cNvSpPr/>
          <p:nvPr/>
        </p:nvSpPr>
        <p:spPr>
          <a:xfrm>
            <a:off x="10698480" y="6537960"/>
            <a:ext cx="127980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7 / 9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Box 9"/>
          <p:cNvSpPr/>
          <p:nvPr/>
        </p:nvSpPr>
        <p:spPr>
          <a:xfrm>
            <a:off x="502920" y="1143000"/>
            <a:ext cx="52574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52966"/>
                </a:solidFill>
                <a:effectLst/>
                <a:uFillTx/>
                <a:latin typeface="Calibri"/>
              </a:rPr>
              <a:t>Архитектура приложения</a:t>
            </a:r>
            <a:endParaRPr lang="ru-RU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Rounded Rectangle 10"/>
          <p:cNvSpPr/>
          <p:nvPr/>
        </p:nvSpPr>
        <p:spPr>
          <a:xfrm>
            <a:off x="1371600" y="1645920"/>
            <a:ext cx="3520080" cy="712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EE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8" name="TextBox 11"/>
          <p:cNvSpPr/>
          <p:nvPr/>
        </p:nvSpPr>
        <p:spPr>
          <a:xfrm>
            <a:off x="1508760" y="1755720"/>
            <a:ext cx="32457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52966"/>
                </a:solidFill>
                <a:effectLst/>
                <a:uFillTx/>
                <a:latin typeface="Calibri"/>
              </a:rPr>
              <a:t>Браузер · React SPA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Box 12"/>
          <p:cNvSpPr/>
          <p:nvPr/>
        </p:nvSpPr>
        <p:spPr>
          <a:xfrm>
            <a:off x="1481400" y="2084760"/>
            <a:ext cx="3300480" cy="209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457200">
              <a:lnSpc>
                <a:spcPct val="105000"/>
              </a:lnSpc>
            </a:pPr>
            <a:r>
              <a:rPr lang="en-US" sz="1200" b="0" u="none" strike="noStrike" dirty="0">
                <a:solidFill>
                  <a:srgbClr val="5A6B8C"/>
                </a:solidFill>
                <a:effectLst/>
                <a:uFillTx/>
                <a:latin typeface="Calibri"/>
              </a:rPr>
              <a:t>интерфейс, </a:t>
            </a:r>
            <a:r>
              <a:rPr lang="en-US" sz="1200" b="0" u="none" strike="noStrike" dirty="0" err="1">
                <a:solidFill>
                  <a:srgbClr val="5A6B8C"/>
                </a:solidFill>
                <a:effectLst/>
                <a:uFillTx/>
                <a:latin typeface="Calibri"/>
              </a:rPr>
              <a:t>axios</a:t>
            </a:r>
            <a:r>
              <a:rPr lang="en-US" sz="1200" b="0" u="none" strike="noStrike" dirty="0">
                <a:solidFill>
                  <a:srgbClr val="5A6B8C"/>
                </a:solidFill>
                <a:effectLst/>
                <a:uFillTx/>
                <a:latin typeface="Calibri"/>
              </a:rPr>
              <a:t> → REST</a:t>
            </a:r>
            <a:endParaRPr lang="ru-RU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Down Arrow 13"/>
          <p:cNvSpPr/>
          <p:nvPr/>
        </p:nvSpPr>
        <p:spPr>
          <a:xfrm>
            <a:off x="3012840" y="2377440"/>
            <a:ext cx="237240" cy="27396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2E4DA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1" name="Rounded Rectangle 14"/>
          <p:cNvSpPr/>
          <p:nvPr/>
        </p:nvSpPr>
        <p:spPr>
          <a:xfrm>
            <a:off x="1371600" y="2670120"/>
            <a:ext cx="3520080" cy="712800"/>
          </a:xfrm>
          <a:prstGeom prst="roundRect">
            <a:avLst>
              <a:gd name="adj" fmla="val 8000"/>
            </a:avLst>
          </a:prstGeom>
          <a:solidFill>
            <a:srgbClr val="1F3A8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2" name="TextBox 15"/>
          <p:cNvSpPr/>
          <p:nvPr/>
        </p:nvSpPr>
        <p:spPr>
          <a:xfrm>
            <a:off x="1508760" y="2779920"/>
            <a:ext cx="32457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Nginx (reverse-proxy)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Box 16"/>
          <p:cNvSpPr/>
          <p:nvPr/>
        </p:nvSpPr>
        <p:spPr>
          <a:xfrm>
            <a:off x="1481400" y="3108960"/>
            <a:ext cx="3300480" cy="209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457200">
              <a:lnSpc>
                <a:spcPct val="105000"/>
              </a:lnSpc>
            </a:pPr>
            <a:r>
              <a:rPr lang="en-US" sz="1200" b="0" u="none" strike="noStrike">
                <a:solidFill>
                  <a:srgbClr val="F4F6FB"/>
                </a:solidFill>
                <a:effectLst/>
                <a:uFillTx/>
                <a:latin typeface="Calibri"/>
              </a:rPr>
              <a:t>статика + проксирование /api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Down Arrow 17"/>
          <p:cNvSpPr/>
          <p:nvPr/>
        </p:nvSpPr>
        <p:spPr>
          <a:xfrm>
            <a:off x="3012840" y="3401640"/>
            <a:ext cx="237240" cy="27396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2E4DA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5" name="Rounded Rectangle 18"/>
          <p:cNvSpPr/>
          <p:nvPr/>
        </p:nvSpPr>
        <p:spPr>
          <a:xfrm>
            <a:off x="1371600" y="3694320"/>
            <a:ext cx="3520080" cy="712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EE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6" name="TextBox 19"/>
          <p:cNvSpPr/>
          <p:nvPr/>
        </p:nvSpPr>
        <p:spPr>
          <a:xfrm>
            <a:off x="1508760" y="3803760"/>
            <a:ext cx="32457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52966"/>
                </a:solidFill>
                <a:effectLst/>
                <a:uFillTx/>
                <a:latin typeface="Calibri"/>
              </a:rPr>
              <a:t>Backend · Go + Gin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Box 20"/>
          <p:cNvSpPr/>
          <p:nvPr/>
        </p:nvSpPr>
        <p:spPr>
          <a:xfrm>
            <a:off x="1481400" y="4133160"/>
            <a:ext cx="3300480" cy="209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457200">
              <a:lnSpc>
                <a:spcPct val="105000"/>
              </a:lnSpc>
            </a:pPr>
            <a:r>
              <a:rPr lang="en-US" sz="1200" b="0" u="none" strike="noStrike">
                <a:solidFill>
                  <a:srgbClr val="5A6B8C"/>
                </a:solidFill>
                <a:effectLst/>
                <a:uFillTx/>
                <a:latin typeface="Calibri"/>
              </a:rPr>
              <a:t>REST API, бизнес-логика, GORM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Down Arrow 21"/>
          <p:cNvSpPr/>
          <p:nvPr/>
        </p:nvSpPr>
        <p:spPr>
          <a:xfrm>
            <a:off x="3012840" y="4425840"/>
            <a:ext cx="237240" cy="27396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2E4DA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9" name="Rounded Rectangle 22"/>
          <p:cNvSpPr/>
          <p:nvPr/>
        </p:nvSpPr>
        <p:spPr>
          <a:xfrm>
            <a:off x="1371600" y="4718160"/>
            <a:ext cx="3520080" cy="712800"/>
          </a:xfrm>
          <a:prstGeom prst="roundRect">
            <a:avLst>
              <a:gd name="adj" fmla="val 8000"/>
            </a:avLst>
          </a:prstGeom>
          <a:solidFill>
            <a:srgbClr val="1F3A8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0" name="TextBox 23"/>
          <p:cNvSpPr/>
          <p:nvPr/>
        </p:nvSpPr>
        <p:spPr>
          <a:xfrm>
            <a:off x="1508760" y="4827960"/>
            <a:ext cx="32457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PostgreSQL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Box 24"/>
          <p:cNvSpPr/>
          <p:nvPr/>
        </p:nvSpPr>
        <p:spPr>
          <a:xfrm>
            <a:off x="1481400" y="5157360"/>
            <a:ext cx="3300480" cy="209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457200">
              <a:lnSpc>
                <a:spcPct val="105000"/>
              </a:lnSpc>
            </a:pPr>
            <a:r>
              <a:rPr lang="en-US" sz="1200" b="0" u="none" strike="noStrike">
                <a:solidFill>
                  <a:srgbClr val="F4F6FB"/>
                </a:solidFill>
                <a:effectLst/>
                <a:uFillTx/>
                <a:latin typeface="Calibri"/>
              </a:rPr>
              <a:t>каталог, рецензии, лайки, связи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Box 25"/>
          <p:cNvSpPr/>
          <p:nvPr/>
        </p:nvSpPr>
        <p:spPr>
          <a:xfrm>
            <a:off x="6355080" y="1143000"/>
            <a:ext cx="53031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52966"/>
                </a:solidFill>
                <a:effectLst/>
                <a:uFillTx/>
                <a:latin typeface="Calibri"/>
              </a:rPr>
              <a:t>CI/CD · GitHub Actions</a:t>
            </a:r>
            <a:endParaRPr lang="ru-RU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Rounded Rectangle 26"/>
          <p:cNvSpPr/>
          <p:nvPr/>
        </p:nvSpPr>
        <p:spPr>
          <a:xfrm>
            <a:off x="6675120" y="1645920"/>
            <a:ext cx="4663080" cy="712800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>
            <a:solidFill>
              <a:srgbClr val="D8DEE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4" name="Oval 27"/>
          <p:cNvSpPr/>
          <p:nvPr/>
        </p:nvSpPr>
        <p:spPr>
          <a:xfrm>
            <a:off x="6821280" y="1819800"/>
            <a:ext cx="365400" cy="365400"/>
          </a:xfrm>
          <a:prstGeom prst="ellipse">
            <a:avLst/>
          </a:prstGeom>
          <a:solidFill>
            <a:srgbClr val="1F3A8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5" name="TextBox 28"/>
          <p:cNvSpPr/>
          <p:nvPr/>
        </p:nvSpPr>
        <p:spPr>
          <a:xfrm>
            <a:off x="6821280" y="181980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Box 29"/>
          <p:cNvSpPr/>
          <p:nvPr/>
        </p:nvSpPr>
        <p:spPr>
          <a:xfrm>
            <a:off x="7315200" y="1737360"/>
            <a:ext cx="38858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52966"/>
                </a:solidFill>
                <a:effectLst/>
                <a:uFillTx/>
                <a:latin typeface="Calibri"/>
              </a:rPr>
              <a:t>Backend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Box 30"/>
          <p:cNvSpPr/>
          <p:nvPr/>
        </p:nvSpPr>
        <p:spPr>
          <a:xfrm>
            <a:off x="7315200" y="2030040"/>
            <a:ext cx="3885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5A6B8C"/>
                </a:solidFill>
                <a:effectLst/>
                <a:uFillTx/>
                <a:latin typeface="Calibri"/>
              </a:rPr>
              <a:t>go vet · go test · go build</a:t>
            </a:r>
            <a:endParaRPr lang="ru-RU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Down Arrow 31"/>
          <p:cNvSpPr/>
          <p:nvPr/>
        </p:nvSpPr>
        <p:spPr>
          <a:xfrm>
            <a:off x="8888040" y="2377440"/>
            <a:ext cx="237240" cy="27396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2E4DA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9" name="Rounded Rectangle 32"/>
          <p:cNvSpPr/>
          <p:nvPr/>
        </p:nvSpPr>
        <p:spPr>
          <a:xfrm>
            <a:off x="6675120" y="2670120"/>
            <a:ext cx="4663080" cy="712800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>
            <a:solidFill>
              <a:srgbClr val="D8DEE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0" name="Oval 33"/>
          <p:cNvSpPr/>
          <p:nvPr/>
        </p:nvSpPr>
        <p:spPr>
          <a:xfrm>
            <a:off x="6821280" y="2843640"/>
            <a:ext cx="365400" cy="365400"/>
          </a:xfrm>
          <a:prstGeom prst="ellipse">
            <a:avLst/>
          </a:prstGeom>
          <a:solidFill>
            <a:srgbClr val="1F3A8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1" name="TextBox 34"/>
          <p:cNvSpPr/>
          <p:nvPr/>
        </p:nvSpPr>
        <p:spPr>
          <a:xfrm>
            <a:off x="6821280" y="284364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2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Box 35"/>
          <p:cNvSpPr/>
          <p:nvPr/>
        </p:nvSpPr>
        <p:spPr>
          <a:xfrm>
            <a:off x="7315200" y="2761560"/>
            <a:ext cx="38858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52966"/>
                </a:solidFill>
                <a:effectLst/>
                <a:uFillTx/>
                <a:latin typeface="Calibri"/>
              </a:rPr>
              <a:t>Frontend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Box 36"/>
          <p:cNvSpPr/>
          <p:nvPr/>
        </p:nvSpPr>
        <p:spPr>
          <a:xfrm>
            <a:off x="7315200" y="3054240"/>
            <a:ext cx="3885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5A6B8C"/>
                </a:solidFill>
                <a:effectLst/>
                <a:uFillTx/>
                <a:latin typeface="Calibri"/>
              </a:rPr>
              <a:t>npm install · npm run build</a:t>
            </a:r>
            <a:endParaRPr lang="ru-RU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Down Arrow 37"/>
          <p:cNvSpPr/>
          <p:nvPr/>
        </p:nvSpPr>
        <p:spPr>
          <a:xfrm>
            <a:off x="8888040" y="3401640"/>
            <a:ext cx="237240" cy="27396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2E4DA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5" name="Rounded Rectangle 38"/>
          <p:cNvSpPr/>
          <p:nvPr/>
        </p:nvSpPr>
        <p:spPr>
          <a:xfrm>
            <a:off x="6675120" y="3694320"/>
            <a:ext cx="4663080" cy="712800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>
            <a:solidFill>
              <a:srgbClr val="D8DEE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6" name="Oval 39"/>
          <p:cNvSpPr/>
          <p:nvPr/>
        </p:nvSpPr>
        <p:spPr>
          <a:xfrm>
            <a:off x="6821280" y="3867840"/>
            <a:ext cx="365400" cy="365400"/>
          </a:xfrm>
          <a:prstGeom prst="ellipse">
            <a:avLst/>
          </a:prstGeom>
          <a:solidFill>
            <a:srgbClr val="1F3A8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7" name="TextBox 40"/>
          <p:cNvSpPr/>
          <p:nvPr/>
        </p:nvSpPr>
        <p:spPr>
          <a:xfrm>
            <a:off x="6821280" y="386784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3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Box 41"/>
          <p:cNvSpPr/>
          <p:nvPr/>
        </p:nvSpPr>
        <p:spPr>
          <a:xfrm>
            <a:off x="7315200" y="3785760"/>
            <a:ext cx="38858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52966"/>
                </a:solidFill>
                <a:effectLst/>
                <a:uFillTx/>
                <a:latin typeface="Calibri"/>
              </a:rPr>
              <a:t>Compose smoke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TextBox 42"/>
          <p:cNvSpPr/>
          <p:nvPr/>
        </p:nvSpPr>
        <p:spPr>
          <a:xfrm>
            <a:off x="7315200" y="4078080"/>
            <a:ext cx="3885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5A6B8C"/>
                </a:solidFill>
                <a:effectLst/>
                <a:uFillTx/>
                <a:latin typeface="Calibri"/>
              </a:rPr>
              <a:t>поднять prod-стек, проверить /healthz</a:t>
            </a:r>
            <a:endParaRPr lang="ru-RU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Down Arrow 43"/>
          <p:cNvSpPr/>
          <p:nvPr/>
        </p:nvSpPr>
        <p:spPr>
          <a:xfrm>
            <a:off x="8888040" y="4425840"/>
            <a:ext cx="237240" cy="27396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2E4DA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1" name="Rounded Rectangle 44"/>
          <p:cNvSpPr/>
          <p:nvPr/>
        </p:nvSpPr>
        <p:spPr>
          <a:xfrm>
            <a:off x="6675120" y="4718160"/>
            <a:ext cx="4663080" cy="712800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>
            <a:solidFill>
              <a:srgbClr val="D8DEE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2" name="Oval 45"/>
          <p:cNvSpPr/>
          <p:nvPr/>
        </p:nvSpPr>
        <p:spPr>
          <a:xfrm>
            <a:off x="6821280" y="4892040"/>
            <a:ext cx="365400" cy="365400"/>
          </a:xfrm>
          <a:prstGeom prst="ellipse">
            <a:avLst/>
          </a:prstGeom>
          <a:solidFill>
            <a:srgbClr val="1F3A8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3" name="TextBox 46"/>
          <p:cNvSpPr/>
          <p:nvPr/>
        </p:nvSpPr>
        <p:spPr>
          <a:xfrm>
            <a:off x="6821280" y="489204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4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Box 47"/>
          <p:cNvSpPr/>
          <p:nvPr/>
        </p:nvSpPr>
        <p:spPr>
          <a:xfrm>
            <a:off x="7315200" y="4809600"/>
            <a:ext cx="38858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52966"/>
                </a:solidFill>
                <a:effectLst/>
                <a:uFillTx/>
                <a:latin typeface="Calibri"/>
              </a:rPr>
              <a:t>Docker / GHCR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Box 48"/>
          <p:cNvSpPr/>
          <p:nvPr/>
        </p:nvSpPr>
        <p:spPr>
          <a:xfrm>
            <a:off x="7315200" y="5102280"/>
            <a:ext cx="3885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5A6B8C"/>
                </a:solidFill>
                <a:effectLst/>
                <a:uFillTx/>
                <a:latin typeface="Calibri"/>
              </a:rPr>
              <a:t>сборка и публикация образов</a:t>
            </a:r>
            <a:endParaRPr lang="ru-RU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Rounded Rectangle 49"/>
          <p:cNvSpPr/>
          <p:nvPr/>
        </p:nvSpPr>
        <p:spPr>
          <a:xfrm>
            <a:off x="1595520" y="5715000"/>
            <a:ext cx="1663920" cy="456840"/>
          </a:xfrm>
          <a:prstGeom prst="roundRect">
            <a:avLst>
              <a:gd name="adj" fmla="val 30000"/>
            </a:avLst>
          </a:prstGeom>
          <a:solidFill>
            <a:srgbClr val="1F3A8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7" name="TextBox 50"/>
          <p:cNvSpPr/>
          <p:nvPr/>
        </p:nvSpPr>
        <p:spPr>
          <a:xfrm>
            <a:off x="1595520" y="5715000"/>
            <a:ext cx="166392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Docker Compose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Rounded Rectangle 51"/>
          <p:cNvSpPr/>
          <p:nvPr/>
        </p:nvSpPr>
        <p:spPr>
          <a:xfrm>
            <a:off x="3442680" y="5715000"/>
            <a:ext cx="1951920" cy="456840"/>
          </a:xfrm>
          <a:prstGeom prst="roundRect">
            <a:avLst>
              <a:gd name="adj" fmla="val 30000"/>
            </a:avLst>
          </a:prstGeom>
          <a:solidFill>
            <a:srgbClr val="1F3A8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9" name="TextBox 52"/>
          <p:cNvSpPr/>
          <p:nvPr/>
        </p:nvSpPr>
        <p:spPr>
          <a:xfrm>
            <a:off x="3442680" y="5715000"/>
            <a:ext cx="195192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Multi-stage build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Rounded Rectangle 53"/>
          <p:cNvSpPr/>
          <p:nvPr/>
        </p:nvSpPr>
        <p:spPr>
          <a:xfrm>
            <a:off x="5577840" y="5715000"/>
            <a:ext cx="1375920" cy="456840"/>
          </a:xfrm>
          <a:prstGeom prst="roundRect">
            <a:avLst>
              <a:gd name="adj" fmla="val 30000"/>
            </a:avLst>
          </a:prstGeom>
          <a:solidFill>
            <a:srgbClr val="1F3A8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1" name="TextBox 54"/>
          <p:cNvSpPr/>
          <p:nvPr/>
        </p:nvSpPr>
        <p:spPr>
          <a:xfrm>
            <a:off x="5577840" y="5715000"/>
            <a:ext cx="137592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Healthcheck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Rounded Rectangle 55"/>
          <p:cNvSpPr/>
          <p:nvPr/>
        </p:nvSpPr>
        <p:spPr>
          <a:xfrm>
            <a:off x="7137000" y="5715000"/>
            <a:ext cx="1567800" cy="456840"/>
          </a:xfrm>
          <a:prstGeom prst="roundRect">
            <a:avLst>
              <a:gd name="adj" fmla="val 30000"/>
            </a:avLst>
          </a:prstGeom>
          <a:solidFill>
            <a:srgbClr val="1F3A8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3" name="TextBox 56"/>
          <p:cNvSpPr/>
          <p:nvPr/>
        </p:nvSpPr>
        <p:spPr>
          <a:xfrm>
            <a:off x="7137000" y="5715000"/>
            <a:ext cx="15678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GHCR registry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Rounded Rectangle 57"/>
          <p:cNvSpPr/>
          <p:nvPr/>
        </p:nvSpPr>
        <p:spPr>
          <a:xfrm>
            <a:off x="8888040" y="5715000"/>
            <a:ext cx="1951920" cy="456840"/>
          </a:xfrm>
          <a:prstGeom prst="roundRect">
            <a:avLst>
              <a:gd name="adj" fmla="val 30000"/>
            </a:avLst>
          </a:prstGeom>
          <a:solidFill>
            <a:srgbClr val="1F3A8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5" name="TextBox 58"/>
          <p:cNvSpPr/>
          <p:nvPr/>
        </p:nvSpPr>
        <p:spPr>
          <a:xfrm>
            <a:off x="8888040" y="5715000"/>
            <a:ext cx="195192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Graceful shutdown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Rectangle 1"/>
          <p:cNvSpPr/>
          <p:nvPr/>
        </p:nvSpPr>
        <p:spPr>
          <a:xfrm>
            <a:off x="0" y="0"/>
            <a:ext cx="12191400" cy="932400"/>
          </a:xfrm>
          <a:prstGeom prst="rect">
            <a:avLst/>
          </a:prstGeom>
          <a:solidFill>
            <a:srgbClr val="1F3A8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7" name="Rectangle 2"/>
          <p:cNvSpPr/>
          <p:nvPr/>
        </p:nvSpPr>
        <p:spPr>
          <a:xfrm>
            <a:off x="0" y="932760"/>
            <a:ext cx="12191400" cy="45360"/>
          </a:xfrm>
          <a:prstGeom prst="rect">
            <a:avLst/>
          </a:prstGeom>
          <a:solidFill>
            <a:srgbClr val="C8102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720" rIns="90000" bIns="7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59" name="Picture 4" descr="mgtu_logo_full.png"/>
          <p:cNvPicPr/>
          <p:nvPr/>
        </p:nvPicPr>
        <p:blipFill>
          <a:blip r:embed="rId2"/>
          <a:stretch/>
        </p:blipFill>
        <p:spPr>
          <a:xfrm>
            <a:off x="365760" y="146160"/>
            <a:ext cx="358200" cy="639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0" name="TextBox 5"/>
          <p:cNvSpPr/>
          <p:nvPr/>
        </p:nvSpPr>
        <p:spPr>
          <a:xfrm>
            <a:off x="1234440" y="0"/>
            <a:ext cx="10423800" cy="93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Полученные результаты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Rectangle 6"/>
          <p:cNvSpPr/>
          <p:nvPr/>
        </p:nvSpPr>
        <p:spPr>
          <a:xfrm>
            <a:off x="0" y="6510600"/>
            <a:ext cx="12191400" cy="347040"/>
          </a:xfrm>
          <a:prstGeom prst="rect">
            <a:avLst/>
          </a:prstGeom>
          <a:solidFill>
            <a:srgbClr val="1F3A8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2" name="TextBox 7"/>
          <p:cNvSpPr/>
          <p:nvPr/>
        </p:nvSpPr>
        <p:spPr>
          <a:xfrm>
            <a:off x="365760" y="6576398"/>
            <a:ext cx="10058040" cy="2154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i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WEB-</a:t>
            </a:r>
            <a:r>
              <a:rPr lang="en-US" sz="1400" b="0" i="1" u="none" strike="noStrike" dirty="0" err="1">
                <a:solidFill>
                  <a:srgbClr val="FFFFFF"/>
                </a:solidFill>
                <a:effectLst/>
                <a:uFillTx/>
                <a:latin typeface="Calibri"/>
              </a:rPr>
              <a:t>приложение</a:t>
            </a:r>
            <a:r>
              <a:rPr lang="en-US" sz="1400" b="0" i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 </a:t>
            </a:r>
            <a:r>
              <a:rPr lang="en-US" sz="1400" b="0" i="1" u="none" strike="noStrike" dirty="0" err="1">
                <a:solidFill>
                  <a:srgbClr val="FFFFFF"/>
                </a:solidFill>
                <a:effectLst/>
                <a:uFillTx/>
                <a:latin typeface="Calibri"/>
              </a:rPr>
              <a:t>для</a:t>
            </a:r>
            <a:r>
              <a:rPr lang="en-US" sz="1400" b="0" i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 </a:t>
            </a:r>
            <a:r>
              <a:rPr lang="en-US" sz="1400" b="0" i="1" u="none" strike="noStrike" dirty="0" err="1">
                <a:solidFill>
                  <a:srgbClr val="FFFFFF"/>
                </a:solidFill>
                <a:effectLst/>
                <a:uFillTx/>
                <a:latin typeface="Calibri"/>
              </a:rPr>
              <a:t>рецензирования</a:t>
            </a:r>
            <a:r>
              <a:rPr lang="en-US" sz="1400" b="0" i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 </a:t>
            </a:r>
            <a:r>
              <a:rPr lang="en-US" sz="1400" b="0" i="1" u="none" strike="noStrike" dirty="0" err="1">
                <a:solidFill>
                  <a:srgbClr val="FFFFFF"/>
                </a:solidFill>
                <a:effectLst/>
                <a:uFillTx/>
                <a:latin typeface="Calibri"/>
              </a:rPr>
              <a:t>музыкального</a:t>
            </a:r>
            <a:r>
              <a:rPr lang="en-US" sz="1400" b="0" i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 </a:t>
            </a:r>
            <a:r>
              <a:rPr lang="en-US" sz="1400" b="0" i="1" u="none" strike="noStrike" dirty="0" err="1">
                <a:solidFill>
                  <a:srgbClr val="FFFFFF"/>
                </a:solidFill>
                <a:effectLst/>
                <a:uFillTx/>
                <a:latin typeface="Calibri"/>
              </a:rPr>
              <a:t>творчества</a:t>
            </a:r>
            <a:endParaRPr lang="ru-RU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Box 8"/>
          <p:cNvSpPr/>
          <p:nvPr/>
        </p:nvSpPr>
        <p:spPr>
          <a:xfrm>
            <a:off x="10698480" y="6537960"/>
            <a:ext cx="127980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8 / 9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Rounded Rectangle 9"/>
          <p:cNvSpPr/>
          <p:nvPr/>
        </p:nvSpPr>
        <p:spPr>
          <a:xfrm>
            <a:off x="426600" y="1188720"/>
            <a:ext cx="2697120" cy="1325520"/>
          </a:xfrm>
          <a:prstGeom prst="roundRect">
            <a:avLst>
              <a:gd name="adj" fmla="val 8000"/>
            </a:avLst>
          </a:prstGeom>
          <a:solidFill>
            <a:srgbClr val="1F3A8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5" name="TextBox 10"/>
          <p:cNvSpPr/>
          <p:nvPr/>
        </p:nvSpPr>
        <p:spPr>
          <a:xfrm>
            <a:off x="502920" y="1413481"/>
            <a:ext cx="269712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600" b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30+</a:t>
            </a:r>
            <a:endParaRPr lang="ru-RU" sz="4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Box 11"/>
          <p:cNvSpPr/>
          <p:nvPr/>
        </p:nvSpPr>
        <p:spPr>
          <a:xfrm>
            <a:off x="426600" y="2084760"/>
            <a:ext cx="26971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эндпоинтов REST API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Rounded Rectangle 12"/>
          <p:cNvSpPr/>
          <p:nvPr/>
        </p:nvSpPr>
        <p:spPr>
          <a:xfrm>
            <a:off x="3306960" y="1188720"/>
            <a:ext cx="2697120" cy="1325520"/>
          </a:xfrm>
          <a:prstGeom prst="roundRect">
            <a:avLst>
              <a:gd name="adj" fmla="val 8000"/>
            </a:avLst>
          </a:prstGeom>
          <a:solidFill>
            <a:srgbClr val="1F3A8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8" name="TextBox 13"/>
          <p:cNvSpPr/>
          <p:nvPr/>
        </p:nvSpPr>
        <p:spPr>
          <a:xfrm>
            <a:off x="3306960" y="1408320"/>
            <a:ext cx="269712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600" b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5</a:t>
            </a:r>
            <a:endParaRPr lang="ru-RU" sz="4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Box 14"/>
          <p:cNvSpPr/>
          <p:nvPr/>
        </p:nvSpPr>
        <p:spPr>
          <a:xfrm>
            <a:off x="3306960" y="2084760"/>
            <a:ext cx="26971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таблиц базы данных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Rounded Rectangle 15"/>
          <p:cNvSpPr/>
          <p:nvPr/>
        </p:nvSpPr>
        <p:spPr>
          <a:xfrm>
            <a:off x="6187320" y="1188720"/>
            <a:ext cx="2697120" cy="1325520"/>
          </a:xfrm>
          <a:prstGeom prst="roundRect">
            <a:avLst>
              <a:gd name="adj" fmla="val 8000"/>
            </a:avLst>
          </a:prstGeom>
          <a:solidFill>
            <a:srgbClr val="1F3A8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1" name="TextBox 16"/>
          <p:cNvSpPr/>
          <p:nvPr/>
        </p:nvSpPr>
        <p:spPr>
          <a:xfrm>
            <a:off x="6187320" y="1403395"/>
            <a:ext cx="269712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600" b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4</a:t>
            </a:r>
            <a:endParaRPr lang="ru-RU" sz="4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TextBox 17"/>
          <p:cNvSpPr/>
          <p:nvPr/>
        </p:nvSpPr>
        <p:spPr>
          <a:xfrm>
            <a:off x="6187320" y="2084760"/>
            <a:ext cx="26971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стадии CI-пайплайна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Rounded Rectangle 18"/>
          <p:cNvSpPr/>
          <p:nvPr/>
        </p:nvSpPr>
        <p:spPr>
          <a:xfrm>
            <a:off x="9067680" y="1188720"/>
            <a:ext cx="2697120" cy="1325520"/>
          </a:xfrm>
          <a:prstGeom prst="roundRect">
            <a:avLst>
              <a:gd name="adj" fmla="val 8000"/>
            </a:avLst>
          </a:prstGeom>
          <a:solidFill>
            <a:srgbClr val="1F3A8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4" name="TextBox 19"/>
          <p:cNvSpPr/>
          <p:nvPr/>
        </p:nvSpPr>
        <p:spPr>
          <a:xfrm>
            <a:off x="9067680" y="1408320"/>
            <a:ext cx="269712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600" b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1</a:t>
            </a:r>
            <a:endParaRPr lang="ru-RU" sz="4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Box 20"/>
          <p:cNvSpPr/>
          <p:nvPr/>
        </p:nvSpPr>
        <p:spPr>
          <a:xfrm>
            <a:off x="9067680" y="2084760"/>
            <a:ext cx="26971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команда запуска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Box 21"/>
          <p:cNvSpPr/>
          <p:nvPr/>
        </p:nvSpPr>
        <p:spPr>
          <a:xfrm>
            <a:off x="502920" y="2788920"/>
            <a:ext cx="54860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152966"/>
                </a:solidFill>
                <a:effectLst/>
                <a:uFillTx/>
                <a:latin typeface="Calibri"/>
              </a:rPr>
              <a:t>Функциональность</a:t>
            </a:r>
            <a:endParaRPr lang="ru-RU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Box 22"/>
          <p:cNvSpPr/>
          <p:nvPr/>
        </p:nvSpPr>
        <p:spPr>
          <a:xfrm>
            <a:off x="6355080" y="2788920"/>
            <a:ext cx="54860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152966"/>
                </a:solidFill>
                <a:effectLst/>
                <a:uFillTx/>
                <a:latin typeface="Calibri"/>
              </a:rPr>
              <a:t>Инфраструктура и качество</a:t>
            </a:r>
            <a:endParaRPr lang="ru-RU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Box 23"/>
          <p:cNvSpPr/>
          <p:nvPr/>
        </p:nvSpPr>
        <p:spPr>
          <a:xfrm>
            <a:off x="594360" y="3291840"/>
            <a:ext cx="3196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C8102E"/>
                </a:solidFill>
                <a:effectLst/>
                <a:uFillTx/>
                <a:latin typeface="Calibri"/>
              </a:rPr>
              <a:t>▸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Box 24"/>
          <p:cNvSpPr/>
          <p:nvPr/>
        </p:nvSpPr>
        <p:spPr>
          <a:xfrm>
            <a:off x="914400" y="3291840"/>
            <a:ext cx="5028840" cy="50494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5000"/>
              </a:lnSpc>
            </a:pPr>
            <a:r>
              <a:rPr lang="en-US" sz="1600" b="0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>Авторизация</a:t>
            </a:r>
            <a:r>
              <a:rPr lang="en-US" sz="1600" b="0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 </a:t>
            </a:r>
            <a:r>
              <a:rPr lang="en-US" sz="1600" b="0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>по</a:t>
            </a:r>
            <a:r>
              <a:rPr lang="en-US" sz="1600" b="0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 </a:t>
            </a:r>
            <a:r>
              <a:rPr lang="en-US" sz="1600" b="0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>подписанным</a:t>
            </a:r>
            <a:r>
              <a:rPr lang="en-US" sz="1600" b="0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 </a:t>
            </a:r>
            <a:r>
              <a:rPr lang="en-US" sz="1600" b="0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>сессионным</a:t>
            </a:r>
            <a:r>
              <a:rPr lang="en-US" sz="1600" b="0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 </a:t>
            </a:r>
            <a:r>
              <a:rPr lang="en-US" sz="1600" b="0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>токенам</a:t>
            </a:r>
            <a:r>
              <a:rPr lang="en-US" sz="1600" b="0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, </a:t>
            </a:r>
            <a:r>
              <a:rPr lang="en-US" sz="1600" b="0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>роли</a:t>
            </a:r>
            <a:r>
              <a:rPr lang="en-US" sz="1600" b="0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 admin / user</a:t>
            </a:r>
            <a:endParaRPr lang="ru-RU" sz="1600" b="0" u="none" strike="noStrike" dirty="0">
              <a:solidFill>
                <a:schemeClr val="tx2"/>
              </a:solidFill>
              <a:effectLst/>
              <a:uFillTx/>
              <a:latin typeface="Arial"/>
            </a:endParaRPr>
          </a:p>
        </p:txBody>
      </p:sp>
      <p:sp>
        <p:nvSpPr>
          <p:cNvPr id="380" name="TextBox 25"/>
          <p:cNvSpPr/>
          <p:nvPr/>
        </p:nvSpPr>
        <p:spPr>
          <a:xfrm>
            <a:off x="594360" y="3840480"/>
            <a:ext cx="3196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C8102E"/>
                </a:solidFill>
                <a:effectLst/>
                <a:uFillTx/>
                <a:latin typeface="Calibri"/>
              </a:rPr>
              <a:t>▸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TextBox 26"/>
          <p:cNvSpPr/>
          <p:nvPr/>
        </p:nvSpPr>
        <p:spPr>
          <a:xfrm>
            <a:off x="914400" y="3840480"/>
            <a:ext cx="5028840" cy="50494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5000"/>
              </a:lnSpc>
            </a:pPr>
            <a:r>
              <a:rPr lang="en-US" sz="1600" b="0" u="none" strike="noStrike">
                <a:solidFill>
                  <a:schemeClr val="tx2"/>
                </a:solidFill>
                <a:effectLst/>
                <a:uFillTx/>
                <a:latin typeface="Calibri"/>
              </a:rPr>
              <a:t>Многокритериальная оценка релизов и оптимистичные лайки</a:t>
            </a:r>
            <a:endParaRPr lang="ru-RU" sz="1600" b="0" u="none" strike="noStrike">
              <a:solidFill>
                <a:schemeClr val="tx2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Box 27"/>
          <p:cNvSpPr/>
          <p:nvPr/>
        </p:nvSpPr>
        <p:spPr>
          <a:xfrm>
            <a:off x="594360" y="4389120"/>
            <a:ext cx="3196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C8102E"/>
                </a:solidFill>
                <a:effectLst/>
                <a:uFillTx/>
                <a:latin typeface="Calibri"/>
              </a:rPr>
              <a:t>▸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Box 28"/>
          <p:cNvSpPr/>
          <p:nvPr/>
        </p:nvSpPr>
        <p:spPr>
          <a:xfrm>
            <a:off x="914400" y="4389120"/>
            <a:ext cx="5028840" cy="24641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5000"/>
              </a:lnSpc>
            </a:pPr>
            <a:r>
              <a:rPr lang="en-US" sz="1600" b="0" u="none" strike="noStrike">
                <a:solidFill>
                  <a:schemeClr val="tx2"/>
                </a:solidFill>
                <a:effectLst/>
                <a:uFillTx/>
                <a:latin typeface="Calibri"/>
              </a:rPr>
              <a:t>Лента рецензий с фильтром «Все / Подписки»</a:t>
            </a:r>
            <a:endParaRPr lang="ru-RU" sz="1600" b="0" u="none" strike="noStrike">
              <a:solidFill>
                <a:schemeClr val="tx2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Box 29"/>
          <p:cNvSpPr/>
          <p:nvPr/>
        </p:nvSpPr>
        <p:spPr>
          <a:xfrm>
            <a:off x="594360" y="4937760"/>
            <a:ext cx="3196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C8102E"/>
                </a:solidFill>
                <a:effectLst/>
                <a:uFillTx/>
                <a:latin typeface="Calibri"/>
              </a:rPr>
              <a:t>▸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Box 30"/>
          <p:cNvSpPr/>
          <p:nvPr/>
        </p:nvSpPr>
        <p:spPr>
          <a:xfrm>
            <a:off x="914400" y="4937760"/>
            <a:ext cx="5028840" cy="24641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5000"/>
              </a:lnSpc>
            </a:pPr>
            <a:r>
              <a:rPr lang="en-US" sz="1600" b="0" u="none" strike="noStrike">
                <a:solidFill>
                  <a:schemeClr val="tx2"/>
                </a:solidFill>
                <a:effectLst/>
                <a:uFillTx/>
                <a:latin typeface="Calibri"/>
              </a:rPr>
              <a:t>Конвейер модерации: pending → approved / rejected</a:t>
            </a:r>
            <a:endParaRPr lang="ru-RU" sz="1600" b="0" u="none" strike="noStrike">
              <a:solidFill>
                <a:schemeClr val="tx2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Box 31"/>
          <p:cNvSpPr/>
          <p:nvPr/>
        </p:nvSpPr>
        <p:spPr>
          <a:xfrm>
            <a:off x="594360" y="5486400"/>
            <a:ext cx="3196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C8102E"/>
                </a:solidFill>
                <a:effectLst/>
                <a:uFillTx/>
                <a:latin typeface="Calibri"/>
              </a:rPr>
              <a:t>▸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Box 32"/>
          <p:cNvSpPr/>
          <p:nvPr/>
        </p:nvSpPr>
        <p:spPr>
          <a:xfrm>
            <a:off x="914400" y="5486400"/>
            <a:ext cx="5028840" cy="24641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5000"/>
              </a:lnSpc>
            </a:pPr>
            <a:r>
              <a:rPr lang="en-US" sz="1600" b="0" u="none" strike="noStrike">
                <a:solidFill>
                  <a:schemeClr val="tx2"/>
                </a:solidFill>
                <a:effectLst/>
                <a:uFillTx/>
                <a:latin typeface="Calibri"/>
              </a:rPr>
              <a:t>Профиль с уровнями, бейджами и социальным графом</a:t>
            </a:r>
            <a:endParaRPr lang="ru-RU" sz="1600" b="0" u="none" strike="noStrike">
              <a:solidFill>
                <a:schemeClr val="tx2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3"/>
          <p:cNvSpPr/>
          <p:nvPr/>
        </p:nvSpPr>
        <p:spPr>
          <a:xfrm>
            <a:off x="594360" y="6035040"/>
            <a:ext cx="3196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C8102E"/>
                </a:solidFill>
                <a:effectLst/>
                <a:uFillTx/>
                <a:latin typeface="Calibri"/>
              </a:rPr>
              <a:t>▸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TextBox 34"/>
          <p:cNvSpPr/>
          <p:nvPr/>
        </p:nvSpPr>
        <p:spPr>
          <a:xfrm>
            <a:off x="914400" y="6035040"/>
            <a:ext cx="5028840" cy="24641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5000"/>
              </a:lnSpc>
            </a:pPr>
            <a:r>
              <a:rPr lang="en-US" sz="1600" b="0" u="none" strike="noStrike">
                <a:solidFill>
                  <a:schemeClr val="tx2"/>
                </a:solidFill>
                <a:effectLst/>
                <a:uFillTx/>
                <a:latin typeface="Calibri"/>
              </a:rPr>
              <a:t>Музыкальный каталог: альбомы, треки, жанры</a:t>
            </a:r>
            <a:endParaRPr lang="ru-RU" sz="1600" b="0" u="none" strike="noStrike">
              <a:solidFill>
                <a:schemeClr val="tx2"/>
              </a:solidFill>
              <a:effectLst/>
              <a:uFillTx/>
              <a:latin typeface="Arial"/>
            </a:endParaRPr>
          </a:p>
        </p:txBody>
      </p:sp>
      <p:sp>
        <p:nvSpPr>
          <p:cNvPr id="390" name="TextBox 35"/>
          <p:cNvSpPr/>
          <p:nvPr/>
        </p:nvSpPr>
        <p:spPr>
          <a:xfrm>
            <a:off x="6446520" y="3291840"/>
            <a:ext cx="3196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C8102E"/>
                </a:solidFill>
                <a:effectLst/>
                <a:uFillTx/>
                <a:latin typeface="Calibri"/>
              </a:rPr>
              <a:t>▸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Box 36"/>
          <p:cNvSpPr/>
          <p:nvPr/>
        </p:nvSpPr>
        <p:spPr>
          <a:xfrm>
            <a:off x="6766560" y="3291840"/>
            <a:ext cx="5028840" cy="24641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5000"/>
              </a:lnSpc>
            </a:pPr>
            <a:r>
              <a:rPr lang="en-US" sz="1600" b="0" u="none" strike="noStrike">
                <a:solidFill>
                  <a:schemeClr val="tx2"/>
                </a:solidFill>
                <a:effectLst/>
                <a:uFillTx/>
                <a:latin typeface="Calibri"/>
              </a:rPr>
              <a:t>Контейнеризация: Docker Compose (dev / prod / deploy)</a:t>
            </a:r>
            <a:endParaRPr lang="ru-RU" sz="1600" b="0" u="none" strike="noStrike">
              <a:solidFill>
                <a:schemeClr val="tx2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Box 37"/>
          <p:cNvSpPr/>
          <p:nvPr/>
        </p:nvSpPr>
        <p:spPr>
          <a:xfrm>
            <a:off x="6446520" y="3840480"/>
            <a:ext cx="3196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C8102E"/>
                </a:solidFill>
                <a:effectLst/>
                <a:uFillTx/>
                <a:latin typeface="Calibri"/>
              </a:rPr>
              <a:t>▸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Box 38"/>
          <p:cNvSpPr/>
          <p:nvPr/>
        </p:nvSpPr>
        <p:spPr>
          <a:xfrm>
            <a:off x="6766560" y="3840480"/>
            <a:ext cx="5028840" cy="24641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5000"/>
              </a:lnSpc>
            </a:pPr>
            <a:r>
              <a:rPr lang="en-US" sz="1600" b="0" u="none" strike="noStrike">
                <a:solidFill>
                  <a:schemeClr val="tx2"/>
                </a:solidFill>
                <a:effectLst/>
                <a:uFillTx/>
                <a:latin typeface="Calibri"/>
              </a:rPr>
              <a:t>CI: go vet · go test · go build + frontend build</a:t>
            </a:r>
            <a:endParaRPr lang="ru-RU" sz="1600" b="0" u="none" strike="noStrike">
              <a:solidFill>
                <a:schemeClr val="tx2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Box 39"/>
          <p:cNvSpPr/>
          <p:nvPr/>
        </p:nvSpPr>
        <p:spPr>
          <a:xfrm>
            <a:off x="6446520" y="4389120"/>
            <a:ext cx="3196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C8102E"/>
                </a:solidFill>
                <a:effectLst/>
                <a:uFillTx/>
                <a:latin typeface="Calibri"/>
              </a:rPr>
              <a:t>▸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Box 40"/>
          <p:cNvSpPr/>
          <p:nvPr/>
        </p:nvSpPr>
        <p:spPr>
          <a:xfrm>
            <a:off x="6766560" y="4389120"/>
            <a:ext cx="5028840" cy="24641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5000"/>
              </a:lnSpc>
            </a:pPr>
            <a:r>
              <a:rPr lang="en-US" sz="1600" b="0" u="none" strike="noStrike">
                <a:solidFill>
                  <a:schemeClr val="tx2"/>
                </a:solidFill>
                <a:effectLst/>
                <a:uFillTx/>
                <a:latin typeface="Calibri"/>
              </a:rPr>
              <a:t>Smoke-тест prod-стека и публикация образов в GHCR</a:t>
            </a:r>
            <a:endParaRPr lang="ru-RU" sz="1600" b="0" u="none" strike="noStrike">
              <a:solidFill>
                <a:schemeClr val="tx2"/>
              </a:solidFill>
              <a:effectLst/>
              <a:uFillTx/>
              <a:latin typeface="Arial"/>
            </a:endParaRPr>
          </a:p>
        </p:txBody>
      </p:sp>
      <p:sp>
        <p:nvSpPr>
          <p:cNvPr id="396" name="TextBox 41"/>
          <p:cNvSpPr/>
          <p:nvPr/>
        </p:nvSpPr>
        <p:spPr>
          <a:xfrm>
            <a:off x="6446520" y="4937760"/>
            <a:ext cx="3196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C8102E"/>
                </a:solidFill>
                <a:effectLst/>
                <a:uFillTx/>
                <a:latin typeface="Calibri"/>
              </a:rPr>
              <a:t>▸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TextBox 42"/>
          <p:cNvSpPr/>
          <p:nvPr/>
        </p:nvSpPr>
        <p:spPr>
          <a:xfrm>
            <a:off x="6766560" y="4937760"/>
            <a:ext cx="5028840" cy="24641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5000"/>
              </a:lnSpc>
            </a:pPr>
            <a:r>
              <a:rPr lang="en-US" sz="1600" b="0" u="none" strike="noStrike">
                <a:solidFill>
                  <a:schemeClr val="tx2"/>
                </a:solidFill>
                <a:effectLst/>
                <a:uFillTx/>
                <a:latin typeface="Calibri"/>
              </a:rPr>
              <a:t>Multi-stage сборка, healthcheck, graceful shutdown</a:t>
            </a:r>
            <a:endParaRPr lang="ru-RU" sz="1600" b="0" u="none" strike="noStrike">
              <a:solidFill>
                <a:schemeClr val="tx2"/>
              </a:solidFill>
              <a:effectLst/>
              <a:uFillTx/>
              <a:latin typeface="Arial"/>
            </a:endParaRPr>
          </a:p>
        </p:txBody>
      </p:sp>
      <p:sp>
        <p:nvSpPr>
          <p:cNvPr id="398" name="TextBox 43"/>
          <p:cNvSpPr/>
          <p:nvPr/>
        </p:nvSpPr>
        <p:spPr>
          <a:xfrm>
            <a:off x="6446520" y="5486400"/>
            <a:ext cx="3196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C8102E"/>
                </a:solidFill>
                <a:effectLst/>
                <a:uFillTx/>
                <a:latin typeface="Calibri"/>
              </a:rPr>
              <a:t>▸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Box 44"/>
          <p:cNvSpPr/>
          <p:nvPr/>
        </p:nvSpPr>
        <p:spPr>
          <a:xfrm>
            <a:off x="6766560" y="5486400"/>
            <a:ext cx="5028840" cy="24641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5000"/>
              </a:lnSpc>
            </a:pPr>
            <a:r>
              <a:rPr lang="en-US" sz="1600" b="0" u="none" strike="noStrike">
                <a:solidFill>
                  <a:schemeClr val="tx2"/>
                </a:solidFill>
                <a:effectLst/>
                <a:uFillTx/>
                <a:latin typeface="Calibri"/>
              </a:rPr>
              <a:t>Идемпотентный сидер демо-данных</a:t>
            </a:r>
            <a:endParaRPr lang="ru-RU" sz="1600" b="0" u="none" strike="noStrike">
              <a:solidFill>
                <a:schemeClr val="tx2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Box 45"/>
          <p:cNvSpPr/>
          <p:nvPr/>
        </p:nvSpPr>
        <p:spPr>
          <a:xfrm>
            <a:off x="6446520" y="6035040"/>
            <a:ext cx="3196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C8102E"/>
                </a:solidFill>
                <a:effectLst/>
                <a:uFillTx/>
                <a:latin typeface="Calibri"/>
              </a:rPr>
              <a:t>▸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Box 46"/>
          <p:cNvSpPr/>
          <p:nvPr/>
        </p:nvSpPr>
        <p:spPr>
          <a:xfrm>
            <a:off x="6766560" y="6035040"/>
            <a:ext cx="5028840" cy="24641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5000"/>
              </a:lnSpc>
            </a:pPr>
            <a:r>
              <a:rPr lang="en-US" sz="1600" b="0" u="none" strike="noStrike">
                <a:solidFill>
                  <a:schemeClr val="tx2"/>
                </a:solidFill>
                <a:effectLst/>
                <a:uFillTx/>
                <a:latin typeface="Calibri"/>
              </a:rPr>
              <a:t>Запуск одной командой, готовность к деплою на VPS</a:t>
            </a:r>
            <a:endParaRPr lang="ru-RU" sz="1600" b="0" u="none" strike="noStrike">
              <a:solidFill>
                <a:schemeClr val="tx2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5296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3" name="Rectangle 2"/>
          <p:cNvSpPr/>
          <p:nvPr/>
        </p:nvSpPr>
        <p:spPr>
          <a:xfrm>
            <a:off x="0" y="3200400"/>
            <a:ext cx="12191400" cy="54360"/>
          </a:xfrm>
          <a:prstGeom prst="rect">
            <a:avLst/>
          </a:prstGeom>
          <a:solidFill>
            <a:srgbClr val="C8102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405" name="Picture 4" descr="mgtu_logo_full.png"/>
          <p:cNvPicPr/>
          <p:nvPr/>
        </p:nvPicPr>
        <p:blipFill>
          <a:blip r:embed="rId2"/>
          <a:stretch/>
        </p:blipFill>
        <p:spPr>
          <a:xfrm>
            <a:off x="5632560" y="640080"/>
            <a:ext cx="1075680" cy="1919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6" name="TextBox 5"/>
          <p:cNvSpPr/>
          <p:nvPr/>
        </p:nvSpPr>
        <p:spPr>
          <a:xfrm>
            <a:off x="457200" y="3611880"/>
            <a:ext cx="11246760" cy="1279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СПАСИБО ЗА ВНИМАНИЕ!</a:t>
            </a:r>
            <a:endParaRPr lang="ru-RU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TextBox 6"/>
          <p:cNvSpPr/>
          <p:nvPr/>
        </p:nvSpPr>
        <p:spPr>
          <a:xfrm>
            <a:off x="457200" y="6035040"/>
            <a:ext cx="112467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Афонькин Максим Артемович  ·  группа АВб-22-2  ·  Магнитогорск, 2026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</TotalTime>
  <Words>696</Words>
  <Application>Microsoft Office PowerPoint</Application>
  <PresentationFormat>Широкоэкранный</PresentationFormat>
  <Paragraphs>187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6" baseType="lpstr">
      <vt:lpstr>Arial</vt:lpstr>
      <vt:lpstr>Calibri</vt:lpstr>
      <vt:lpstr>Cambria</vt:lpstr>
      <vt:lpstr>Symbol</vt:lpstr>
      <vt:lpstr>Times New Roman</vt:lpstr>
      <vt:lpstr>Wingdings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dc:description>generated using python-pptx</dc:description>
  <cp:lastModifiedBy>Максим Афонькин</cp:lastModifiedBy>
  <cp:revision>18</cp:revision>
  <dcterms:created xsi:type="dcterms:W3CDTF">2013-01-27T09:14:16Z</dcterms:created>
  <dcterms:modified xsi:type="dcterms:W3CDTF">2026-06-10T03:44:33Z</dcterms:modified>
  <dc:language>ru-RU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