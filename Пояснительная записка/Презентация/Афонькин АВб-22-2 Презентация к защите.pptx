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B53324-4061-433C-A2F2-3EB8A0D7EA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B263FC-0CD6-4A25-9BDF-746918C3C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64CBF1-3F1F-4F0D-9BA3-86BA7FA9C3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DD9EF6-8214-4A85-BF84-B173B937D4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F05656-8D59-49BA-BEC5-0DE06E5267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614B85-FA90-4277-A640-BBC9F7DD72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D01FD7-D8F7-42F3-AE36-062E421F9E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C328F4-C53C-4D09-89D1-99DAD89F19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209F84-72DF-407E-9AB4-AC86F64898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D74918-1999-4E85-B668-C71B240BEA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7A3426-CF49-4AF5-A1B9-1B2909C1AF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4114440" cy="6857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4114800" y="0"/>
            <a:ext cx="63720" cy="685764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4" descr="mgtu_logo_full.png"/>
          <p:cNvPicPr/>
          <p:nvPr/>
        </p:nvPicPr>
        <p:blipFill>
          <a:blip r:embed="rId2"/>
          <a:stretch/>
        </p:blipFill>
        <p:spPr>
          <a:xfrm>
            <a:off x="1463040" y="548640"/>
            <a:ext cx="128088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5"/>
          <p:cNvSpPr/>
          <p:nvPr/>
        </p:nvSpPr>
        <p:spPr>
          <a:xfrm>
            <a:off x="320040" y="3154680"/>
            <a:ext cx="3474360" cy="2356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МИНИСТЕРСТВО НАУКИ И ВЫСШЕГО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ОБРАЗОВАНИЯ РОССИЙСКОЙ ФЕДЕРАЦИИ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Магнитогорский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государственный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технический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университет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им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. Г.И.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Носова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Институт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энергетики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и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автоматизированных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систем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Кафедра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вычислительной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техники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и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программирования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0" y="6144840"/>
            <a:ext cx="4114440" cy="712800"/>
          </a:xfrm>
          <a:prstGeom prst="rect">
            <a:avLst/>
          </a:prstGeom>
          <a:solidFill>
            <a:srgbClr val="15296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320040" y="6144840"/>
            <a:ext cx="34743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Магнитогорск, 2026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617720" y="594360"/>
            <a:ext cx="5939668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1F3A8A"/>
                </a:solidFill>
                <a:effectLst/>
                <a:uFillTx/>
                <a:latin typeface="Calibri"/>
              </a:rPr>
              <a:t>ВЫПУСКНАЯ КВАЛИФИКАЦИОННАЯ РАБОТА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4617720" y="1600200"/>
            <a:ext cx="118440" cy="246852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4892040" y="2011680"/>
            <a:ext cx="6994800" cy="1527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32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Проектирование</a:t>
            </a:r>
            <a:r>
              <a:rPr lang="en-US" sz="32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 и </a:t>
            </a:r>
            <a:r>
              <a:rPr lang="en-US" sz="32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разработка</a:t>
            </a:r>
            <a:r>
              <a:rPr lang="en-US" sz="32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 WEB-</a:t>
            </a:r>
            <a:r>
              <a:rPr lang="en-US" sz="32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приложения</a:t>
            </a:r>
            <a:r>
              <a:rPr lang="en-US" sz="32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для</a:t>
            </a:r>
            <a:r>
              <a:rPr lang="en-US" sz="32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32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32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творчества</a:t>
            </a: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4617720" y="4526280"/>
            <a:ext cx="7269120" cy="17827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5303880" y="4956855"/>
            <a:ext cx="3291480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ВЫПОЛНИЛ</a:t>
            </a:r>
            <a:endParaRPr lang="ru-RU" sz="10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5303880" y="5231175"/>
            <a:ext cx="329148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студент</a:t>
            </a:r>
            <a:r>
              <a:rPr lang="en-US" sz="13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группы</a:t>
            </a:r>
            <a:r>
              <a:rPr lang="en-US" sz="13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АВб-22-2</a:t>
            </a:r>
            <a:endParaRPr lang="ru-RU" sz="13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5303880" y="5624295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Афонькин М. А.</a:t>
            </a:r>
            <a:endParaRPr lang="ru-RU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9034560" y="4956855"/>
            <a:ext cx="3291480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РУКОВОДИТЕЛЬ</a:t>
            </a:r>
            <a:endParaRPr lang="ru-RU" sz="10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9034560" y="5231175"/>
            <a:ext cx="329148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3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д</a:t>
            </a:r>
            <a:r>
              <a:rPr lang="en-US" sz="13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оцент</a:t>
            </a:r>
            <a:r>
              <a:rPr lang="en-US" sz="13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каф</a:t>
            </a:r>
            <a:r>
              <a:rPr lang="en-US" sz="13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. ВТ и П, </a:t>
            </a:r>
            <a:r>
              <a:rPr lang="en-US" sz="13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к.т.н</a:t>
            </a:r>
            <a:r>
              <a:rPr lang="en-US" sz="13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.</a:t>
            </a:r>
            <a:endParaRPr lang="ru-RU" sz="13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9034560" y="5624295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Егорова Л. Г.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4" descr="mgtu_logo_full.png"/>
          <p:cNvPicPr/>
          <p:nvPr/>
        </p:nvPicPr>
        <p:blipFill>
          <a:blip r:embed="rId2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Цель, объект и предмет исследования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365760" y="6576398"/>
            <a:ext cx="100580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WEB-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приложение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для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творчества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9"/>
          <p:cNvSpPr/>
          <p:nvPr/>
        </p:nvSpPr>
        <p:spPr>
          <a:xfrm>
            <a:off x="408240" y="1371600"/>
            <a:ext cx="3657240" cy="489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0"/>
          <p:cNvSpPr/>
          <p:nvPr/>
        </p:nvSpPr>
        <p:spPr>
          <a:xfrm>
            <a:off x="408240" y="1371600"/>
            <a:ext cx="3657240" cy="1825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Oval 11"/>
          <p:cNvSpPr/>
          <p:nvPr/>
        </p:nvSpPr>
        <p:spPr>
          <a:xfrm>
            <a:off x="728280" y="1874520"/>
            <a:ext cx="1005480" cy="100548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728280" y="187452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🎯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1871280" y="192024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ЦЕЛЬ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774000" y="3108960"/>
            <a:ext cx="2925720" cy="2826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Повышение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объективности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информативности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и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доступности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русскоязычных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музыкальных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произведений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молодёжной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аудиторией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за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счёт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разработки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специализированной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информационной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системы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многокритериального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оценивания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.</a:t>
            </a:r>
            <a:endParaRPr lang="ru-RU" sz="165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5"/>
          <p:cNvSpPr/>
          <p:nvPr/>
        </p:nvSpPr>
        <p:spPr>
          <a:xfrm>
            <a:off x="4267080" y="1371600"/>
            <a:ext cx="3657240" cy="489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16"/>
          <p:cNvSpPr/>
          <p:nvPr/>
        </p:nvSpPr>
        <p:spPr>
          <a:xfrm>
            <a:off x="4267080" y="1371600"/>
            <a:ext cx="3657240" cy="1825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17"/>
          <p:cNvSpPr/>
          <p:nvPr/>
        </p:nvSpPr>
        <p:spPr>
          <a:xfrm>
            <a:off x="4587120" y="1874520"/>
            <a:ext cx="1005480" cy="100548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8"/>
          <p:cNvSpPr/>
          <p:nvPr/>
        </p:nvSpPr>
        <p:spPr>
          <a:xfrm>
            <a:off x="4587120" y="187452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🔍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5730120" y="192024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ОБЪЕКТ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0"/>
          <p:cNvSpPr/>
          <p:nvPr/>
        </p:nvSpPr>
        <p:spPr>
          <a:xfrm>
            <a:off x="4632840" y="3108960"/>
            <a:ext cx="2925720" cy="11206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65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Процесс коллективного рецензирования музыкального творчества русскоязычной молодёжью на веб-платформах.</a:t>
            </a:r>
            <a:endParaRPr lang="ru-RU" sz="165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21"/>
          <p:cNvSpPr/>
          <p:nvPr/>
        </p:nvSpPr>
        <p:spPr>
          <a:xfrm>
            <a:off x="8125920" y="1371600"/>
            <a:ext cx="3657240" cy="489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2"/>
          <p:cNvSpPr/>
          <p:nvPr/>
        </p:nvSpPr>
        <p:spPr>
          <a:xfrm>
            <a:off x="8125920" y="1371600"/>
            <a:ext cx="3657240" cy="1825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Oval 23"/>
          <p:cNvSpPr/>
          <p:nvPr/>
        </p:nvSpPr>
        <p:spPr>
          <a:xfrm>
            <a:off x="8445960" y="1874520"/>
            <a:ext cx="1005480" cy="100548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4"/>
          <p:cNvSpPr/>
          <p:nvPr/>
        </p:nvSpPr>
        <p:spPr>
          <a:xfrm>
            <a:off x="8445960" y="187452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📌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5"/>
          <p:cNvSpPr/>
          <p:nvPr/>
        </p:nvSpPr>
        <p:spPr>
          <a:xfrm>
            <a:off x="9588960" y="192024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ПРЕДМЕТ</a:t>
            </a:r>
            <a:endParaRPr lang="ru-RU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6"/>
          <p:cNvSpPr/>
          <p:nvPr/>
        </p:nvSpPr>
        <p:spPr>
          <a:xfrm>
            <a:off x="8491680" y="3108960"/>
            <a:ext cx="2925720" cy="16893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2000"/>
              </a:lnSpc>
            </a:pPr>
            <a:r>
              <a:rPr lang="en-US" sz="165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Информационная система рецензирования современной музыки с экспертной системой оценки и инструментами модерации пользовательского контента.</a:t>
            </a:r>
            <a:endParaRPr lang="ru-RU" sz="165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4" descr="mgtu_logo_full.png"/>
          <p:cNvPicPr/>
          <p:nvPr/>
        </p:nvPicPr>
        <p:blipFill>
          <a:blip r:embed="rId2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Задачи исследования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365760" y="6576398"/>
            <a:ext cx="100580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WEB-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приложение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для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творчества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502920" y="118872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Для достижения поставленной цели решаются следующие задачи: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0"/>
          <p:cNvSpPr/>
          <p:nvPr/>
        </p:nvSpPr>
        <p:spPr>
          <a:xfrm>
            <a:off x="502920" y="1627200"/>
            <a:ext cx="1115532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11"/>
          <p:cNvSpPr/>
          <p:nvPr/>
        </p:nvSpPr>
        <p:spPr>
          <a:xfrm>
            <a:off x="822960" y="1855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822960" y="1855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3"/>
          <p:cNvSpPr/>
          <p:nvPr/>
        </p:nvSpPr>
        <p:spPr>
          <a:xfrm>
            <a:off x="1965960" y="177336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Анализ предметной области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4"/>
          <p:cNvSpPr/>
          <p:nvPr/>
        </p:nvSpPr>
        <p:spPr>
          <a:xfrm>
            <a:off x="1965960" y="2212560"/>
            <a:ext cx="9417960" cy="5429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Анализ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ниши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русскоязычного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современной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музыки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и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проблем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существующих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платформ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.</a:t>
            </a:r>
            <a:endParaRPr lang="ru-RU" sz="165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5"/>
          <p:cNvSpPr/>
          <p:nvPr/>
        </p:nvSpPr>
        <p:spPr>
          <a:xfrm>
            <a:off x="502920" y="3227400"/>
            <a:ext cx="1115532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Oval 16"/>
          <p:cNvSpPr/>
          <p:nvPr/>
        </p:nvSpPr>
        <p:spPr>
          <a:xfrm>
            <a:off x="822960" y="3475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822960" y="3475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8"/>
          <p:cNvSpPr/>
          <p:nvPr/>
        </p:nvSpPr>
        <p:spPr>
          <a:xfrm>
            <a:off x="1965960" y="337356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Проектирование системы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9"/>
          <p:cNvSpPr/>
          <p:nvPr/>
        </p:nvSpPr>
        <p:spPr>
          <a:xfrm>
            <a:off x="1965960" y="3716820"/>
            <a:ext cx="9417960" cy="8222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Проектирование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архитектуры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системы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с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экспертной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оценкой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(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рифмы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/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образы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структура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/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ритмика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реализация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стиля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индивидуальность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/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харизма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атмосфера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/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вайб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),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инструментами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модерации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и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фильтрами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жанров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.</a:t>
            </a:r>
            <a:endParaRPr lang="ru-RU" sz="165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20"/>
          <p:cNvSpPr/>
          <p:nvPr/>
        </p:nvSpPr>
        <p:spPr>
          <a:xfrm>
            <a:off x="502920" y="4827600"/>
            <a:ext cx="1115532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Oval 21"/>
          <p:cNvSpPr/>
          <p:nvPr/>
        </p:nvSpPr>
        <p:spPr>
          <a:xfrm>
            <a:off x="822960" y="5095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2"/>
          <p:cNvSpPr/>
          <p:nvPr/>
        </p:nvSpPr>
        <p:spPr>
          <a:xfrm>
            <a:off x="822960" y="5095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3"/>
          <p:cNvSpPr/>
          <p:nvPr/>
        </p:nvSpPr>
        <p:spPr>
          <a:xfrm>
            <a:off x="1965960" y="497376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Реализация прототипа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4"/>
          <p:cNvSpPr/>
          <p:nvPr/>
        </p:nvSpPr>
        <p:spPr>
          <a:xfrm>
            <a:off x="1965960" y="5412960"/>
            <a:ext cx="9417960" cy="5429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Реализация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прототипа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интеграция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каталогов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музыкальных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произведений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тестирование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модерации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и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пользовательского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5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интерфейса</a:t>
            </a:r>
            <a:r>
              <a:rPr lang="en-US" sz="165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.</a:t>
            </a:r>
            <a:endParaRPr lang="ru-RU" sz="165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4" descr="mgtu_logo_full.png"/>
          <p:cNvPicPr/>
          <p:nvPr/>
        </p:nvPicPr>
        <p:blipFill>
          <a:blip r:embed="rId2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Результаты аналитического исследования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365760" y="6576398"/>
            <a:ext cx="100580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WEB-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приложение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для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творчества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502920" y="1188720"/>
            <a:ext cx="6949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Сравнение существующих сервисов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0"/>
          <p:cNvSpPr/>
          <p:nvPr/>
        </p:nvSpPr>
        <p:spPr>
          <a:xfrm>
            <a:off x="502920" y="1783080"/>
            <a:ext cx="228564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1"/>
          <p:cNvSpPr/>
          <p:nvPr/>
        </p:nvSpPr>
        <p:spPr>
          <a:xfrm>
            <a:off x="502920" y="17830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Сервис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2"/>
          <p:cNvSpPr/>
          <p:nvPr/>
        </p:nvSpPr>
        <p:spPr>
          <a:xfrm>
            <a:off x="278892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2788920" y="1783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Много-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критер.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4"/>
          <p:cNvSpPr/>
          <p:nvPr/>
        </p:nvSpPr>
        <p:spPr>
          <a:xfrm>
            <a:off x="402336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4023360" y="1783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Модер.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контента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16"/>
          <p:cNvSpPr/>
          <p:nvPr/>
        </p:nvSpPr>
        <p:spPr>
          <a:xfrm>
            <a:off x="525780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5257800" y="1783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Гейми-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фикация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8"/>
          <p:cNvSpPr/>
          <p:nvPr/>
        </p:nvSpPr>
        <p:spPr>
          <a:xfrm>
            <a:off x="6492240" y="1783080"/>
            <a:ext cx="1234080" cy="5666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6492240" y="1874039"/>
            <a:ext cx="1234080" cy="3847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ru-RU" sz="1250" b="1" dirty="0">
                <a:solidFill>
                  <a:srgbClr val="FFFFFF"/>
                </a:solidFill>
                <a:latin typeface="Calibri"/>
              </a:rPr>
              <a:t>Русский</a:t>
            </a:r>
            <a:endParaRPr lang="ru-RU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интерфейс</a:t>
            </a:r>
            <a:endParaRPr lang="ru-RU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0"/>
          <p:cNvSpPr/>
          <p:nvPr/>
        </p:nvSpPr>
        <p:spPr>
          <a:xfrm>
            <a:off x="502920" y="2350080"/>
            <a:ext cx="228564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502920" y="23500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RateYourMusic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22"/>
          <p:cNvSpPr/>
          <p:nvPr/>
        </p:nvSpPr>
        <p:spPr>
          <a:xfrm>
            <a:off x="278892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278892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24"/>
          <p:cNvSpPr/>
          <p:nvPr/>
        </p:nvSpPr>
        <p:spPr>
          <a:xfrm>
            <a:off x="402336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5"/>
          <p:cNvSpPr/>
          <p:nvPr/>
        </p:nvSpPr>
        <p:spPr>
          <a:xfrm>
            <a:off x="402336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±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6"/>
          <p:cNvSpPr/>
          <p:nvPr/>
        </p:nvSpPr>
        <p:spPr>
          <a:xfrm>
            <a:off x="525780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7"/>
          <p:cNvSpPr/>
          <p:nvPr/>
        </p:nvSpPr>
        <p:spPr>
          <a:xfrm>
            <a:off x="525780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8"/>
          <p:cNvSpPr/>
          <p:nvPr/>
        </p:nvSpPr>
        <p:spPr>
          <a:xfrm>
            <a:off x="6492240" y="235008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9"/>
          <p:cNvSpPr/>
          <p:nvPr/>
        </p:nvSpPr>
        <p:spPr>
          <a:xfrm>
            <a:off x="6492240" y="2350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0"/>
          <p:cNvSpPr/>
          <p:nvPr/>
        </p:nvSpPr>
        <p:spPr>
          <a:xfrm>
            <a:off x="502920" y="2917080"/>
            <a:ext cx="2285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1"/>
          <p:cNvSpPr/>
          <p:nvPr/>
        </p:nvSpPr>
        <p:spPr>
          <a:xfrm>
            <a:off x="502920" y="291708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AllMusic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2"/>
          <p:cNvSpPr/>
          <p:nvPr/>
        </p:nvSpPr>
        <p:spPr>
          <a:xfrm>
            <a:off x="278892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33"/>
          <p:cNvSpPr/>
          <p:nvPr/>
        </p:nvSpPr>
        <p:spPr>
          <a:xfrm>
            <a:off x="278892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4"/>
          <p:cNvSpPr/>
          <p:nvPr/>
        </p:nvSpPr>
        <p:spPr>
          <a:xfrm>
            <a:off x="402336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35"/>
          <p:cNvSpPr/>
          <p:nvPr/>
        </p:nvSpPr>
        <p:spPr>
          <a:xfrm>
            <a:off x="402336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±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6"/>
          <p:cNvSpPr/>
          <p:nvPr/>
        </p:nvSpPr>
        <p:spPr>
          <a:xfrm>
            <a:off x="525780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37"/>
          <p:cNvSpPr/>
          <p:nvPr/>
        </p:nvSpPr>
        <p:spPr>
          <a:xfrm>
            <a:off x="525780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38"/>
          <p:cNvSpPr/>
          <p:nvPr/>
        </p:nvSpPr>
        <p:spPr>
          <a:xfrm>
            <a:off x="6492240" y="291708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9"/>
          <p:cNvSpPr/>
          <p:nvPr/>
        </p:nvSpPr>
        <p:spPr>
          <a:xfrm>
            <a:off x="6492240" y="291708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40"/>
          <p:cNvSpPr/>
          <p:nvPr/>
        </p:nvSpPr>
        <p:spPr>
          <a:xfrm>
            <a:off x="502920" y="3483720"/>
            <a:ext cx="228564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1"/>
          <p:cNvSpPr/>
          <p:nvPr/>
        </p:nvSpPr>
        <p:spPr>
          <a:xfrm>
            <a:off x="502920" y="348372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Last.fm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2"/>
          <p:cNvSpPr/>
          <p:nvPr/>
        </p:nvSpPr>
        <p:spPr>
          <a:xfrm>
            <a:off x="278892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43"/>
          <p:cNvSpPr/>
          <p:nvPr/>
        </p:nvSpPr>
        <p:spPr>
          <a:xfrm>
            <a:off x="278892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44"/>
          <p:cNvSpPr/>
          <p:nvPr/>
        </p:nvSpPr>
        <p:spPr>
          <a:xfrm>
            <a:off x="402336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5"/>
          <p:cNvSpPr/>
          <p:nvPr/>
        </p:nvSpPr>
        <p:spPr>
          <a:xfrm>
            <a:off x="402336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46"/>
          <p:cNvSpPr/>
          <p:nvPr/>
        </p:nvSpPr>
        <p:spPr>
          <a:xfrm>
            <a:off x="525780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47"/>
          <p:cNvSpPr/>
          <p:nvPr/>
        </p:nvSpPr>
        <p:spPr>
          <a:xfrm>
            <a:off x="525780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48"/>
          <p:cNvSpPr/>
          <p:nvPr/>
        </p:nvSpPr>
        <p:spPr>
          <a:xfrm>
            <a:off x="6492240" y="3483720"/>
            <a:ext cx="1234080" cy="566640"/>
          </a:xfrm>
          <a:prstGeom prst="rect">
            <a:avLst/>
          </a:prstGeom>
          <a:solidFill>
            <a:srgbClr val="F4F6FB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49"/>
          <p:cNvSpPr/>
          <p:nvPr/>
        </p:nvSpPr>
        <p:spPr>
          <a:xfrm>
            <a:off x="6492240" y="3483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±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50"/>
          <p:cNvSpPr/>
          <p:nvPr/>
        </p:nvSpPr>
        <p:spPr>
          <a:xfrm>
            <a:off x="502920" y="4050720"/>
            <a:ext cx="2285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51"/>
          <p:cNvSpPr/>
          <p:nvPr/>
        </p:nvSpPr>
        <p:spPr>
          <a:xfrm>
            <a:off x="502920" y="405072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VK / Я.Музыка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52"/>
          <p:cNvSpPr/>
          <p:nvPr/>
        </p:nvSpPr>
        <p:spPr>
          <a:xfrm>
            <a:off x="278892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3"/>
          <p:cNvSpPr/>
          <p:nvPr/>
        </p:nvSpPr>
        <p:spPr>
          <a:xfrm>
            <a:off x="278892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54"/>
          <p:cNvSpPr/>
          <p:nvPr/>
        </p:nvSpPr>
        <p:spPr>
          <a:xfrm>
            <a:off x="402336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55"/>
          <p:cNvSpPr/>
          <p:nvPr/>
        </p:nvSpPr>
        <p:spPr>
          <a:xfrm>
            <a:off x="402336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56"/>
          <p:cNvSpPr/>
          <p:nvPr/>
        </p:nvSpPr>
        <p:spPr>
          <a:xfrm>
            <a:off x="525780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57"/>
          <p:cNvSpPr/>
          <p:nvPr/>
        </p:nvSpPr>
        <p:spPr>
          <a:xfrm>
            <a:off x="525780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—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58"/>
          <p:cNvSpPr/>
          <p:nvPr/>
        </p:nvSpPr>
        <p:spPr>
          <a:xfrm>
            <a:off x="6492240" y="4050720"/>
            <a:ext cx="123408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59"/>
          <p:cNvSpPr/>
          <p:nvPr/>
        </p:nvSpPr>
        <p:spPr>
          <a:xfrm>
            <a:off x="6492240" y="4050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60"/>
          <p:cNvSpPr/>
          <p:nvPr/>
        </p:nvSpPr>
        <p:spPr>
          <a:xfrm>
            <a:off x="502920" y="4617720"/>
            <a:ext cx="228564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61"/>
          <p:cNvSpPr/>
          <p:nvPr/>
        </p:nvSpPr>
        <p:spPr>
          <a:xfrm>
            <a:off x="502920" y="461772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Mustreview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62"/>
          <p:cNvSpPr/>
          <p:nvPr/>
        </p:nvSpPr>
        <p:spPr>
          <a:xfrm>
            <a:off x="278892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63"/>
          <p:cNvSpPr/>
          <p:nvPr/>
        </p:nvSpPr>
        <p:spPr>
          <a:xfrm>
            <a:off x="278892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64"/>
          <p:cNvSpPr/>
          <p:nvPr/>
        </p:nvSpPr>
        <p:spPr>
          <a:xfrm>
            <a:off x="402336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5"/>
          <p:cNvSpPr/>
          <p:nvPr/>
        </p:nvSpPr>
        <p:spPr>
          <a:xfrm>
            <a:off x="402336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66"/>
          <p:cNvSpPr/>
          <p:nvPr/>
        </p:nvSpPr>
        <p:spPr>
          <a:xfrm>
            <a:off x="525780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67"/>
          <p:cNvSpPr/>
          <p:nvPr/>
        </p:nvSpPr>
        <p:spPr>
          <a:xfrm>
            <a:off x="525780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68"/>
          <p:cNvSpPr/>
          <p:nvPr/>
        </p:nvSpPr>
        <p:spPr>
          <a:xfrm>
            <a:off x="6492240" y="4617720"/>
            <a:ext cx="1234080" cy="566640"/>
          </a:xfrm>
          <a:prstGeom prst="rect">
            <a:avLst/>
          </a:prstGeom>
          <a:solidFill>
            <a:srgbClr val="C8102E"/>
          </a:solidFill>
          <a:ln w="6350"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69"/>
          <p:cNvSpPr/>
          <p:nvPr/>
        </p:nvSpPr>
        <p:spPr>
          <a:xfrm>
            <a:off x="6492240" y="4617720"/>
            <a:ext cx="1234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70"/>
          <p:cNvSpPr/>
          <p:nvPr/>
        </p:nvSpPr>
        <p:spPr>
          <a:xfrm>
            <a:off x="7955280" y="118872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Ключевые выводы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71"/>
          <p:cNvSpPr/>
          <p:nvPr/>
        </p:nvSpPr>
        <p:spPr>
          <a:xfrm>
            <a:off x="7955280" y="1783080"/>
            <a:ext cx="3840120" cy="10969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72"/>
          <p:cNvSpPr/>
          <p:nvPr/>
        </p:nvSpPr>
        <p:spPr>
          <a:xfrm>
            <a:off x="7955280" y="1783080"/>
            <a:ext cx="118440" cy="10969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73"/>
          <p:cNvSpPr/>
          <p:nvPr/>
        </p:nvSpPr>
        <p:spPr>
          <a:xfrm>
            <a:off x="8229600" y="19018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Дефицит платформ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74"/>
          <p:cNvSpPr/>
          <p:nvPr/>
        </p:nvSpPr>
        <p:spPr>
          <a:xfrm>
            <a:off x="8229600" y="225864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3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русскоязычный сегмент фрагментирован, нет среды для системного рецензирования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75"/>
          <p:cNvSpPr/>
          <p:nvPr/>
        </p:nvSpPr>
        <p:spPr>
          <a:xfrm>
            <a:off x="7955280" y="3063240"/>
            <a:ext cx="3840120" cy="10969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76"/>
          <p:cNvSpPr/>
          <p:nvPr/>
        </p:nvSpPr>
        <p:spPr>
          <a:xfrm>
            <a:off x="7955280" y="3063240"/>
            <a:ext cx="118440" cy="10969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77"/>
          <p:cNvSpPr/>
          <p:nvPr/>
        </p:nvSpPr>
        <p:spPr>
          <a:xfrm>
            <a:off x="8229600" y="31820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Технологический стек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78"/>
          <p:cNvSpPr/>
          <p:nvPr/>
        </p:nvSpPr>
        <p:spPr>
          <a:xfrm>
            <a:off x="8229600" y="353880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3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Go + Gin, React (SPA), PostgreSQL, Docker + GitHub Actions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79"/>
          <p:cNvSpPr/>
          <p:nvPr/>
        </p:nvSpPr>
        <p:spPr>
          <a:xfrm>
            <a:off x="7955280" y="4343400"/>
            <a:ext cx="3840120" cy="10969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80"/>
          <p:cNvSpPr/>
          <p:nvPr/>
        </p:nvSpPr>
        <p:spPr>
          <a:xfrm>
            <a:off x="7955280" y="4343400"/>
            <a:ext cx="118440" cy="109692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81"/>
          <p:cNvSpPr/>
          <p:nvPr/>
        </p:nvSpPr>
        <p:spPr>
          <a:xfrm>
            <a:off x="8229600" y="44622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Главное отличие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82"/>
          <p:cNvSpPr/>
          <p:nvPr/>
        </p:nvSpPr>
        <p:spPr>
          <a:xfrm>
            <a:off x="8229600" y="481896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10000"/>
              </a:lnSpc>
            </a:pPr>
            <a:r>
              <a:rPr lang="en-US" sz="13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5-критериальная оценка + очередь модерации + отметка от исполнителя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5" name="Picture 4" descr="mgtu_logo_full.png"/>
          <p:cNvPicPr/>
          <p:nvPr/>
        </p:nvPicPr>
        <p:blipFill>
          <a:blip r:embed="rId2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Box 5"/>
          <p:cNvSpPr/>
          <p:nvPr/>
        </p:nvSpPr>
        <p:spPr>
          <a:xfrm>
            <a:off x="1234440" y="235367"/>
            <a:ext cx="10423800" cy="4616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3000" b="1" dirty="0">
                <a:solidFill>
                  <a:srgbClr val="FFFFFF"/>
                </a:solidFill>
                <a:latin typeface="Calibri"/>
              </a:rPr>
              <a:t>Логическая</a:t>
            </a:r>
            <a:r>
              <a:rPr lang="en-US" sz="30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30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модель</a:t>
            </a:r>
            <a:r>
              <a:rPr lang="en-US" sz="30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30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базы</a:t>
            </a:r>
            <a:r>
              <a:rPr lang="en-US" sz="30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30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данных</a:t>
            </a:r>
            <a:endParaRPr lang="ru-RU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365760" y="6576398"/>
            <a:ext cx="100580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WEB-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приложение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для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творчества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723960" y="1133567"/>
            <a:ext cx="4989874" cy="2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i="1" u="none" strike="noStrike" dirty="0">
                <a:solidFill>
                  <a:srgbClr val="5A6B8C"/>
                </a:solidFill>
                <a:effectLst/>
                <a:uFillTx/>
                <a:latin typeface="Calibri"/>
              </a:rPr>
              <a:t>PostgreSQL · 5 </a:t>
            </a:r>
            <a:r>
              <a:rPr lang="en-US" sz="1600" b="0" i="1" u="none" strike="noStrike" dirty="0" err="1">
                <a:solidFill>
                  <a:srgbClr val="5A6B8C"/>
                </a:solidFill>
                <a:effectLst/>
                <a:uFillTx/>
                <a:latin typeface="Calibri"/>
              </a:rPr>
              <a:t>таблиц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6817FE-0E75-4E43-A2D8-433CDF384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60" y="1742893"/>
            <a:ext cx="5875879" cy="431302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21" name="TextBox 220"/>
          <p:cNvSpPr txBox="1"/>
          <p:nvPr/>
        </p:nvSpPr>
        <p:spPr>
          <a:xfrm>
            <a:off x="6943460" y="1133567"/>
            <a:ext cx="245494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5A6B8C"/>
                </a:solidFill>
                <a:latin typeface="Calibri"/>
              </a:rPr>
              <a:t>СОСТАВ МОДЕЛИ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919258" y="1918815"/>
            <a:ext cx="498348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ounded Rectangle 222"/>
          <p:cNvSpPr/>
          <p:nvPr/>
        </p:nvSpPr>
        <p:spPr>
          <a:xfrm>
            <a:off x="7102138" y="2074263"/>
            <a:ext cx="1325880" cy="365760"/>
          </a:xfrm>
          <a:prstGeom prst="roundRect">
            <a:avLst>
              <a:gd name="adj" fmla="val 22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629186" y="2041699"/>
            <a:ext cx="3090671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 err="1">
                <a:solidFill>
                  <a:srgbClr val="5A6B8C"/>
                </a:solidFill>
                <a:latin typeface="Calibri"/>
              </a:rPr>
              <a:t>Учётные</a:t>
            </a:r>
            <a:r>
              <a:rPr sz="1400" b="0" dirty="0">
                <a:solidFill>
                  <a:srgbClr val="5A6B8C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6B8C"/>
                </a:solidFill>
                <a:latin typeface="Calibri"/>
              </a:rPr>
              <a:t>записи</a:t>
            </a:r>
            <a:r>
              <a:rPr sz="1400" b="0" dirty="0">
                <a:solidFill>
                  <a:srgbClr val="5A6B8C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5A6B8C"/>
                </a:solidFill>
                <a:latin typeface="Calibri"/>
              </a:rPr>
              <a:t>роли</a:t>
            </a:r>
            <a:r>
              <a:rPr sz="1400" b="0" dirty="0">
                <a:solidFill>
                  <a:srgbClr val="5A6B8C"/>
                </a:solidFill>
                <a:latin typeface="Calibri"/>
              </a:rPr>
              <a:t> и </a:t>
            </a:r>
            <a:r>
              <a:rPr sz="1400" b="0" dirty="0" err="1">
                <a:solidFill>
                  <a:srgbClr val="5A6B8C"/>
                </a:solidFill>
                <a:latin typeface="Calibri"/>
              </a:rPr>
              <a:t>профили</a:t>
            </a:r>
            <a:r>
              <a:rPr sz="1400" b="0" dirty="0">
                <a:solidFill>
                  <a:srgbClr val="5A6B8C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6B8C"/>
                </a:solidFill>
                <a:latin typeface="Calibri"/>
              </a:rPr>
              <a:t>пользователей</a:t>
            </a:r>
            <a:endParaRPr sz="1400" b="0" dirty="0">
              <a:solidFill>
                <a:srgbClr val="5A6B8C"/>
              </a:solidFill>
              <a:latin typeface="Calibri"/>
            </a:endParaRPr>
          </a:p>
        </p:txBody>
      </p:sp>
      <p:sp>
        <p:nvSpPr>
          <p:cNvPr id="225" name="Rounded Rectangle 224"/>
          <p:cNvSpPr/>
          <p:nvPr/>
        </p:nvSpPr>
        <p:spPr>
          <a:xfrm>
            <a:off x="6919258" y="2723487"/>
            <a:ext cx="498348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ounded Rectangle 225"/>
          <p:cNvSpPr/>
          <p:nvPr/>
        </p:nvSpPr>
        <p:spPr>
          <a:xfrm>
            <a:off x="7102138" y="2878934"/>
            <a:ext cx="1325880" cy="365760"/>
          </a:xfrm>
          <a:prstGeom prst="roundRect">
            <a:avLst>
              <a:gd name="adj" fmla="val 22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albums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629186" y="2846371"/>
            <a:ext cx="3090671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Calibri"/>
              </a:rPr>
              <a:t>Каталог релизов: метаданные и обложки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6919258" y="3528159"/>
            <a:ext cx="498348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ounded Rectangle 228"/>
          <p:cNvSpPr/>
          <p:nvPr/>
        </p:nvSpPr>
        <p:spPr>
          <a:xfrm>
            <a:off x="7102138" y="3683607"/>
            <a:ext cx="1325880" cy="365760"/>
          </a:xfrm>
          <a:prstGeom prst="roundRect">
            <a:avLst>
              <a:gd name="adj" fmla="val 22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tracks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629186" y="3758765"/>
            <a:ext cx="309067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Calibri"/>
              </a:rPr>
              <a:t>Композиции альбома и их атрибуты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919258" y="4332831"/>
            <a:ext cx="498348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ounded Rectangle 231"/>
          <p:cNvSpPr/>
          <p:nvPr/>
        </p:nvSpPr>
        <p:spPr>
          <a:xfrm>
            <a:off x="7102138" y="4488279"/>
            <a:ext cx="1325880" cy="365760"/>
          </a:xfrm>
          <a:prstGeom prst="roundRect">
            <a:avLst>
              <a:gd name="adj" fmla="val 22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genres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629186" y="4563437"/>
            <a:ext cx="309067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 err="1">
                <a:solidFill>
                  <a:srgbClr val="5A6B8C"/>
                </a:solidFill>
                <a:latin typeface="Calibri"/>
              </a:rPr>
              <a:t>Справочник</a:t>
            </a:r>
            <a:r>
              <a:rPr sz="1400" b="0" dirty="0">
                <a:solidFill>
                  <a:srgbClr val="5A6B8C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6B8C"/>
                </a:solidFill>
                <a:latin typeface="Calibri"/>
              </a:rPr>
              <a:t>музыкальных</a:t>
            </a:r>
            <a:r>
              <a:rPr sz="1400" b="0" dirty="0">
                <a:solidFill>
                  <a:srgbClr val="5A6B8C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6B8C"/>
                </a:solidFill>
                <a:latin typeface="Calibri"/>
              </a:rPr>
              <a:t>жанров</a:t>
            </a:r>
            <a:endParaRPr sz="1400" b="0" dirty="0">
              <a:solidFill>
                <a:srgbClr val="5A6B8C"/>
              </a:solidFill>
              <a:latin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6919258" y="5137503"/>
            <a:ext cx="498348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ounded Rectangle 234"/>
          <p:cNvSpPr/>
          <p:nvPr/>
        </p:nvSpPr>
        <p:spPr>
          <a:xfrm>
            <a:off x="7102138" y="5292951"/>
            <a:ext cx="1325880" cy="365760"/>
          </a:xfrm>
          <a:prstGeom prst="roundRect">
            <a:avLst>
              <a:gd name="adj" fmla="val 2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reviews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629186" y="5260387"/>
            <a:ext cx="3090671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Calibri"/>
              </a:rPr>
              <a:t>Оценка по 5 критериям + статус модерации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9" name="Picture 4" descr="mgtu_logo_full.png"/>
          <p:cNvPicPr/>
          <p:nvPr/>
        </p:nvPicPr>
        <p:blipFill>
          <a:blip r:embed="rId2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Ключевые алгоритмы: расчёт оценки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365760" y="6576398"/>
            <a:ext cx="100580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WEB-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приложение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для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творчества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9"/>
          <p:cNvSpPr/>
          <p:nvPr/>
        </p:nvSpPr>
        <p:spPr>
          <a:xfrm>
            <a:off x="502920" y="1325880"/>
            <a:ext cx="11155320" cy="1691280"/>
          </a:xfrm>
          <a:prstGeom prst="roundRect">
            <a:avLst>
              <a:gd name="adj" fmla="val 6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502920" y="14356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Итоговая оценка рецензии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502920" y="178308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Score = (R + S + I + Ch) × 1.4 × A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2"/>
          <p:cNvSpPr/>
          <p:nvPr/>
        </p:nvSpPr>
        <p:spPr>
          <a:xfrm>
            <a:off x="502920" y="2624400"/>
            <a:ext cx="11155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F4F6FB"/>
                </a:solidFill>
                <a:effectLst/>
                <a:uFillTx/>
                <a:latin typeface="Calibri"/>
              </a:rPr>
              <a:t>округляется до целого; фактический диапазон итоговой оценки: 6 – 90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3"/>
          <p:cNvSpPr/>
          <p:nvPr/>
        </p:nvSpPr>
        <p:spPr>
          <a:xfrm>
            <a:off x="49968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Oval 14"/>
          <p:cNvSpPr/>
          <p:nvPr/>
        </p:nvSpPr>
        <p:spPr>
          <a:xfrm>
            <a:off x="112608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112608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6"/>
          <p:cNvSpPr/>
          <p:nvPr/>
        </p:nvSpPr>
        <p:spPr>
          <a:xfrm>
            <a:off x="59112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Рифмы / образы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59112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8"/>
          <p:cNvSpPr/>
          <p:nvPr/>
        </p:nvSpPr>
        <p:spPr>
          <a:xfrm>
            <a:off x="276732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Oval 19"/>
          <p:cNvSpPr/>
          <p:nvPr/>
        </p:nvSpPr>
        <p:spPr>
          <a:xfrm>
            <a:off x="339372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0"/>
          <p:cNvSpPr/>
          <p:nvPr/>
        </p:nvSpPr>
        <p:spPr>
          <a:xfrm>
            <a:off x="339372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1"/>
          <p:cNvSpPr/>
          <p:nvPr/>
        </p:nvSpPr>
        <p:spPr>
          <a:xfrm>
            <a:off x="285876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Структура / ритмика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2"/>
          <p:cNvSpPr/>
          <p:nvPr/>
        </p:nvSpPr>
        <p:spPr>
          <a:xfrm>
            <a:off x="285876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23"/>
          <p:cNvSpPr/>
          <p:nvPr/>
        </p:nvSpPr>
        <p:spPr>
          <a:xfrm>
            <a:off x="503532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Oval 24"/>
          <p:cNvSpPr/>
          <p:nvPr/>
        </p:nvSpPr>
        <p:spPr>
          <a:xfrm>
            <a:off x="566136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25"/>
          <p:cNvSpPr/>
          <p:nvPr/>
        </p:nvSpPr>
        <p:spPr>
          <a:xfrm>
            <a:off x="566136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6"/>
          <p:cNvSpPr/>
          <p:nvPr/>
        </p:nvSpPr>
        <p:spPr>
          <a:xfrm>
            <a:off x="512676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Реализация стиля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7"/>
          <p:cNvSpPr/>
          <p:nvPr/>
        </p:nvSpPr>
        <p:spPr>
          <a:xfrm>
            <a:off x="512676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28"/>
          <p:cNvSpPr/>
          <p:nvPr/>
        </p:nvSpPr>
        <p:spPr>
          <a:xfrm>
            <a:off x="730296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Oval 29"/>
          <p:cNvSpPr/>
          <p:nvPr/>
        </p:nvSpPr>
        <p:spPr>
          <a:xfrm>
            <a:off x="7929360" y="3538800"/>
            <a:ext cx="868320" cy="86832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30"/>
          <p:cNvSpPr/>
          <p:nvPr/>
        </p:nvSpPr>
        <p:spPr>
          <a:xfrm>
            <a:off x="792936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1"/>
          <p:cNvSpPr/>
          <p:nvPr/>
        </p:nvSpPr>
        <p:spPr>
          <a:xfrm>
            <a:off x="739440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Индивидуальность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2"/>
          <p:cNvSpPr/>
          <p:nvPr/>
        </p:nvSpPr>
        <p:spPr>
          <a:xfrm>
            <a:off x="739440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 – 10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33"/>
          <p:cNvSpPr/>
          <p:nvPr/>
        </p:nvSpPr>
        <p:spPr>
          <a:xfrm>
            <a:off x="9570600" y="3337560"/>
            <a:ext cx="2121120" cy="1782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Oval 34"/>
          <p:cNvSpPr/>
          <p:nvPr/>
        </p:nvSpPr>
        <p:spPr>
          <a:xfrm>
            <a:off x="10197000" y="3538800"/>
            <a:ext cx="868320" cy="86832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35"/>
          <p:cNvSpPr/>
          <p:nvPr/>
        </p:nvSpPr>
        <p:spPr>
          <a:xfrm>
            <a:off x="10197000" y="353880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6"/>
          <p:cNvSpPr/>
          <p:nvPr/>
        </p:nvSpPr>
        <p:spPr>
          <a:xfrm>
            <a:off x="9662040" y="448056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Атмосфера / вайб (×)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7"/>
          <p:cNvSpPr/>
          <p:nvPr/>
        </p:nvSpPr>
        <p:spPr>
          <a:xfrm>
            <a:off x="9662040" y="4818960"/>
            <a:ext cx="1938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1.0 – 1.6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38"/>
          <p:cNvSpPr/>
          <p:nvPr/>
        </p:nvSpPr>
        <p:spPr>
          <a:xfrm>
            <a:off x="502920" y="5349240"/>
            <a:ext cx="11155320" cy="95976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39"/>
          <p:cNvSpPr/>
          <p:nvPr/>
        </p:nvSpPr>
        <p:spPr>
          <a:xfrm>
            <a:off x="777240" y="54680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Аналоги (RYM, AllMusic, VK):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40"/>
          <p:cNvSpPr/>
          <p:nvPr/>
        </p:nvSpPr>
        <p:spPr>
          <a:xfrm>
            <a:off x="777240" y="5760000"/>
            <a:ext cx="51202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одна звёздная шкала 1–5 → высокая субъективность, низкая информативность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41"/>
          <p:cNvSpPr/>
          <p:nvPr/>
        </p:nvSpPr>
        <p:spPr>
          <a:xfrm>
            <a:off x="6309360" y="54680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Разрабатываемая система: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2"/>
          <p:cNvSpPr/>
          <p:nvPr/>
        </p:nvSpPr>
        <p:spPr>
          <a:xfrm>
            <a:off x="6318360" y="5706720"/>
            <a:ext cx="51202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5 независимых критериев → структурированная оценка и наглядное сравнение релизов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Picture 4" descr="mgtu_logo_full.png"/>
          <p:cNvPicPr/>
          <p:nvPr/>
        </p:nvPicPr>
        <p:blipFill>
          <a:blip r:embed="rId2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Архитектура системы и DevOps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365760" y="6576398"/>
            <a:ext cx="100580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WEB-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приложение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для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творчества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9"/>
          <p:cNvSpPr/>
          <p:nvPr/>
        </p:nvSpPr>
        <p:spPr>
          <a:xfrm>
            <a:off x="1371600" y="1152525"/>
            <a:ext cx="2939760" cy="2616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Архитектура</a:t>
            </a:r>
            <a:r>
              <a:rPr lang="en-US" sz="17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 </a:t>
            </a:r>
            <a:r>
              <a:rPr lang="en-US" sz="1700" b="1" u="none" strike="noStrike" dirty="0" err="1">
                <a:solidFill>
                  <a:srgbClr val="152966"/>
                </a:solidFill>
                <a:effectLst/>
                <a:uFillTx/>
                <a:latin typeface="Calibri"/>
              </a:rPr>
              <a:t>приложения</a:t>
            </a:r>
            <a:endParaRPr lang="ru-RU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10"/>
          <p:cNvSpPr/>
          <p:nvPr/>
        </p:nvSpPr>
        <p:spPr>
          <a:xfrm>
            <a:off x="1371600" y="164592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1"/>
          <p:cNvSpPr/>
          <p:nvPr/>
        </p:nvSpPr>
        <p:spPr>
          <a:xfrm>
            <a:off x="1508760" y="175572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Браузер · React SPA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2"/>
          <p:cNvSpPr/>
          <p:nvPr/>
        </p:nvSpPr>
        <p:spPr>
          <a:xfrm>
            <a:off x="1481400" y="20847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200" b="0" u="none" strike="noStrike" dirty="0">
                <a:solidFill>
                  <a:srgbClr val="5A6B8C"/>
                </a:solidFill>
                <a:effectLst/>
                <a:uFillTx/>
                <a:latin typeface="Calibri"/>
              </a:rPr>
              <a:t>интерфейс, </a:t>
            </a:r>
            <a:r>
              <a:rPr lang="en-US" sz="1200" b="0" u="none" strike="noStrike" dirty="0" err="1">
                <a:solidFill>
                  <a:srgbClr val="5A6B8C"/>
                </a:solidFill>
                <a:effectLst/>
                <a:uFillTx/>
                <a:latin typeface="Calibri"/>
              </a:rPr>
              <a:t>axios</a:t>
            </a:r>
            <a:r>
              <a:rPr lang="en-US" sz="1200" b="0" u="none" strike="noStrike" dirty="0">
                <a:solidFill>
                  <a:srgbClr val="5A6B8C"/>
                </a:solidFill>
                <a:effectLst/>
                <a:uFillTx/>
                <a:latin typeface="Calibri"/>
              </a:rPr>
              <a:t> → REST</a:t>
            </a:r>
            <a:endParaRPr lang="ru-RU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Down Arrow 13"/>
          <p:cNvSpPr/>
          <p:nvPr/>
        </p:nvSpPr>
        <p:spPr>
          <a:xfrm>
            <a:off x="3012840" y="23774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ounded Rectangle 14"/>
          <p:cNvSpPr/>
          <p:nvPr/>
        </p:nvSpPr>
        <p:spPr>
          <a:xfrm>
            <a:off x="1371600" y="267012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5"/>
          <p:cNvSpPr/>
          <p:nvPr/>
        </p:nvSpPr>
        <p:spPr>
          <a:xfrm>
            <a:off x="1508760" y="277992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Nginx (reverse-proxy)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6"/>
          <p:cNvSpPr/>
          <p:nvPr/>
        </p:nvSpPr>
        <p:spPr>
          <a:xfrm>
            <a:off x="1481400" y="31089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200" b="0" u="none" strike="noStrike">
                <a:solidFill>
                  <a:srgbClr val="F4F6FB"/>
                </a:solidFill>
                <a:effectLst/>
                <a:uFillTx/>
                <a:latin typeface="Calibri"/>
              </a:rPr>
              <a:t>статика + проксирование /api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Down Arrow 17"/>
          <p:cNvSpPr/>
          <p:nvPr/>
        </p:nvSpPr>
        <p:spPr>
          <a:xfrm>
            <a:off x="3012840" y="34016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Rounded Rectangle 18"/>
          <p:cNvSpPr/>
          <p:nvPr/>
        </p:nvSpPr>
        <p:spPr>
          <a:xfrm>
            <a:off x="1371600" y="369432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9"/>
          <p:cNvSpPr/>
          <p:nvPr/>
        </p:nvSpPr>
        <p:spPr>
          <a:xfrm>
            <a:off x="1508760" y="380376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Backend · Go + Gin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1481400" y="41331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20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REST API, бизнес-логика, GORM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Down Arrow 21"/>
          <p:cNvSpPr/>
          <p:nvPr/>
        </p:nvSpPr>
        <p:spPr>
          <a:xfrm>
            <a:off x="3012840" y="44258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Rounded Rectangle 22"/>
          <p:cNvSpPr/>
          <p:nvPr/>
        </p:nvSpPr>
        <p:spPr>
          <a:xfrm>
            <a:off x="1371600" y="4718160"/>
            <a:ext cx="3520080" cy="71280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3"/>
          <p:cNvSpPr/>
          <p:nvPr/>
        </p:nvSpPr>
        <p:spPr>
          <a:xfrm>
            <a:off x="1508760" y="482796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PostgreSQL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4"/>
          <p:cNvSpPr/>
          <p:nvPr/>
        </p:nvSpPr>
        <p:spPr>
          <a:xfrm>
            <a:off x="1481400" y="5157360"/>
            <a:ext cx="33004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200" b="0" u="none" strike="noStrike">
                <a:solidFill>
                  <a:srgbClr val="F4F6FB"/>
                </a:solidFill>
                <a:effectLst/>
                <a:uFillTx/>
                <a:latin typeface="Calibri"/>
              </a:rPr>
              <a:t>каталог, рецензии, лайки, связи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5"/>
          <p:cNvSpPr/>
          <p:nvPr/>
        </p:nvSpPr>
        <p:spPr>
          <a:xfrm>
            <a:off x="6675120" y="1152525"/>
            <a:ext cx="2673821" cy="2616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 dirty="0">
                <a:solidFill>
                  <a:srgbClr val="152966"/>
                </a:solidFill>
                <a:effectLst/>
                <a:uFillTx/>
                <a:latin typeface="Calibri"/>
              </a:rPr>
              <a:t>CI/CD · GitHub Actions</a:t>
            </a:r>
            <a:endParaRPr lang="ru-RU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ounded Rectangle 26"/>
          <p:cNvSpPr/>
          <p:nvPr/>
        </p:nvSpPr>
        <p:spPr>
          <a:xfrm>
            <a:off x="6675120" y="164592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Oval 27"/>
          <p:cNvSpPr/>
          <p:nvPr/>
        </p:nvSpPr>
        <p:spPr>
          <a:xfrm>
            <a:off x="6821280" y="181980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8"/>
          <p:cNvSpPr/>
          <p:nvPr/>
        </p:nvSpPr>
        <p:spPr>
          <a:xfrm>
            <a:off x="6821280" y="1819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9"/>
          <p:cNvSpPr/>
          <p:nvPr/>
        </p:nvSpPr>
        <p:spPr>
          <a:xfrm>
            <a:off x="7315200" y="173736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Backend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30"/>
          <p:cNvSpPr/>
          <p:nvPr/>
        </p:nvSpPr>
        <p:spPr>
          <a:xfrm>
            <a:off x="7315200" y="20300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go vet · go test · go build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Down Arrow 31"/>
          <p:cNvSpPr/>
          <p:nvPr/>
        </p:nvSpPr>
        <p:spPr>
          <a:xfrm>
            <a:off x="8888040" y="23774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ounded Rectangle 32"/>
          <p:cNvSpPr/>
          <p:nvPr/>
        </p:nvSpPr>
        <p:spPr>
          <a:xfrm>
            <a:off x="6675120" y="267012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Oval 33"/>
          <p:cNvSpPr/>
          <p:nvPr/>
        </p:nvSpPr>
        <p:spPr>
          <a:xfrm>
            <a:off x="6821280" y="284364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4"/>
          <p:cNvSpPr/>
          <p:nvPr/>
        </p:nvSpPr>
        <p:spPr>
          <a:xfrm>
            <a:off x="6821280" y="2843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35"/>
          <p:cNvSpPr/>
          <p:nvPr/>
        </p:nvSpPr>
        <p:spPr>
          <a:xfrm>
            <a:off x="7315200" y="276156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Frontend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36"/>
          <p:cNvSpPr/>
          <p:nvPr/>
        </p:nvSpPr>
        <p:spPr>
          <a:xfrm>
            <a:off x="7315200" y="30542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npm install · npm run build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Down Arrow 37"/>
          <p:cNvSpPr/>
          <p:nvPr/>
        </p:nvSpPr>
        <p:spPr>
          <a:xfrm>
            <a:off x="8888040" y="34016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Rounded Rectangle 38"/>
          <p:cNvSpPr/>
          <p:nvPr/>
        </p:nvSpPr>
        <p:spPr>
          <a:xfrm>
            <a:off x="6675120" y="369432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Oval 39"/>
          <p:cNvSpPr/>
          <p:nvPr/>
        </p:nvSpPr>
        <p:spPr>
          <a:xfrm>
            <a:off x="6821280" y="386784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40"/>
          <p:cNvSpPr/>
          <p:nvPr/>
        </p:nvSpPr>
        <p:spPr>
          <a:xfrm>
            <a:off x="6821280" y="3867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41"/>
          <p:cNvSpPr/>
          <p:nvPr/>
        </p:nvSpPr>
        <p:spPr>
          <a:xfrm>
            <a:off x="7315200" y="378576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Compose smoke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42"/>
          <p:cNvSpPr/>
          <p:nvPr/>
        </p:nvSpPr>
        <p:spPr>
          <a:xfrm>
            <a:off x="7315200" y="40780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поднять prod-стек, проверить /healthz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Down Arrow 43"/>
          <p:cNvSpPr/>
          <p:nvPr/>
        </p:nvSpPr>
        <p:spPr>
          <a:xfrm>
            <a:off x="8888040" y="4425840"/>
            <a:ext cx="2372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4DA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ounded Rectangle 44"/>
          <p:cNvSpPr/>
          <p:nvPr/>
        </p:nvSpPr>
        <p:spPr>
          <a:xfrm>
            <a:off x="6675120" y="4718160"/>
            <a:ext cx="4663080" cy="712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8DE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Oval 45"/>
          <p:cNvSpPr/>
          <p:nvPr/>
        </p:nvSpPr>
        <p:spPr>
          <a:xfrm>
            <a:off x="6821280" y="4892040"/>
            <a:ext cx="365400" cy="365400"/>
          </a:xfrm>
          <a:prstGeom prst="ellipse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46"/>
          <p:cNvSpPr/>
          <p:nvPr/>
        </p:nvSpPr>
        <p:spPr>
          <a:xfrm>
            <a:off x="6821280" y="4892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47"/>
          <p:cNvSpPr/>
          <p:nvPr/>
        </p:nvSpPr>
        <p:spPr>
          <a:xfrm>
            <a:off x="7315200" y="480960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Docker / GHCR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48"/>
          <p:cNvSpPr/>
          <p:nvPr/>
        </p:nvSpPr>
        <p:spPr>
          <a:xfrm>
            <a:off x="7315200" y="51022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B8C"/>
                </a:solidFill>
                <a:effectLst/>
                <a:uFillTx/>
                <a:latin typeface="Calibri"/>
              </a:rPr>
              <a:t>сборка и публикация образов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ounded Rectangle 49"/>
          <p:cNvSpPr/>
          <p:nvPr/>
        </p:nvSpPr>
        <p:spPr>
          <a:xfrm>
            <a:off x="1595520" y="5715000"/>
            <a:ext cx="1663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50"/>
          <p:cNvSpPr/>
          <p:nvPr/>
        </p:nvSpPr>
        <p:spPr>
          <a:xfrm>
            <a:off x="1595520" y="5715000"/>
            <a:ext cx="1663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Docker Compose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ounded Rectangle 51"/>
          <p:cNvSpPr/>
          <p:nvPr/>
        </p:nvSpPr>
        <p:spPr>
          <a:xfrm>
            <a:off x="3442680" y="5715000"/>
            <a:ext cx="1951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52"/>
          <p:cNvSpPr/>
          <p:nvPr/>
        </p:nvSpPr>
        <p:spPr>
          <a:xfrm>
            <a:off x="3442680" y="5715000"/>
            <a:ext cx="1951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Multi-stage build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53"/>
          <p:cNvSpPr/>
          <p:nvPr/>
        </p:nvSpPr>
        <p:spPr>
          <a:xfrm>
            <a:off x="5577840" y="5715000"/>
            <a:ext cx="1375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54"/>
          <p:cNvSpPr/>
          <p:nvPr/>
        </p:nvSpPr>
        <p:spPr>
          <a:xfrm>
            <a:off x="5577840" y="5715000"/>
            <a:ext cx="137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Healthcheck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ounded Rectangle 55"/>
          <p:cNvSpPr/>
          <p:nvPr/>
        </p:nvSpPr>
        <p:spPr>
          <a:xfrm>
            <a:off x="7137000" y="5715000"/>
            <a:ext cx="156780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56"/>
          <p:cNvSpPr/>
          <p:nvPr/>
        </p:nvSpPr>
        <p:spPr>
          <a:xfrm>
            <a:off x="7137000" y="5715000"/>
            <a:ext cx="156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GHCR registry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57"/>
          <p:cNvSpPr/>
          <p:nvPr/>
        </p:nvSpPr>
        <p:spPr>
          <a:xfrm>
            <a:off x="8888040" y="5715000"/>
            <a:ext cx="1951920" cy="456840"/>
          </a:xfrm>
          <a:prstGeom prst="roundRect">
            <a:avLst>
              <a:gd name="adj" fmla="val 30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58"/>
          <p:cNvSpPr/>
          <p:nvPr/>
        </p:nvSpPr>
        <p:spPr>
          <a:xfrm>
            <a:off x="8888040" y="5715000"/>
            <a:ext cx="1951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Graceful shutdown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0" y="0"/>
            <a:ext cx="12191400" cy="93240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2"/>
          <p:cNvSpPr/>
          <p:nvPr/>
        </p:nvSpPr>
        <p:spPr>
          <a:xfrm>
            <a:off x="0" y="932760"/>
            <a:ext cx="12191400" cy="45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9" name="Picture 4" descr="mgtu_logo_full.png"/>
          <p:cNvPicPr/>
          <p:nvPr/>
        </p:nvPicPr>
        <p:blipFill>
          <a:blip r:embed="rId2"/>
          <a:stretch/>
        </p:blipFill>
        <p:spPr>
          <a:xfrm>
            <a:off x="365760" y="146160"/>
            <a:ext cx="35820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Box 5"/>
          <p:cNvSpPr/>
          <p:nvPr/>
        </p:nvSpPr>
        <p:spPr>
          <a:xfrm>
            <a:off x="1234440" y="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Полученные результаты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6"/>
          <p:cNvSpPr/>
          <p:nvPr/>
        </p:nvSpPr>
        <p:spPr>
          <a:xfrm>
            <a:off x="0" y="6510600"/>
            <a:ext cx="12191400" cy="347040"/>
          </a:xfrm>
          <a:prstGeom prst="rect">
            <a:avLst/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365760" y="6576398"/>
            <a:ext cx="100580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WEB-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приложение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для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рецензирования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музыкального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творчества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8"/>
          <p:cNvSpPr/>
          <p:nvPr/>
        </p:nvSpPr>
        <p:spPr>
          <a:xfrm>
            <a:off x="10698480" y="653796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 / 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9"/>
          <p:cNvSpPr/>
          <p:nvPr/>
        </p:nvSpPr>
        <p:spPr>
          <a:xfrm>
            <a:off x="42660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502920" y="1413481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30+</a:t>
            </a:r>
            <a:endParaRPr lang="ru-RU" sz="4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42660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эндпоинтов REST API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12"/>
          <p:cNvSpPr/>
          <p:nvPr/>
        </p:nvSpPr>
        <p:spPr>
          <a:xfrm>
            <a:off x="330696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3"/>
          <p:cNvSpPr/>
          <p:nvPr/>
        </p:nvSpPr>
        <p:spPr>
          <a:xfrm>
            <a:off x="3306960" y="140832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ru-RU" sz="4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330696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таблиц базы данных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15"/>
          <p:cNvSpPr/>
          <p:nvPr/>
        </p:nvSpPr>
        <p:spPr>
          <a:xfrm>
            <a:off x="618732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6"/>
          <p:cNvSpPr/>
          <p:nvPr/>
        </p:nvSpPr>
        <p:spPr>
          <a:xfrm>
            <a:off x="6187320" y="1403395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ru-RU" sz="4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618732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стадии CI-пайплайна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ounded Rectangle 18"/>
          <p:cNvSpPr/>
          <p:nvPr/>
        </p:nvSpPr>
        <p:spPr>
          <a:xfrm>
            <a:off x="9067680" y="1188720"/>
            <a:ext cx="2697120" cy="1325520"/>
          </a:xfrm>
          <a:prstGeom prst="roundRect">
            <a:avLst>
              <a:gd name="adj" fmla="val 8000"/>
            </a:avLst>
          </a:prstGeom>
          <a:solidFill>
            <a:srgbClr val="1F3A8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19"/>
          <p:cNvSpPr/>
          <p:nvPr/>
        </p:nvSpPr>
        <p:spPr>
          <a:xfrm>
            <a:off x="9067680" y="140832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ru-RU" sz="4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0"/>
          <p:cNvSpPr/>
          <p:nvPr/>
        </p:nvSpPr>
        <p:spPr>
          <a:xfrm>
            <a:off x="9067680" y="20847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команда запуска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21"/>
          <p:cNvSpPr/>
          <p:nvPr/>
        </p:nvSpPr>
        <p:spPr>
          <a:xfrm>
            <a:off x="50292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Функциональность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22"/>
          <p:cNvSpPr/>
          <p:nvPr/>
        </p:nvSpPr>
        <p:spPr>
          <a:xfrm>
            <a:off x="635508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52966"/>
                </a:solidFill>
                <a:effectLst/>
                <a:uFillTx/>
                <a:latin typeface="Calibri"/>
              </a:rPr>
              <a:t>Инфраструктура и качество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23"/>
          <p:cNvSpPr/>
          <p:nvPr/>
        </p:nvSpPr>
        <p:spPr>
          <a:xfrm>
            <a:off x="594360" y="32918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24"/>
          <p:cNvSpPr/>
          <p:nvPr/>
        </p:nvSpPr>
        <p:spPr>
          <a:xfrm>
            <a:off x="914400" y="3291840"/>
            <a:ext cx="5028840" cy="5049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Авторизация</a:t>
            </a:r>
            <a:r>
              <a:rPr lang="en-US" sz="16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по</a:t>
            </a:r>
            <a:r>
              <a:rPr lang="en-US" sz="16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подписанным</a:t>
            </a:r>
            <a:r>
              <a:rPr lang="en-US" sz="16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сессионным</a:t>
            </a:r>
            <a:r>
              <a:rPr lang="en-US" sz="16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токенам</a:t>
            </a:r>
            <a:r>
              <a:rPr lang="en-US" sz="16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, </a:t>
            </a:r>
            <a:r>
              <a:rPr lang="en-US" sz="1600" b="0" u="none" strike="noStrike" dirty="0" err="1">
                <a:solidFill>
                  <a:schemeClr val="tx2"/>
                </a:solidFill>
                <a:effectLst/>
                <a:uFillTx/>
                <a:latin typeface="Calibri"/>
              </a:rPr>
              <a:t>роли</a:t>
            </a:r>
            <a:r>
              <a:rPr lang="en-US" sz="1600" b="0" u="none" strike="noStrike" dirty="0">
                <a:solidFill>
                  <a:schemeClr val="tx2"/>
                </a:solidFill>
                <a:effectLst/>
                <a:uFillTx/>
                <a:latin typeface="Calibri"/>
              </a:rPr>
              <a:t> admin / user</a:t>
            </a:r>
            <a:endParaRPr lang="ru-RU" sz="16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5"/>
          <p:cNvSpPr/>
          <p:nvPr/>
        </p:nvSpPr>
        <p:spPr>
          <a:xfrm>
            <a:off x="594360" y="384048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26"/>
          <p:cNvSpPr/>
          <p:nvPr/>
        </p:nvSpPr>
        <p:spPr>
          <a:xfrm>
            <a:off x="914400" y="3840480"/>
            <a:ext cx="5028840" cy="5049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Многокритериальная оценка релизов и оптимистичные лайки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7"/>
          <p:cNvSpPr/>
          <p:nvPr/>
        </p:nvSpPr>
        <p:spPr>
          <a:xfrm>
            <a:off x="594360" y="438912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8"/>
          <p:cNvSpPr/>
          <p:nvPr/>
        </p:nvSpPr>
        <p:spPr>
          <a:xfrm>
            <a:off x="914400" y="438912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Лента рецензий с фильтром «Все / Подписки»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29"/>
          <p:cNvSpPr/>
          <p:nvPr/>
        </p:nvSpPr>
        <p:spPr>
          <a:xfrm>
            <a:off x="594360" y="493776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30"/>
          <p:cNvSpPr/>
          <p:nvPr/>
        </p:nvSpPr>
        <p:spPr>
          <a:xfrm>
            <a:off x="914400" y="493776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Конвейер модерации: pending → approved / rejected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1"/>
          <p:cNvSpPr/>
          <p:nvPr/>
        </p:nvSpPr>
        <p:spPr>
          <a:xfrm>
            <a:off x="594360" y="548640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32"/>
          <p:cNvSpPr/>
          <p:nvPr/>
        </p:nvSpPr>
        <p:spPr>
          <a:xfrm>
            <a:off x="914400" y="548640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Профиль с уровнями, бейджами и социальным графом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3"/>
          <p:cNvSpPr/>
          <p:nvPr/>
        </p:nvSpPr>
        <p:spPr>
          <a:xfrm>
            <a:off x="594360" y="60350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34"/>
          <p:cNvSpPr/>
          <p:nvPr/>
        </p:nvSpPr>
        <p:spPr>
          <a:xfrm>
            <a:off x="914400" y="603504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Музыкальный каталог: альбомы, треки, жанры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5"/>
          <p:cNvSpPr/>
          <p:nvPr/>
        </p:nvSpPr>
        <p:spPr>
          <a:xfrm>
            <a:off x="6446520" y="32918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36"/>
          <p:cNvSpPr/>
          <p:nvPr/>
        </p:nvSpPr>
        <p:spPr>
          <a:xfrm>
            <a:off x="6766560" y="329184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Контейнеризация: Docker Compose (dev / prod / deploy)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37"/>
          <p:cNvSpPr/>
          <p:nvPr/>
        </p:nvSpPr>
        <p:spPr>
          <a:xfrm>
            <a:off x="6446520" y="384048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38"/>
          <p:cNvSpPr/>
          <p:nvPr/>
        </p:nvSpPr>
        <p:spPr>
          <a:xfrm>
            <a:off x="6766560" y="384048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CI: go vet · go test · go build + frontend build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39"/>
          <p:cNvSpPr/>
          <p:nvPr/>
        </p:nvSpPr>
        <p:spPr>
          <a:xfrm>
            <a:off x="6446520" y="438912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40"/>
          <p:cNvSpPr/>
          <p:nvPr/>
        </p:nvSpPr>
        <p:spPr>
          <a:xfrm>
            <a:off x="6766560" y="438912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Smoke-тест prod-стека и публикация образов в GHCR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41"/>
          <p:cNvSpPr/>
          <p:nvPr/>
        </p:nvSpPr>
        <p:spPr>
          <a:xfrm>
            <a:off x="6446520" y="493776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42"/>
          <p:cNvSpPr/>
          <p:nvPr/>
        </p:nvSpPr>
        <p:spPr>
          <a:xfrm>
            <a:off x="6766560" y="493776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Multi-stage сборка, healthcheck, graceful shutdown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43"/>
          <p:cNvSpPr/>
          <p:nvPr/>
        </p:nvSpPr>
        <p:spPr>
          <a:xfrm>
            <a:off x="6446520" y="548640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44"/>
          <p:cNvSpPr/>
          <p:nvPr/>
        </p:nvSpPr>
        <p:spPr>
          <a:xfrm>
            <a:off x="6766560" y="548640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Идемпотентный сидер демо-данных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45"/>
          <p:cNvSpPr/>
          <p:nvPr/>
        </p:nvSpPr>
        <p:spPr>
          <a:xfrm>
            <a:off x="6446520" y="60350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</a:rPr>
              <a:t>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46"/>
          <p:cNvSpPr/>
          <p:nvPr/>
        </p:nvSpPr>
        <p:spPr>
          <a:xfrm>
            <a:off x="6766560" y="6035040"/>
            <a:ext cx="5028840" cy="246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600" b="0" u="none" strike="noStrike">
                <a:solidFill>
                  <a:schemeClr val="tx2"/>
                </a:solidFill>
                <a:effectLst/>
                <a:uFillTx/>
                <a:latin typeface="Calibri"/>
              </a:rPr>
              <a:t>Запуск одной командой, готовность к деплою на VPS</a:t>
            </a:r>
            <a:endParaRPr lang="ru-RU" sz="1600" b="0" u="none" strike="noStrike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5296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Rectangle 2"/>
          <p:cNvSpPr/>
          <p:nvPr/>
        </p:nvSpPr>
        <p:spPr>
          <a:xfrm>
            <a:off x="0" y="3200400"/>
            <a:ext cx="12191400" cy="5436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5" name="Picture 4" descr="mgtu_logo_full.png"/>
          <p:cNvPicPr/>
          <p:nvPr/>
        </p:nvPicPr>
        <p:blipFill>
          <a:blip r:embed="rId2"/>
          <a:stretch/>
        </p:blipFill>
        <p:spPr>
          <a:xfrm>
            <a:off x="5632560" y="640080"/>
            <a:ext cx="10756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Box 5"/>
          <p:cNvSpPr/>
          <p:nvPr/>
        </p:nvSpPr>
        <p:spPr>
          <a:xfrm>
            <a:off x="457200" y="3611880"/>
            <a:ext cx="112467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СПАСИБО ЗА ВНИМАНИЕ!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457200" y="60350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Афонькин Максим Артемович  ·  группа АВб-22-2  ·  Магнитогорск, 2026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731</Words>
  <Application>Microsoft Office PowerPoint</Application>
  <PresentationFormat>Широкоэкранный</PresentationFormat>
  <Paragraphs>198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dc:description>generated using python-pptx</dc:description>
  <cp:lastModifiedBy>Максим Афонькин</cp:lastModifiedBy>
  <cp:revision>24</cp:revision>
  <dcterms:created xsi:type="dcterms:W3CDTF">2013-01-27T09:14:16Z</dcterms:created>
  <dcterms:modified xsi:type="dcterms:W3CDTF">2026-06-10T03:55:13Z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