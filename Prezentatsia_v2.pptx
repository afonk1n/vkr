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320040"/>
            <a:ext cx="9144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Министерство науки и высшего образования Российской Федерации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8580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ФГБОУ ВО «Магнитогорский государственный технический университет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96012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им. Г. И. Носова»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42855"/>
                </a:solidFill>
                <a:latin typeface="Calibri"/>
              </a:rPr>
              <a:t>Институт энергетики и автоматизированных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42855"/>
                </a:solidFill>
                <a:latin typeface="Calibri"/>
              </a:rPr>
              <a:t>Кафедра вычислительной техники и программирования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31720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855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3464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6075"/>
                </a:solidFill>
                <a:latin typeface="Calibri"/>
              </a:rPr>
              <a:t>на тему: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246120"/>
            <a:ext cx="9144000" cy="128016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3337560"/>
            <a:ext cx="8961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42855"/>
                </a:solidFill>
                <a:latin typeface="Calibri"/>
              </a:rPr>
              <a:t>Разработка web-системы для коллективного рецензирования</a:t>
            </a:r>
          </a:p>
          <a:p>
            <a:pPr algn="ctr"/>
            <a:r>
              <a:rPr sz="1800" b="1">
                <a:solidFill>
                  <a:srgbClr val="142855"/>
                </a:solidFill>
                <a:latin typeface="Calibri"/>
              </a:rPr>
              <a:t>современной музыки русскоязычной молодёжью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6634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56075"/>
                </a:solidFill>
                <a:latin typeface="Calibri"/>
              </a:rPr>
              <a:t>Выполнил: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937760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B212E"/>
                </a:solidFill>
                <a:latin typeface="Calibri"/>
              </a:rPr>
              <a:t>Студент группы АВб-22-2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2578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855"/>
                </a:solidFill>
                <a:latin typeface="Calibri"/>
              </a:rPr>
              <a:t>Афонькин М. 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6634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56075"/>
                </a:solidFill>
                <a:latin typeface="Calibri"/>
              </a:rPr>
              <a:t>Руководитель: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937760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B212E"/>
                </a:solidFill>
                <a:latin typeface="Calibri"/>
              </a:rPr>
              <a:t>Доцент, к.т.н.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2578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855"/>
                </a:solidFill>
                <a:latin typeface="Calibri"/>
              </a:rPr>
              <a:t>Кустубаева А. 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64465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>
                <a:solidFill>
                  <a:srgbClr val="556075"/>
                </a:solidFill>
                <a:latin typeface="Calibri"/>
              </a:rPr>
              <a:t>Магнитогорск,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00"/>
            <a:ext cx="12191695" cy="946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686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855"/>
                </a:solidFill>
                <a:latin typeface="Calibri"/>
              </a:rPr>
              <a:t>Цель, объект и предмет исследования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48840"/>
            <a:ext cx="3712463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11480" y="2148840"/>
            <a:ext cx="3712463" cy="777240"/>
          </a:xfrm>
          <a:prstGeom prst="round2SameRect">
            <a:avLst>
              <a:gd name="adj1" fmla="val 15294"/>
              <a:gd name="adj2" fmla="val 0"/>
            </a:avLst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255263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Объект исследования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3163823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EEF1F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794760"/>
            <a:ext cx="3145535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B212E"/>
                </a:solidFill>
                <a:latin typeface="Calibri"/>
              </a:rPr>
              <a:t>Процесс коллективного рецензирования музыкального творчества русскоязычной молодёжью на web-платформах.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148840"/>
            <a:ext cx="3712463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4325112" y="2148840"/>
            <a:ext cx="3712463" cy="777240"/>
          </a:xfrm>
          <a:prstGeom prst="round2SameRect">
            <a:avLst>
              <a:gd name="adj1" fmla="val 15294"/>
              <a:gd name="adj2" fmla="val 0"/>
            </a:avLst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148840"/>
            <a:ext cx="3255263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Предмет исследования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971800"/>
            <a:ext cx="3163823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EEF1F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794760"/>
            <a:ext cx="3145535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B212E"/>
                </a:solidFill>
                <a:latin typeface="Calibri"/>
              </a:rPr>
              <a:t>Информационная система рецензирования современной музыки с экспертной системой оценки и инструментами модерации пользовательского контента.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3" y="2148840"/>
            <a:ext cx="3712463" cy="3611880"/>
          </a:xfrm>
          <a:prstGeom prst="roundRect">
            <a:avLst>
              <a:gd name="adj" fmla="val 3291"/>
            </a:avLst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8238743" y="2148840"/>
            <a:ext cx="3712463" cy="777240"/>
          </a:xfrm>
          <a:prstGeom prst="round2SameRect">
            <a:avLst>
              <a:gd name="adj1" fmla="val 15294"/>
              <a:gd name="adj2" fmla="val 0"/>
            </a:avLst>
          </a:prstGeom>
          <a:solidFill>
            <a:srgbClr val="C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3" y="2148840"/>
            <a:ext cx="3255263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Цель работы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3" y="2971800"/>
            <a:ext cx="3163823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3A558C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1" y="3794760"/>
            <a:ext cx="3145535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Calibri"/>
              </a:rPr>
              <a:t>Повышение объективности, информативности и доступности процессов рецензирования русскоязычных музыкальных произведений за счёт разработки web-приложения с многокритериальной системой оценивания.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00"/>
            <a:ext cx="12191695" cy="946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686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855"/>
                </a:solidFill>
                <a:latin typeface="Calibri"/>
              </a:rPr>
              <a:t>Задачи исследования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5"/>
                </a:solidFill>
                <a:latin typeface="Calibri"/>
              </a:rPr>
              <a:t>От аналитики предметной области до сопровождения готового решения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1155680" cy="1078992"/>
          </a:xfrm>
          <a:prstGeom prst="roundRect">
            <a:avLst>
              <a:gd name="adj" fmla="val 11016"/>
            </a:avLst>
          </a:prstGeom>
          <a:solidFill>
            <a:srgbClr val="FFFFFF"/>
          </a:solidFill>
          <a:ln w="9525">
            <a:solidFill>
              <a:srgbClr val="C9D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2029968"/>
            <a:ext cx="685800" cy="6858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6858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20240"/>
            <a:ext cx="987551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855"/>
                </a:solidFill>
                <a:latin typeface="Calibri"/>
              </a:rPr>
              <a:t>Анализ предметной области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86000"/>
            <a:ext cx="9875519" cy="57607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B212E"/>
                </a:solidFill>
                <a:latin typeface="Calibri"/>
              </a:rPr>
              <a:t>Изучение ниши русскоязычного рецензирования современной музыки и проблем существующих платформ (RateYourMusic, AllMusic, VK / Яндекс Музыка).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026664"/>
            <a:ext cx="11155680" cy="1078992"/>
          </a:xfrm>
          <a:prstGeom prst="roundRect">
            <a:avLst>
              <a:gd name="adj" fmla="val 11016"/>
            </a:avLst>
          </a:prstGeom>
          <a:solidFill>
            <a:srgbClr val="FFFFFF"/>
          </a:solidFill>
          <a:ln w="9525">
            <a:solidFill>
              <a:srgbClr val="C9D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3227832"/>
            <a:ext cx="685800" cy="6858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6858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18104"/>
            <a:ext cx="987551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855"/>
                </a:solidFill>
                <a:latin typeface="Calibri"/>
              </a:rPr>
              <a:t>Проектирование архитектуры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83864"/>
            <a:ext cx="9875519" cy="57607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B212E"/>
                </a:solidFill>
                <a:latin typeface="Calibri"/>
              </a:rPr>
              <a:t>Разработка модели данных, многокритериальной системы оценивания, инструментов модерации и фильтрации каталога по жанрам.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224528"/>
            <a:ext cx="11155680" cy="1078992"/>
          </a:xfrm>
          <a:prstGeom prst="roundRect">
            <a:avLst>
              <a:gd name="adj" fmla="val 11016"/>
            </a:avLst>
          </a:prstGeom>
          <a:solidFill>
            <a:srgbClr val="FFFFFF"/>
          </a:solidFill>
          <a:ln w="9525">
            <a:solidFill>
              <a:srgbClr val="C9D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4425696"/>
            <a:ext cx="685800" cy="6858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25696"/>
            <a:ext cx="6858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15968"/>
            <a:ext cx="987551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855"/>
                </a:solidFill>
                <a:latin typeface="Calibri"/>
              </a:rPr>
              <a:t>Реализация прототипа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681728"/>
            <a:ext cx="9875519" cy="57607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B212E"/>
                </a:solidFill>
                <a:latin typeface="Calibri"/>
              </a:rPr>
              <a:t>Полнофункциональный full-stack прототип: backend на Go + Gin, frontend на React, СУБД PostgreSQL, контейнеризация и автоматизированная сборка.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422392"/>
            <a:ext cx="11155680" cy="1078992"/>
          </a:xfrm>
          <a:prstGeom prst="roundRect">
            <a:avLst>
              <a:gd name="adj" fmla="val 11016"/>
            </a:avLst>
          </a:prstGeom>
          <a:solidFill>
            <a:srgbClr val="FFFFFF"/>
          </a:solidFill>
          <a:ln w="9525">
            <a:solidFill>
              <a:srgbClr val="C9D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5623559"/>
            <a:ext cx="685800" cy="6858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623559"/>
            <a:ext cx="6858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513831"/>
            <a:ext cx="987551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855"/>
                </a:solidFill>
                <a:latin typeface="Calibri"/>
              </a:rPr>
              <a:t>Тестирование и развёртывание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879592"/>
            <a:ext cx="9875519" cy="57607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B212E"/>
                </a:solidFill>
                <a:latin typeface="Calibri"/>
              </a:rPr>
              <a:t>Интеграция каталогов произведений, проверка сценариев модерации и пользовательского интерфейса, развёртывание через Docker Compose и CI/CD.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00"/>
            <a:ext cx="12191695" cy="946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686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855"/>
                </a:solidFill>
                <a:latin typeface="Calibri"/>
              </a:rPr>
              <a:t>Результаты аналитического исследования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5"/>
                </a:solidFill>
                <a:latin typeface="Calibri"/>
              </a:rPr>
              <a:t>Сравнение существующих платформ и обоснование архитектурных решений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2926080" cy="658368"/>
          </a:xfrm>
          <a:prstGeom prst="rect">
            <a:avLst/>
          </a:prstGeom>
          <a:solidFill>
            <a:srgbClr val="1E3A6E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0"/>
            <a:ext cx="2926080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Платформа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828800"/>
            <a:ext cx="1280160" cy="658368"/>
          </a:xfrm>
          <a:prstGeom prst="rect">
            <a:avLst/>
          </a:prstGeom>
          <a:solidFill>
            <a:srgbClr val="1E3A6E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1280160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Много-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критериа­льность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828800"/>
            <a:ext cx="1280160" cy="658368"/>
          </a:xfrm>
          <a:prstGeom prst="rect">
            <a:avLst/>
          </a:prstGeom>
          <a:solidFill>
            <a:srgbClr val="1E3A6E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1280160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Модерация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контента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828800"/>
            <a:ext cx="1280160" cy="658368"/>
          </a:xfrm>
          <a:prstGeom prst="rect">
            <a:avLst/>
          </a:prstGeom>
          <a:solidFill>
            <a:srgbClr val="1E3A6E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1828800"/>
            <a:ext cx="1280160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Локализация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87168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87168"/>
            <a:ext cx="29260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B212E"/>
                </a:solidFill>
                <a:latin typeface="Calibri"/>
              </a:rPr>
              <a:t>RateYourMusic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487168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487168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8202F"/>
                </a:solidFill>
                <a:latin typeface="Calibri"/>
              </a:rPr>
              <a:t>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487168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487168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B212E"/>
                </a:solidFill>
                <a:latin typeface="Calibri"/>
              </a:rPr>
              <a:t>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2487168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2487168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8202F"/>
                </a:solidFill>
                <a:latin typeface="Calibri"/>
              </a:rPr>
              <a:t>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054096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054096"/>
            <a:ext cx="29260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B212E"/>
                </a:solidFill>
                <a:latin typeface="Calibri"/>
              </a:rPr>
              <a:t>AllMusic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054096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054096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8202F"/>
                </a:solidFill>
                <a:latin typeface="Calibri"/>
              </a:rPr>
              <a:t>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054096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054096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B212E"/>
                </a:solidFill>
                <a:latin typeface="Calibri"/>
              </a:rPr>
              <a:t>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97880" y="3054096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3054096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8202F"/>
                </a:solidFill>
                <a:latin typeface="Calibri"/>
              </a:rPr>
              <a:t>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621024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621024"/>
            <a:ext cx="29260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B212E"/>
                </a:solidFill>
                <a:latin typeface="Calibri"/>
              </a:rPr>
              <a:t>VK / Яндекс Музыка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3621024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3621024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8202F"/>
                </a:solidFill>
                <a:latin typeface="Calibri"/>
              </a:rPr>
              <a:t>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3621024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3621024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8202F"/>
                </a:solidFill>
                <a:latin typeface="Calibri"/>
              </a:rPr>
              <a:t>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3621024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3621024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E3A6E"/>
                </a:solidFill>
                <a:latin typeface="Calibri"/>
              </a:rPr>
              <a:t>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187952"/>
            <a:ext cx="2926080" cy="566928"/>
          </a:xfrm>
          <a:prstGeom prst="rect">
            <a:avLst/>
          </a:prstGeom>
          <a:solidFill>
            <a:srgbClr val="EEF1F8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187952"/>
            <a:ext cx="29260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855"/>
                </a:solidFill>
                <a:latin typeface="Calibri"/>
              </a:rPr>
              <a:t>Разрабатываемое</a:t>
            </a:r>
          </a:p>
          <a:p>
            <a:pPr algn="ctr"/>
            <a:r>
              <a:rPr sz="1200" b="1">
                <a:solidFill>
                  <a:srgbClr val="142855"/>
                </a:solidFill>
                <a:latin typeface="Calibri"/>
              </a:rPr>
              <a:t>решение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4187952"/>
            <a:ext cx="1280160" cy="566928"/>
          </a:xfrm>
          <a:prstGeom prst="rect">
            <a:avLst/>
          </a:prstGeom>
          <a:solidFill>
            <a:srgbClr val="EEF1F8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4187952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E3A6E"/>
                </a:solidFill>
                <a:latin typeface="Calibri"/>
              </a:rPr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4187952"/>
            <a:ext cx="1280160" cy="566928"/>
          </a:xfrm>
          <a:prstGeom prst="rect">
            <a:avLst/>
          </a:prstGeom>
          <a:solidFill>
            <a:srgbClr val="EEF1F8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4187952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E3A6E"/>
                </a:solidFill>
                <a:latin typeface="Calibri"/>
              </a:rPr>
              <a:t>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97880" y="4187952"/>
            <a:ext cx="1280160" cy="566928"/>
          </a:xfrm>
          <a:prstGeom prst="rect">
            <a:avLst/>
          </a:prstGeom>
          <a:solidFill>
            <a:srgbClr val="EEF1F8"/>
          </a:solidFill>
          <a:ln w="63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4187952"/>
            <a:ext cx="12801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E3A6E"/>
                </a:solidFill>
                <a:latin typeface="Calibri"/>
              </a:rPr>
              <a:t>+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79" y="1828800"/>
            <a:ext cx="4297680" cy="466344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9525">
            <a:solidFill>
              <a:srgbClr val="C9D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7498079" y="1828800"/>
            <a:ext cx="4297680" cy="566928"/>
          </a:xfrm>
          <a:prstGeom prst="round2SameRect">
            <a:avLst>
              <a:gd name="adj1" fmla="val 20967"/>
              <a:gd name="adj2" fmla="val 0"/>
            </a:avLst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26679" y="1828800"/>
            <a:ext cx="38404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Ключевые выводы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251460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855"/>
                </a:solidFill>
                <a:latin typeface="Calibri"/>
              </a:rPr>
              <a:t>• Дефицит платформ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59" y="2834640"/>
            <a:ext cx="3794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B212E"/>
                </a:solidFill>
                <a:latin typeface="Calibri"/>
              </a:rPr>
              <a:t>Русскоязычный сегмент — фрагментарен, нет специализированной среды для системного рецензирования.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347472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855"/>
                </a:solidFill>
                <a:latin typeface="Calibri"/>
              </a:rPr>
              <a:t>• Аудитория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59" y="3794759"/>
            <a:ext cx="3794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B212E"/>
                </a:solidFill>
                <a:latin typeface="Calibri"/>
              </a:rPr>
              <a:t>Молодёжь 18–25 лет потребляет музыку 4 ч/день, нуждается в содержательной обратной связи и диалоге с авторами.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79" y="443484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855"/>
                </a:solidFill>
                <a:latin typeface="Calibri"/>
              </a:rPr>
              <a:t>• Технологический стек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59" y="4754879"/>
            <a:ext cx="3794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B212E"/>
                </a:solidFill>
                <a:latin typeface="Calibri"/>
              </a:rPr>
              <a:t>Go + Gin (производительный backend), React (SPA), PostgreSQL (реляционная модель), Docker + GitHub Actions.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5394959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855"/>
                </a:solidFill>
                <a:latin typeface="Calibri"/>
              </a:rPr>
              <a:t>• Главное отличие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59" y="5714999"/>
            <a:ext cx="3794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B212E"/>
                </a:solidFill>
                <a:latin typeface="Calibri"/>
              </a:rPr>
              <a:t>5-критериальная экспертная оценка + очередь модерации + отметка от исполнителя — отсутствует у аналогов.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00"/>
            <a:ext cx="12191695" cy="946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686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855"/>
                </a:solidFill>
                <a:latin typeface="Calibri"/>
              </a:rPr>
              <a:t>Логическая модель базы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5"/>
                </a:solidFill>
                <a:latin typeface="Calibri"/>
              </a:rPr>
              <a:t>PostgreSQL: 10 сущностей, отображающих каталог, рецензии и активность</a:t>
            </a:r>
          </a:p>
        </p:txBody>
      </p:sp>
      <p:pic>
        <p:nvPicPr>
          <p:cNvPr id="5" name="Picture 4" descr="02_er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0"/>
            <a:ext cx="8595360" cy="46796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235440" y="1828800"/>
            <a:ext cx="2606040" cy="4526280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9525">
            <a:solidFill>
              <a:srgbClr val="C9D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9235440" y="1828800"/>
            <a:ext cx="2606040" cy="566928"/>
          </a:xfrm>
          <a:prstGeom prst="round2SameRect">
            <a:avLst>
              <a:gd name="adj1" fmla="val 20967"/>
              <a:gd name="adj2" fmla="val 0"/>
            </a:avLst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1828800"/>
            <a:ext cx="214884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Ключевые таблицы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19" y="25146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855"/>
                </a:solidFill>
                <a:latin typeface="Consolas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19" y="278892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B212E"/>
                </a:solidFill>
                <a:latin typeface="Calibri"/>
              </a:rPr>
              <a:t>Пользователи и роли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19" y="310896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855"/>
                </a:solidFill>
                <a:latin typeface="Consolas"/>
              </a:rPr>
              <a:t>albums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3383279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B212E"/>
                </a:solidFill>
                <a:latin typeface="Calibri"/>
              </a:rPr>
              <a:t>Каталог релизов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19" y="370332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855"/>
                </a:solidFill>
                <a:latin typeface="Consolas"/>
              </a:rPr>
              <a:t>tracks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3977639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B212E"/>
                </a:solidFill>
                <a:latin typeface="Calibri"/>
              </a:rPr>
              <a:t>Каталог композиций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429768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855"/>
                </a:solidFill>
                <a:latin typeface="Consolas"/>
              </a:rPr>
              <a:t>genres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457200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B212E"/>
                </a:solidFill>
                <a:latin typeface="Calibri"/>
              </a:rPr>
              <a:t>Жанры (M:N)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489204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855"/>
                </a:solidFill>
                <a:latin typeface="Consolas"/>
              </a:rPr>
              <a:t>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51663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B212E"/>
                </a:solidFill>
                <a:latin typeface="Calibri"/>
              </a:rPr>
              <a:t>Многокритериальные оценки + статус модерации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54864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855"/>
                </a:solidFill>
                <a:latin typeface="Consolas"/>
              </a:rPr>
              <a:t>*_likes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576072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B212E"/>
                </a:solidFill>
                <a:latin typeface="Calibri"/>
              </a:rPr>
              <a:t>Лайки для трёх объектов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608076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855"/>
                </a:solidFill>
                <a:latin typeface="Consolas"/>
              </a:rPr>
              <a:t>user_follows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635508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B212E"/>
                </a:solidFill>
                <a:latin typeface="Calibri"/>
              </a:rPr>
              <a:t>Социальные связи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00"/>
            <a:ext cx="12191695" cy="946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686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855"/>
                </a:solidFill>
                <a:latin typeface="Calibri"/>
              </a:rPr>
              <a:t>Бизнес-процессы и сценарии работы с системой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5"/>
                </a:solidFill>
                <a:latin typeface="Calibri"/>
              </a:rPr>
              <a:t>Жизненный цикл рецензии — от создания до публикации</a:t>
            </a:r>
          </a:p>
        </p:txBody>
      </p:sp>
      <p:pic>
        <p:nvPicPr>
          <p:cNvPr id="5" name="Picture 4" descr="04_user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0"/>
            <a:ext cx="5760720" cy="3240405"/>
          </a:xfrm>
          <a:prstGeom prst="rect">
            <a:avLst/>
          </a:prstGeom>
        </p:spPr>
      </p:pic>
      <p:pic>
        <p:nvPicPr>
          <p:cNvPr id="6" name="Picture 5" descr="05_admin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5577840" cy="31375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556075"/>
                </a:solidFill>
                <a:latin typeface="Calibri"/>
              </a:rPr>
              <a:t>Сценарий пользователя: 6 шагов от просмотра ленты до публикации рецензии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6446520"/>
            <a:ext cx="5577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556075"/>
                </a:solidFill>
                <a:latin typeface="Calibri"/>
              </a:rPr>
              <a:t>Сценарий администратора: модерация контента и наполнение каталога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00"/>
            <a:ext cx="12191695" cy="946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686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855"/>
                </a:solidFill>
                <a:latin typeface="Calibri"/>
              </a:rPr>
              <a:t>Ключевые алгоритмы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5"/>
                </a:solidFill>
                <a:latin typeface="Calibri"/>
              </a:rPr>
              <a:t>Многокритериальная оценка — отличительная черта проекта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1384280" cy="1508760"/>
          </a:xfrm>
          <a:prstGeom prst="roundRect">
            <a:avLst>
              <a:gd name="adj" fmla="val 7878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11384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Итоговая оценка рецензии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31720"/>
            <a:ext cx="113842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mbria"/>
              </a:rPr>
              <a:t>Score = (R + S + I + Ch) × 1.4 ×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63240"/>
            <a:ext cx="11384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EEF1F8"/>
                </a:solidFill>
                <a:latin typeface="Calibri"/>
              </a:rPr>
              <a:t>округляется до целого; диапазон итоговой оценки: 6 –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520440"/>
            <a:ext cx="2212848" cy="1508760"/>
          </a:xfrm>
          <a:prstGeom prst="roundRect">
            <a:avLst>
              <a:gd name="adj" fmla="val 7878"/>
            </a:avLst>
          </a:prstGeom>
          <a:solidFill>
            <a:srgbClr val="FFFFFF"/>
          </a:solidFill>
          <a:ln w="9525">
            <a:solidFill>
              <a:srgbClr val="C9D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2143" y="3657600"/>
            <a:ext cx="731520" cy="73152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3" y="365760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34840"/>
            <a:ext cx="202996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Рифмы / образы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27448"/>
            <a:ext cx="2029967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6075"/>
                </a:solidFill>
                <a:latin typeface="Consolas"/>
              </a:rPr>
              <a:t>1 –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15768" y="3520440"/>
            <a:ext cx="2212848" cy="1508760"/>
          </a:xfrm>
          <a:prstGeom prst="roundRect">
            <a:avLst>
              <a:gd name="adj" fmla="val 7878"/>
            </a:avLst>
          </a:prstGeom>
          <a:solidFill>
            <a:srgbClr val="FFFFFF"/>
          </a:solidFill>
          <a:ln w="9525">
            <a:solidFill>
              <a:srgbClr val="C9D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56432" y="3657600"/>
            <a:ext cx="731520" cy="73152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365760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4434840"/>
            <a:ext cx="202996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Структура / ритмика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4727448"/>
            <a:ext cx="2029967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6075"/>
                </a:solidFill>
                <a:latin typeface="Consolas"/>
              </a:rPr>
              <a:t>1 –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0056" y="3520440"/>
            <a:ext cx="2212848" cy="1508760"/>
          </a:xfrm>
          <a:prstGeom prst="roundRect">
            <a:avLst>
              <a:gd name="adj" fmla="val 7878"/>
            </a:avLst>
          </a:prstGeom>
          <a:solidFill>
            <a:srgbClr val="FFFFFF"/>
          </a:solidFill>
          <a:ln w="9525">
            <a:solidFill>
              <a:srgbClr val="C9D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0" y="3657600"/>
            <a:ext cx="731520" cy="73152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365760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4434840"/>
            <a:ext cx="202996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Реализация стиля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4727448"/>
            <a:ext cx="2029967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6075"/>
                </a:solidFill>
                <a:latin typeface="Consolas"/>
              </a:rPr>
              <a:t>1 –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24344" y="3520440"/>
            <a:ext cx="2212848" cy="1508760"/>
          </a:xfrm>
          <a:prstGeom prst="roundRect">
            <a:avLst>
              <a:gd name="adj" fmla="val 7878"/>
            </a:avLst>
          </a:prstGeom>
          <a:solidFill>
            <a:srgbClr val="FFFFFF"/>
          </a:solidFill>
          <a:ln w="9525">
            <a:solidFill>
              <a:srgbClr val="C9D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65007" y="3657600"/>
            <a:ext cx="731520" cy="73152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7" y="365760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783" y="4434840"/>
            <a:ext cx="202996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Индивидуальность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3" y="4727448"/>
            <a:ext cx="2029967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6075"/>
                </a:solidFill>
                <a:latin typeface="Consolas"/>
              </a:rPr>
              <a:t>1 – 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28632" y="3520440"/>
            <a:ext cx="2212848" cy="1508760"/>
          </a:xfrm>
          <a:prstGeom prst="roundRect">
            <a:avLst>
              <a:gd name="adj" fmla="val 7878"/>
            </a:avLst>
          </a:prstGeom>
          <a:solidFill>
            <a:srgbClr val="FFFFFF"/>
          </a:solidFill>
          <a:ln w="9525">
            <a:solidFill>
              <a:srgbClr val="C9D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69295" y="3657600"/>
            <a:ext cx="731520" cy="731520"/>
          </a:xfrm>
          <a:prstGeom prst="ellipse">
            <a:avLst/>
          </a:prstGeom>
          <a:solidFill>
            <a:srgbClr val="C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69295" y="365760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4434840"/>
            <a:ext cx="202996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Атмосфера / вайб (×)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4727448"/>
            <a:ext cx="2029967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6075"/>
                </a:solidFill>
                <a:latin typeface="Consolas"/>
              </a:rPr>
              <a:t>1.0 – 1.6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166360"/>
            <a:ext cx="11384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B212E"/>
                </a:solidFill>
                <a:latin typeface="Calibri"/>
              </a:rPr>
              <a:t>Дополнительно: алгоритм значков пользователя (4 уровня активности, экспертиза жанра, разнообразие) и пересчёт топ-чартов за 24 ч.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5623560"/>
            <a:ext cx="11384280" cy="1005840"/>
          </a:xfrm>
          <a:prstGeom prst="roundRect">
            <a:avLst>
              <a:gd name="adj" fmla="val 11818"/>
            </a:avLst>
          </a:prstGeom>
          <a:solidFill>
            <a:srgbClr val="EEF1F8"/>
          </a:solidFill>
          <a:ln w="9525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715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42855"/>
                </a:solidFill>
                <a:latin typeface="Calibri"/>
              </a:rPr>
              <a:t>Аналоги (RYM, AllMusic, VK):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0350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B212E"/>
                </a:solidFill>
                <a:latin typeface="Calibri"/>
              </a:rPr>
              <a:t>одна звёздная шкала 1–5 → высокая субъективность, низкая информативность отзыва.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715000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1">
                <a:solidFill>
                  <a:srgbClr val="C8202F"/>
                </a:solidFill>
                <a:latin typeface="Calibri"/>
              </a:rPr>
              <a:t>Разрабатываемая система: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6035040"/>
            <a:ext cx="5577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B212E"/>
                </a:solidFill>
                <a:latin typeface="Calibri"/>
              </a:rPr>
              <a:t>5 независимых критериев → структурированная оценка и наглядное сравнение релизов.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00"/>
            <a:ext cx="12191695" cy="946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686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855"/>
                </a:solidFill>
                <a:latin typeface="Calibri"/>
              </a:rPr>
              <a:t>Архитектура системы и DevOps-процессы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5"/>
                </a:solidFill>
                <a:latin typeface="Calibri"/>
              </a:rPr>
              <a:t>Контейнеризация, автоматизация сборки и публикация образов</a:t>
            </a:r>
          </a:p>
        </p:txBody>
      </p:sp>
      <p:pic>
        <p:nvPicPr>
          <p:cNvPr id="5" name="Picture 4" descr="0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0"/>
            <a:ext cx="5852160" cy="3291840"/>
          </a:xfrm>
          <a:prstGeom prst="rect">
            <a:avLst/>
          </a:prstGeom>
        </p:spPr>
      </p:pic>
      <p:pic>
        <p:nvPicPr>
          <p:cNvPr id="6" name="Picture 5" descr="03_ci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28800"/>
            <a:ext cx="5486400" cy="30861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989320"/>
            <a:ext cx="1874519" cy="502920"/>
          </a:xfrm>
          <a:prstGeom prst="roundRect">
            <a:avLst>
              <a:gd name="adj" fmla="val 23636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989320"/>
            <a:ext cx="18745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Docker Compose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5989320"/>
            <a:ext cx="1874519" cy="502920"/>
          </a:xfrm>
          <a:prstGeom prst="roundRect">
            <a:avLst>
              <a:gd name="adj" fmla="val 23636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5989320"/>
            <a:ext cx="18745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5989320"/>
            <a:ext cx="1874519" cy="502920"/>
          </a:xfrm>
          <a:prstGeom prst="roundRect">
            <a:avLst>
              <a:gd name="adj" fmla="val 23636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5989320"/>
            <a:ext cx="18745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Multi-stage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199" y="5989320"/>
            <a:ext cx="1874519" cy="502920"/>
          </a:xfrm>
          <a:prstGeom prst="roundRect">
            <a:avLst>
              <a:gd name="adj" fmla="val 23636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199" y="5989320"/>
            <a:ext cx="18745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Nginx reverse-proxy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39" y="5989320"/>
            <a:ext cx="1874519" cy="502920"/>
          </a:xfrm>
          <a:prstGeom prst="roundRect">
            <a:avLst>
              <a:gd name="adj" fmla="val 23636"/>
            </a:avLst>
          </a:prstGeom>
          <a:solidFill>
            <a:srgbClr val="C8202F"/>
          </a:solidFill>
          <a:ln w="9525">
            <a:solidFill>
              <a:srgbClr val="C82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39" y="5989320"/>
            <a:ext cx="18745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Healthcheck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79" y="5989320"/>
            <a:ext cx="1874519" cy="502920"/>
          </a:xfrm>
          <a:prstGeom prst="roundRect">
            <a:avLst>
              <a:gd name="adj" fmla="val 23636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79" y="5989320"/>
            <a:ext cx="18745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GHCR registry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00"/>
            <a:ext cx="12191695" cy="946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686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855"/>
                </a:solidFill>
                <a:latin typeface="Calibri"/>
              </a:rPr>
              <a:t>Полученные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5"/>
                </a:solidFill>
                <a:latin typeface="Calibri"/>
              </a:rPr>
              <a:t>Реализован полнофункциональный прототип web-системы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3749039" cy="2194560"/>
          </a:xfrm>
          <a:prstGeom prst="rect">
            <a:avLst/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83080"/>
            <a:ext cx="365760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9319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Главная — лента актуальных рецензий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737360"/>
            <a:ext cx="3749039" cy="2194560"/>
          </a:xfrm>
          <a:prstGeom prst="rect">
            <a:avLst/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783080"/>
            <a:ext cx="365760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06240" y="39319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Топ релизов и треков за период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617720"/>
            <a:ext cx="3749039" cy="2194560"/>
          </a:xfrm>
          <a:prstGeom prst="rect">
            <a:avLst/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lbum_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663440"/>
            <a:ext cx="365760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6812279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Страница альбома с многокритериальной оценкой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4617720"/>
            <a:ext cx="3749039" cy="2194560"/>
          </a:xfrm>
          <a:prstGeom prst="rect">
            <a:avLst/>
          </a:prstGeom>
          <a:solidFill>
            <a:srgbClr val="1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dmin_pa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4663440"/>
            <a:ext cx="3657600" cy="2103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06240" y="6812279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42855"/>
                </a:solidFill>
                <a:latin typeface="Calibri"/>
              </a:rPr>
              <a:t>Панель модерации администратора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783080"/>
            <a:ext cx="3657600" cy="4983480"/>
          </a:xfrm>
          <a:prstGeom prst="roundRect">
            <a:avLst>
              <a:gd name="adj" fmla="val 3250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В цифрах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560320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EEF1F8"/>
                </a:solidFill>
                <a:latin typeface="Calibri"/>
              </a:rPr>
              <a:t>сущностей в БД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18687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Calibri"/>
              </a:rPr>
              <a:t>28+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218687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EEF1F8"/>
                </a:solidFill>
                <a:latin typeface="Calibri"/>
              </a:rPr>
              <a:t>endpoint'ов REST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877055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Calibri"/>
              </a:rPr>
              <a:t>15+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877055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EEF1F8"/>
                </a:solidFill>
                <a:latin typeface="Calibri"/>
              </a:rPr>
              <a:t>страниц SPA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535423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4535423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EEF1F8"/>
                </a:solidFill>
                <a:latin typeface="Calibri"/>
              </a:rPr>
              <a:t>критериев оценки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193791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5193791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EEF1F8"/>
                </a:solidFill>
                <a:latin typeface="Calibri"/>
              </a:rPr>
              <a:t>темы оформления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852159"/>
            <a:ext cx="1463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5852159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EEF1F8"/>
                </a:solidFill>
                <a:latin typeface="Calibri"/>
              </a:rPr>
              <a:t>конфигурации Docker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2011680"/>
            <a:ext cx="91440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000" b="1">
                <a:solidFill>
                  <a:srgbClr val="142855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556075"/>
                </a:solidFill>
                <a:latin typeface="Calibri"/>
              </a:rPr>
              <a:t>Готов ответить на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61772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855"/>
                </a:solidFill>
                <a:latin typeface="Calibri"/>
              </a:rPr>
              <a:t>Афонькин Максим Александрович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983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6075"/>
                </a:solidFill>
                <a:latin typeface="Calibri"/>
              </a:rPr>
              <a:t>АВб-22-2  •  Магнитогорск,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